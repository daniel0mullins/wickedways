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Wicked Ways is a turn-based horror RPG, and this talk is different from the others in its folder: this one is ABOUT the Rust, with the game as the case study. No Rust experience assumed — if you know npm or pip, you have every analogy you'll need. The plan: why Rust exists, the language itself in five ideas, the toolbox, the libraries everyone actually uses, what Rust bought this project, and how to get started. Nothing taught abstractly — every piece is shown doing its real job in one shipped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receipt: this single Rust codebase ships as a browser game compiled to WebAssembly, a desktop app, a multiplayer server, a graphical campaign editor, and the controller for a physical e-ink board on a serial cable. One language, one repository, five very different targets. Then the pitch, honestly compressed. One: memory safety without a garbage collector — the compiler proves at build time that memory is used correctly, so the crash-and-exploit class C and C++ carry is ruled out, without the runtime pauses of a garbage-collected language; that's why it fits both a web server and a microcontroller. Two: "if it compiles, it usually works" — whole bug categories become compile errors; you fight the compiler up front instead of the debugger at 2 a.m., and Part 5 shows this doing architectural work, not just catching typos. Three: one language, an absurd range — the same source compiles natively, to WebAssembly for the browser, and for bare-metal targets with no operating system at all. Goal for the next half hour: every tool that makes that slide normal, introduced doing its actual job. Delivery: 3 minutes, don't linger — the pitch earns nothing until the language and toolbox show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ecosystem, meet the language — once, concretely. Read the code aloud, slowly. Top half: an enum called Effect — a fixed menu of outcomes — and each variant carries its own data: Damage holds a target and an amount; Cue is just a line of text. Bottom half: a function that BORROWS an effect and the world — that ampersand means "borrow it to look at it," no copy, no handover — and matches on the effect, unpacking each variant's data. And notice the match handles every variant. That is not diligence; it is the law: miss one and this does not compile. Delivery: this slide is NOT cuttable — an audience that never sees Rust never met it. ~2 min with the read-through.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ideas, and everything later in the talk hangs off them. One: ownership and borrowing — every value has exactly one owner; everyone else borrows it, and the compiler checks every borrow at build time: nothing is used after it's gone, and there are never two writers at once. That is the mechanism behind the no-garbage-collector headline from Part 1. Two: enums that carry data — a closed menu of variants, each with its own payload; most Rust designs start exactly here. Three: exhaustive match — cover every variant or it does not compile; add a variant next month and the compiler hands you a to-do list of every place that must now handle it. Four: traits — Rust's interfaces — plus the derive annotation: one line asks a library to implement its trait for your type, generated at compile time; hold that thought for serde in Part 4. Five: no null and no exceptions — absence is Option, failure is Result, both ordinary enums, so match forces you to handle the empty and error cases, and the question-mark operator passes failures up the call chain in one keystroke. Then land the forward-ties: all five come back with jobs — ownership becomes the engine's custody rule, enums plus match are the command and effect menus, derive is how serde carries every seam, traits are the six-family extension pattern. Nothing you just learned is a toy. Delivery: ~1 min per idea maximum; if running long, compress ideas 4 and 5 to a sentence each — the enum / match / borrow trio is the load-bearing half. Part 2 ends at ~9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toolbox — the brief introduction to Rust's ecosystem proper, nine beats, each pointing at a real file. Beat one: rustup, the official toolchain installer — Rust versions, extra components, cross-compilation targets, all from one tool. Like nvm or pyenv, but official and universal; you will never manually download a compiler. Beat two: the version pin. This is the real file from the repo root, verbatim — rust-toolchain.toml pins Rust 1.94.1, and the war story ships right in the comment: formatter output and lint sets shift between releases, so CI and laptops must agree on the version or the style gates disagree with each other. Drop this file in the repo root and rustup auto-installs the right toolchain for anyone who clones. The analogy: .nvmrc — except it actually installs.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three: cargo, the everything-tool — package manager, build system, test runner, doc generator, benchmark runner, one tool. No webpack-babel-jest-setuptools constellation to assemble. And in this repo, cargo test --workspace doesn't just run unit tests — it runs the four golden gates that pin the entire engine's behavior byte-for-byte. The project's whole regression net is plain cargo tests. Beat four: crates.io and the lockfile. Crates.io is the package registry — npm's registry, PyPI — and Rust libraries are called crates, which is why you see a crates/ directory in every Rust repo, this one included. Cargo.lock is the committed lockfile: every machine builds the identical dependency tree; reproducible builds are the default posture, not an add-on. Cut cue: the crates.io beat compresses to one sentence if you're running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five: workspaces. A workspace is a set of crates sharing one lockfile and one build directory — think npm or pnpm workspaces, a monorepo. This repo is a ten-crate workspace — walk the table: the engine core, the campaign compiler, the assembler, the wire protocol, the server, the wasm boundary, the web client, the physical-tabletop bridge, the hardware controller, and the new graphical campaign studio. One command sweeps all of them. Beat six — the nuance beat: one crate, the native desktop shell, is deliberately OUTSIDE the workspace, and the root Cargo.toml says why in a comment: it's the only crate linking the system GUI stack — GTK and WebKit on Linux — and excluding it means nobody needs those system packages installed to build or test everything else. The ecosystem lesson: workspace membership is a boundary you design. Shared lint policy rides in [workspace.lints] — more on that in two slides. Delivery: the exclusion is the memorable half — never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was the shape; here is the tour, three slides, and one thing to notice as we go: every dependency arrow points inward. First the engine and the content pipeline. wickedways-core, about twenty-six thousand six hundred lines: world state, turn loop, combat, mechanics, sync — the only crate that knows the rules, and every other crate here is a consumer of it. It depends on serde and nothing else of consequence, and it builds without an operating system underneath. wickedways-author, about four thousand three hundred: it compiles a TOML campaign into the description-plus-catalog pair, and its Cargo.toml carries a comment worth reading aloud — rand and uuid are deliberately absent, because ids are derived from author-supplied names and never generated; adding either crate is, quote, "a spec violation." wickedways-assemble, about eighteen hundred: it folds a seated party into those artifacts and emits the genesis snapshot, the world's complete starting state, under the same no-randomness rule — same inputs, byte-identical output, every time. Delivery: this trio plus the next two slides is the crate tour, about 3 minutes; if you are long, sweep it in one minute by naming the three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group: multiplayer and the embedding seam. wickedways-transport, two hundred forty-five lines — the multiplayer wire protocol and the smallest crate in the repo. It depends on serde only; not even on the engine. The protocol is a data contract, and the crate boundary is what proves it — you cannot accidentally leak a rule into the wire format if the crate cannot see the rules. wickedways-server, about nineteen hundred: axum for the WebSocket, tokio for one task per campaign, rusqlite for persistence with SQLite compiled in-tree so there is no system library to install; it also serves the built web client, so one binary is the whole deployment. And wickedways-wasm, two hundred sixty lines: the JavaScript embedding seam — one stateful handle, nothing but JSON strings across the boundary, no external host ever holding a live engine object. Land the observation on screen: two of the three smallest crates in the repo are its two most important boundaries, and that is not a coincidence — a boundary you can read in one sitting is a boundary you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group: the surfaces, where all the lines actually are. wickedways-web, about ten thousand eight hundred — the shipped Dioxus client; every line is presentation, and its browser-API list reads like a tour of the platform: WebSocket, Web Audio, fullscreen, local storage. wickedways-studio, about seven thousand four hundred — Campaign Studio, the graphical editor: another Dioxus app in the same workspace that reuses the author and assembler crates directly for its "Check campaign" gate, so the editor validates a campaign with the exact compiler that ships it. wickedways-tabletop, about sixteen hundred — the physical-board bridge; it depends on the core and serde and nothing else, which is exactly why it compiles native for the hardware controller and to wasm for the on-screen simulator: one bridge, two worlds. wickedways-controller, four hundred twenty-three lines — the host binary that speaks to real hardware over a serial cable, whose dry-run mode exercises the whole engine-to-bridge-to-codec path with no board attached. And the eleventh crate, outside the workspace: desktop, one hundred sixty-two lines — the native shell from the last slide, and a good punchline for the group. The exclusion is not protecting something big; it is protecting everyone else from a hundred and sixty-two lines' worth of system GUI dependencies. Then the closing line: eighteen thousand of this repo's lines are surfaces, and none of them contain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shape of it, drawn — arrows point to what a crate depends on. Top: the authoring pipeline, campaign.toml through the compiler and assembler into a genesis snapshot, feeding down into the engine. Middle, spanning the slide: wickedways-core, the only crate that knows the rules. Below it the three boundary crates — transport, the tabletop bridge, the wasm seam — and below those the four surfaces: the server, the web client, the studio, the hardware controller, each reaching up through a boundary. Now the two things to say out loud. One: every crate on this slide also depends on the core directly, EXCEPT wickedways-transport, which depends on serde alone — the wire protocol does not know the game exists, and that is deliberate. Two: notice what is missing — there are no arrows pointing DOWN from the core. The engine has never heard of the browser, the board, or the server. That is the whole architecture, and the crate graph is what enforces it: it is not a diagram in a wiki that drifts, it is the build. Delivery: this slide is the payoff of the crate tour — if you cut the three intro slides, keep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seven: features — compile-time configuration. A crate can expose named feature flags that compile code in or out. Three real ones here. The core's std feature, off: the engine builds with no operating-system assumptions at all — that's the embedded story. The web client's native-app feature: the same UI crate becomes the desktop app. And the sweetest small one: serde_json's float_roundtrip feature, turned on because the default float parser can re-parse a serialized number into a SLIGHTLY different number — which broke byte-exact replay. One line in Cargo.toml fixed a determinism bug. That is the ecosystem working as designed. Beat eight: targets. rustup installs target definitions, and cargo build --target wasm32-unknown-unknown compiles the web client and the studio for the browser; --no-default-features is the no-OS build of the core. Both are CI gates, built on every commit — "one language, many worlds" is a gated build in this repo, not a slide. Delivery: keep the float_roundtrip story whatever else you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nine, closing the toolbox: clippy and rustfmt — mechanized review culture. Clippy is the official linter: hundreds of lints, from correctness to style, run in CI here with warnings promoted to errors. Rustfmt is the official formatter; cargo fmt --check gates every commit, so nobody argues about style in review — ever. And on screen is the grown-up version: the root Cargo.toml carries a shared workspace lint policy where individual pedantic lints are enabled by name, with comments explaining which noisy ones were deliberately left OUT. Lint policy as reviewed, documented code. Delivery: Part 3 ends here at ~17 minutes. This beat compresses to one sentence if you're long — but keep the "policy as reviewed code"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libraries everyone actually reaches for, each shown at its job site — for each: what it is, why it's the ecosystem default, what it does HERE. serde first, because it's the connective tissue: THE Rust answer to "turn my data into JSON and back." You annotate a struct with derive Serialize, Deserialize — the derive trick from Part 2 — and the compiler writes the code. Here it carries every seam in the system: save files, the multiplayer wire protocol, the JSON-only wasm boundary, the campaign artifacts, the serial messages to the physical board. Nine of the ten crates use it, and the wire-protocol crate is little BUT serde types — on purpose. tokio next: Rust ships async syntax but no runtime; tokio is the de-facto one — the Node event loop, as a library you opt into. The room server uses it for the pattern this codebase loves: one task per campaign that owns the game and processes one command at a time — apply, persist to SQLite, then acknowledge. And axum: the current default web framework, from the tokio team. Here it's deliberately boring — a WebSocket endpoint in front of the room server. Boring is the point: the interesting code is all in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Dioxus: React, in Rust — components and hooks, compiled to wasm. It powers the shipped web client, about ten thousand lines of UI including a procedural audio engine; the desktop shell, via its webview renderer; AND the new Campaign Studio — the graphical campaign editor — which is just another Dioxus app in the same workspace, reusing the campaign compiler crate directly. Honest note: GUI is the youngest corner of the Rust ecosystem, and it shows — Dioxus is good and moving fast, but it is not 2015-React mature. wasm-bindgen: the standard bridge for exposing Rust to JavaScript. This repo keeps the boundary radical — one stateful handle, nothing but JSON strings across the seam, a roughly 260-line crate any JS host can drive. And no_std plus alloc: the core opts out of the standard library — no OS assumptions — keeping only heap allocation. Not embedded-cosplay: it's what lets the identical engine crate serve the browser AND the serial-line hardware controller, and CI builds that configuration on every commit. Cut cue: if desperate, fold axum into tokio on the previous slide — never drop serde or no_std.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three-minute aside, because "we shipped the desktop app for the cost of a shell" sounds like marketing until you see the mechanics. The web app is the UI crate compiled to wasm — Dioxus renders the components into the browser's own page structure; nothing installed, the browser is the runtime. The native app is the SAME crate — same components, same state hooks, unchanged — with Dioxus's desktop renderer instead: it opens a native window and renders into the operating system's built-in webview, the browser engine every OS already ships. Not the Electron model — no bundled browser, so the binary stays small; the trade is that you link the system's GUI libraries, which is exactly why the desktop shell is the crate quarantined outside the workspace. The switch is a feature flag — native-app — and the few genuinely-native concerns are injected behind a small platform hook; the UI code never asks "am I a desktop app?". Installers come from the Dioxus CLI's bundler, one command. Honest asterisks: the desktop build is single-player-only today, and its audio is silent pending a native backend. One codebase doesn't mean every feature arrives everywhere simultaneously — it means the RULES do. Delivery: this is the talk's flex cut, minus three minutes — fold it back into one sentence on the Dioxus beat if the slot is 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each of the five ideas from Part 2, grown up into load-bearing architecture. First, the enum-plus-exhaustive-match you met in Part 2, at scale: the game's command set and effect set are enums, and match must handle every variant or the build fails. Add a command, and the compiler hands you a to-do list of every place that must handle it — a missed case isn't a runtime surprise, it's a compile error. Second, branded id types: a RoomId and a CharacterId are both just strings underneath, but the type system treats them as incompatible — passing one where the other belongs doesn't compile, and the wrapper vanishes at runtime. A whole bug family, deleted for free. Third, traits as the extension idiom: every extensible family in the engine — mechanics, doors, scenes, victory conditions, items, encounters — is one trait plus a lookup table plus a scripted fallback. Six times the same idiom, and the compiler enforces the contract each time. Fourth, ownership as custody: the engine's "no raw setters" rule — every state change through one guarded door — isn't a code-review convention. Accessors are keyed by private types outside code cannot construct, and the ownership system from Part 2 makes that stick. Delivery: not syntax niceties — architecture; each maps to a discipline from the deep-dive talk in this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pay the toll onstage, because the costs are real. Compile times: a ten-crate workspace with a wasm UI is not an instant build — incremental builds are fine, clean builds cost minutes. The learning curve: the borrow checker — the compiler subsystem enforcing the memory rules — genuinely fights you for the first weeks; the fight is front-loaded and it does end, but it's real. GUI ecosystem youth: Dioxus is moving fast, which cuts both ways, and the desktop shell's system-library linkage caused enough pain to be quarantined outside the workspace with a comment explaining itself. And the last card is the evaluation guidance the audience actually came for: Rust is a commitment — hiring, onboarding, and the ambient tooling assume you meant it. For this project — determinism, five targets, one codebase — it paid. A CRUD app would not collect these dividends. Delivery: never cut this slide; it buys the whole talk its credibility. ~34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sold, the on-ramp is three lines: install rustup — one installer, done. cargo new something small. And read the official Book — it's genuinely good. Best first project: port a small tool you already understand, so you're learning the language, not the problem. And this repo is public — the root README is the architecture document, and cargo test --workspace runs everything you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questions that always come — keep the answers honest and short. How bad is async, really? The sharpest corner of the language; this repo's answer is representative — keep async at the edges, in the server, and keep the core synchronous and pure. How long does the borrow-checker fight last? Weeks, not months, to productive — it's the compiler front-loading the debugging you'd otherwise do later. Can we hire for it? Fewer candidates, unusually high enthusiasm — Rust roles attract people who chose the language on purpose, and training a strong engineer in takes weeks: the Book plus one real project. When is Rust the wrong choice? When the problem is glue, CRUD, or a script — the ceremony buys nothing there; it pays when correctness, portability, or performance IS the product. And why not Go, TypeScript, or C++? Go trades the type-system guarantees away for simplicity; TypeScript doesn't reach wasm-without-a-runtime or embedded; C++ reaches everywhere but without the safety proofs. And the receipt: this engine WAS TypeScript — rewritten into Rust against its own test corpus, then the TypeScript was deleted. That story is talk 04 in this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one language, five worlds — browser, desktop, server, editor, bare metal — one codebase, and every tool you saw today is why. Two links to leave on screen: the repo is public and everything on this slide is greppable — and the shipped campaign, Hollow House, is playable in the browser right now at hollow.wickedways.online; that is the wasm build from Part 3, live. Thank you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daniel0mullins/WickedWays" TargetMode="External"/><Relationship Id="rId2" Type="http://schemas.openxmlformats.org/officeDocument/2006/relationships/hyperlink" Target="https://hollow.wickedways.online"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01B"/>
        </a:solidFill>
      </p:bgPr>
    </p:bg>
    <p:spTree>
      <p:nvGrpSpPr>
        <p:cNvPr id="1" name=""/>
        <p:cNvGrpSpPr/>
        <p:nvPr/>
      </p:nvGrpSpPr>
      <p:grpSpPr>
        <a:xfrm>
          <a:off x="0" y="0"/>
          <a:ext cx="0" cy="0"/>
          <a:chOff x="0" y="0"/>
          <a:chExt cx="0" cy="0"/>
        </a:xfrm>
      </p:grpSpPr>
      <p:sp>
        <p:nvSpPr>
          <p:cNvPr id="2" name="Shape 0"/>
          <p:cNvSpPr/>
          <p:nvPr/>
        </p:nvSpPr>
        <p:spPr>
          <a:xfrm>
            <a:off x="8778240" y="1188720"/>
            <a:ext cx="731520" cy="731520"/>
          </a:xfrm>
          <a:prstGeom prst="ellipse">
            <a:avLst/>
          </a:prstGeom>
          <a:solidFill>
            <a:srgbClr val="2B2342"/>
          </a:solidFill>
          <a:ln w="9525">
            <a:solidFill>
              <a:srgbClr val="3A3152"/>
            </a:solidFill>
            <a:prstDash val="solid"/>
          </a:ln>
        </p:spPr>
      </p:sp>
      <p:pic>
        <p:nvPicPr>
          <p:cNvPr id="3" name="Image 0" descr="/tmp/claude-0/-home-user-WickedWays/bfe20d4f-91dd-58c9-a5c6-92b3d7767e5d/scratchpad/decks/icons/box.png">    </p:cNvPr>
          <p:cNvPicPr>
            <a:picLocks noChangeAspect="1"/>
          </p:cNvPicPr>
          <p:nvPr/>
        </p:nvPicPr>
        <p:blipFill>
          <a:blip r:embed="rId1"/>
          <a:stretch>
            <a:fillRect/>
          </a:stretch>
        </p:blipFill>
        <p:spPr>
          <a:xfrm>
            <a:off x="8953805" y="1364285"/>
            <a:ext cx="380390" cy="380390"/>
          </a:xfrm>
          <a:prstGeom prst="rect">
            <a:avLst/>
          </a:prstGeom>
        </p:spPr>
      </p:pic>
      <p:sp>
        <p:nvSpPr>
          <p:cNvPr id="4" name="Shape 1"/>
          <p:cNvSpPr/>
          <p:nvPr/>
        </p:nvSpPr>
        <p:spPr>
          <a:xfrm>
            <a:off x="9784080" y="2148840"/>
            <a:ext cx="731520" cy="731520"/>
          </a:xfrm>
          <a:prstGeom prst="ellipse">
            <a:avLst/>
          </a:prstGeom>
          <a:solidFill>
            <a:srgbClr val="2B2342"/>
          </a:solidFill>
          <a:ln w="9525">
            <a:solidFill>
              <a:srgbClr val="3A3152"/>
            </a:solidFill>
            <a:prstDash val="solid"/>
          </a:ln>
        </p:spPr>
      </p:sp>
      <p:pic>
        <p:nvPicPr>
          <p:cNvPr id="5" name="Image 1" descr="/tmp/claude-0/-home-user-WickedWays/bfe20d4f-91dd-58c9-a5c6-92b3d7767e5d/scratchpad/decks/icons/pin_gold.png">    </p:cNvPr>
          <p:cNvPicPr>
            <a:picLocks noChangeAspect="1"/>
          </p:cNvPicPr>
          <p:nvPr/>
        </p:nvPicPr>
        <p:blipFill>
          <a:blip r:embed="rId2"/>
          <a:stretch>
            <a:fillRect/>
          </a:stretch>
        </p:blipFill>
        <p:spPr>
          <a:xfrm>
            <a:off x="9959645" y="2324405"/>
            <a:ext cx="380390" cy="380390"/>
          </a:xfrm>
          <a:prstGeom prst="rect">
            <a:avLst/>
          </a:prstGeom>
        </p:spPr>
      </p:pic>
      <p:sp>
        <p:nvSpPr>
          <p:cNvPr id="6" name="Shape 2"/>
          <p:cNvSpPr/>
          <p:nvPr/>
        </p:nvSpPr>
        <p:spPr>
          <a:xfrm>
            <a:off x="10104120" y="3383280"/>
            <a:ext cx="731520" cy="731520"/>
          </a:xfrm>
          <a:prstGeom prst="ellipse">
            <a:avLst/>
          </a:prstGeom>
          <a:solidFill>
            <a:srgbClr val="2B2342"/>
          </a:solidFill>
          <a:ln w="9525">
            <a:solidFill>
              <a:srgbClr val="3A3152"/>
            </a:solidFill>
            <a:prstDash val="solid"/>
          </a:ln>
        </p:spPr>
      </p:sp>
      <p:pic>
        <p:nvPicPr>
          <p:cNvPr id="7" name="Image 2" descr="/tmp/claude-0/-home-user-WickedWays/bfe20d4f-91dd-58c9-a5c6-92b3d7767e5d/scratchpad/decks/icons/layers.png">    </p:cNvPr>
          <p:cNvPicPr>
            <a:picLocks noChangeAspect="1"/>
          </p:cNvPicPr>
          <p:nvPr/>
        </p:nvPicPr>
        <p:blipFill>
          <a:blip r:embed="rId3"/>
          <a:stretch>
            <a:fillRect/>
          </a:stretch>
        </p:blipFill>
        <p:spPr>
          <a:xfrm>
            <a:off x="10279685" y="3558845"/>
            <a:ext cx="380390" cy="380390"/>
          </a:xfrm>
          <a:prstGeom prst="rect">
            <a:avLst/>
          </a:prstGeom>
        </p:spPr>
      </p:pic>
      <p:sp>
        <p:nvSpPr>
          <p:cNvPr id="8" name="Shape 3"/>
          <p:cNvSpPr/>
          <p:nvPr/>
        </p:nvSpPr>
        <p:spPr>
          <a:xfrm>
            <a:off x="9784080" y="4617720"/>
            <a:ext cx="731520" cy="731520"/>
          </a:xfrm>
          <a:prstGeom prst="ellipse">
            <a:avLst/>
          </a:prstGeom>
          <a:solidFill>
            <a:srgbClr val="2B2342"/>
          </a:solidFill>
          <a:ln w="9525">
            <a:solidFill>
              <a:srgbClr val="3A3152"/>
            </a:solidFill>
            <a:prstDash val="solid"/>
          </a:ln>
        </p:spPr>
      </p:sp>
      <p:pic>
        <p:nvPicPr>
          <p:cNvPr id="9" name="Image 3" descr="/tmp/claude-0/-home-user-WickedWays/bfe20d4f-91dd-58c9-a5c6-92b3d7767e5d/scratchpad/decks/icons/check.png">    </p:cNvPr>
          <p:cNvPicPr>
            <a:picLocks noChangeAspect="1"/>
          </p:cNvPicPr>
          <p:nvPr/>
        </p:nvPicPr>
        <p:blipFill>
          <a:blip r:embed="rId4"/>
          <a:stretch>
            <a:fillRect/>
          </a:stretch>
        </p:blipFill>
        <p:spPr>
          <a:xfrm>
            <a:off x="9959645" y="4793285"/>
            <a:ext cx="380390" cy="380390"/>
          </a:xfrm>
          <a:prstGeom prst="rect">
            <a:avLst/>
          </a:prstGeom>
        </p:spPr>
      </p:pic>
      <p:sp>
        <p:nvSpPr>
          <p:cNvPr id="10" name="Shape 4"/>
          <p:cNvSpPr/>
          <p:nvPr/>
        </p:nvSpPr>
        <p:spPr>
          <a:xfrm>
            <a:off x="8778240" y="5577840"/>
            <a:ext cx="731520" cy="731520"/>
          </a:xfrm>
          <a:prstGeom prst="ellipse">
            <a:avLst/>
          </a:prstGeom>
          <a:solidFill>
            <a:srgbClr val="2B2342"/>
          </a:solidFill>
          <a:ln w="9525">
            <a:solidFill>
              <a:srgbClr val="3A3152"/>
            </a:solidFill>
            <a:prstDash val="solid"/>
          </a:ln>
        </p:spPr>
      </p:sp>
      <p:pic>
        <p:nvPicPr>
          <p:cNvPr id="11" name="Image 4" descr="/tmp/claude-0/-home-user-WickedWays/bfe20d4f-91dd-58c9-a5c6-92b3d7767e5d/scratchpad/decks/icons/cpu_gold.png">    </p:cNvPr>
          <p:cNvPicPr>
            <a:picLocks noChangeAspect="1"/>
          </p:cNvPicPr>
          <p:nvPr/>
        </p:nvPicPr>
        <p:blipFill>
          <a:blip r:embed="rId5"/>
          <a:stretch>
            <a:fillRect/>
          </a:stretch>
        </p:blipFill>
        <p:spPr>
          <a:xfrm>
            <a:off x="8953805" y="5753405"/>
            <a:ext cx="380390" cy="380390"/>
          </a:xfrm>
          <a:prstGeom prst="rect">
            <a:avLst/>
          </a:prstGeom>
        </p:spPr>
      </p:pic>
      <p:sp>
        <p:nvSpPr>
          <p:cNvPr id="12" name="Text 5"/>
          <p:cNvSpPr/>
          <p:nvPr/>
        </p:nvSpPr>
        <p:spPr>
          <a:xfrm>
            <a:off x="685800" y="1600200"/>
            <a:ext cx="7315200" cy="274320"/>
          </a:xfrm>
          <a:prstGeom prst="rect">
            <a:avLst/>
          </a:prstGeom>
          <a:noFill/>
          <a:ln/>
        </p:spPr>
        <p:txBody>
          <a:bodyPr wrap="square" lIns="0" tIns="0" rIns="0" bIns="0" rtlCol="0" anchor="ctr"/>
          <a:lstStyle/>
          <a:p>
            <a:pPr indent="0" marL="0">
              <a:buNone/>
            </a:pPr>
            <a:r>
              <a:rPr lang="en-US" sz="1250" b="1" spc="300" kern="0" dirty="0">
                <a:solidFill>
                  <a:srgbClr val="C9A227"/>
                </a:solidFill>
                <a:latin typeface="Calibri" pitchFamily="34" charset="0"/>
                <a:ea typeface="Calibri" pitchFamily="34" charset="-122"/>
                <a:cs typeface="Calibri" pitchFamily="34" charset="-120"/>
              </a:rPr>
              <a:t>WICKED WAYS · RUST ECOSYSTEM TOUR · 30–40 MIN</a:t>
            </a:r>
            <a:endParaRPr lang="en-US" sz="1250" dirty="0"/>
          </a:p>
        </p:txBody>
      </p:sp>
      <p:sp>
        <p:nvSpPr>
          <p:cNvPr id="13" name="Text 6"/>
          <p:cNvSpPr/>
          <p:nvPr/>
        </p:nvSpPr>
        <p:spPr>
          <a:xfrm>
            <a:off x="685800" y="1920240"/>
            <a:ext cx="7680960" cy="2011680"/>
          </a:xfrm>
          <a:prstGeom prst="rect">
            <a:avLst/>
          </a:prstGeom>
          <a:noFill/>
          <a:ln/>
        </p:spPr>
        <p:txBody>
          <a:bodyPr wrap="square" lIns="0" tIns="0" rIns="0" bIns="0" rtlCol="0" anchor="ctr"/>
          <a:lstStyle/>
          <a:p>
            <a:pPr indent="0" marL="0">
              <a:buNone/>
            </a:pPr>
            <a:r>
              <a:rPr lang="en-US" sz="4800" b="1" dirty="0">
                <a:solidFill>
                  <a:srgbClr val="E9E2D0"/>
                </a:solidFill>
                <a:latin typeface="Cambria" pitchFamily="34" charset="0"/>
                <a:ea typeface="Cambria" pitchFamily="34" charset="-122"/>
                <a:cs typeface="Cambria" pitchFamily="34" charset="-120"/>
              </a:rPr>
              <a:t>One Engine,</a:t>
            </a:r>
            <a:endParaRPr lang="en-US" sz="4800" dirty="0"/>
          </a:p>
          <a:p>
            <a:pPr indent="0" marL="0">
              <a:buNone/>
            </a:pPr>
            <a:r>
              <a:rPr lang="en-US" sz="4800" b="1" dirty="0">
                <a:solidFill>
                  <a:srgbClr val="E9E2D0"/>
                </a:solidFill>
                <a:latin typeface="Cambria" pitchFamily="34" charset="0"/>
                <a:ea typeface="Cambria" pitchFamily="34" charset="-122"/>
                <a:cs typeface="Cambria" pitchFamily="34" charset="-120"/>
              </a:rPr>
              <a:t>Written in Rust</a:t>
            </a:r>
            <a:endParaRPr lang="en-US" sz="4800" dirty="0"/>
          </a:p>
        </p:txBody>
      </p:sp>
      <p:sp>
        <p:nvSpPr>
          <p:cNvPr id="14" name="Text 7"/>
          <p:cNvSpPr/>
          <p:nvPr/>
        </p:nvSpPr>
        <p:spPr>
          <a:xfrm>
            <a:off x="685800" y="4069080"/>
            <a:ext cx="7863840" cy="822960"/>
          </a:xfrm>
          <a:prstGeom prst="rect">
            <a:avLst/>
          </a:prstGeom>
          <a:noFill/>
          <a:ln/>
        </p:spPr>
        <p:txBody>
          <a:bodyPr wrap="square" lIns="0" tIns="0" rIns="0" bIns="0" rtlCol="0" anchor="ctr"/>
          <a:lstStyle/>
          <a:p>
            <a:pPr indent="0" marL="0">
              <a:buNone/>
            </a:pPr>
            <a:r>
              <a:rPr lang="en-US" sz="1800" i="1" dirty="0">
                <a:solidFill>
                  <a:srgbClr val="C9A227"/>
                </a:solidFill>
                <a:latin typeface="Cambria" pitchFamily="34" charset="0"/>
                <a:ea typeface="Cambria" pitchFamily="34" charset="-122"/>
                <a:cs typeface="Cambria" pitchFamily="34" charset="-120"/>
              </a:rPr>
              <a:t>A working tour of the Rust ecosystem —</a:t>
            </a:r>
            <a:endParaRPr lang="en-US" sz="1800" dirty="0"/>
          </a:p>
          <a:p>
            <a:pPr indent="0" marL="0">
              <a:buNone/>
            </a:pPr>
            <a:r>
              <a:rPr lang="en-US" sz="1800" i="1" dirty="0">
                <a:solidFill>
                  <a:srgbClr val="C9A227"/>
                </a:solidFill>
                <a:latin typeface="Cambria" pitchFamily="34" charset="0"/>
                <a:ea typeface="Cambria" pitchFamily="34" charset="-122"/>
                <a:cs typeface="Cambria" pitchFamily="34" charset="-120"/>
              </a:rPr>
              <a:t>every tool shown doing its real job in one shipped codebase</a:t>
            </a:r>
            <a:endParaRPr lang="en-US" sz="1800" dirty="0"/>
          </a:p>
        </p:txBody>
      </p:sp>
      <p:sp>
        <p:nvSpPr>
          <p:cNvPr id="15" name="Text 8"/>
          <p:cNvSpPr/>
          <p:nvPr/>
        </p:nvSpPr>
        <p:spPr>
          <a:xfrm>
            <a:off x="685800" y="6126480"/>
            <a:ext cx="8229600" cy="32004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No Rust experience assumed · npm/pip analogies included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1 — WHY RUST EXISTS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pitch, honestly compressed</a:t>
            </a:r>
            <a:endParaRPr lang="en-US" sz="3000" dirty="0"/>
          </a:p>
        </p:txBody>
      </p:sp>
      <p:sp>
        <p:nvSpPr>
          <p:cNvPr id="4" name="Shape 2"/>
          <p:cNvSpPr/>
          <p:nvPr/>
        </p:nvSpPr>
        <p:spPr>
          <a:xfrm>
            <a:off x="548640" y="1481328"/>
            <a:ext cx="11091672" cy="868680"/>
          </a:xfrm>
          <a:prstGeom prst="roundRect">
            <a:avLst>
              <a:gd name="adj" fmla="val 7368"/>
            </a:avLst>
          </a:prstGeom>
          <a:solidFill>
            <a:srgbClr val="8E2F2F"/>
          </a:solidFill>
          <a:ln w="9525">
            <a:solidFill>
              <a:srgbClr val="C9A227"/>
            </a:solidFill>
            <a:prstDash val="solid"/>
          </a:ln>
        </p:spPr>
      </p:sp>
      <p:sp>
        <p:nvSpPr>
          <p:cNvPr id="5" name="Text 3"/>
          <p:cNvSpPr/>
          <p:nvPr/>
        </p:nvSpPr>
        <p:spPr>
          <a:xfrm>
            <a:off x="822960" y="1536192"/>
            <a:ext cx="10543032" cy="777240"/>
          </a:xfrm>
          <a:prstGeom prst="rect">
            <a:avLst/>
          </a:prstGeom>
          <a:noFill/>
          <a:ln/>
        </p:spPr>
        <p:txBody>
          <a:bodyPr wrap="square" lIns="0" tIns="0" rIns="0" bIns="0" rtlCol="0" anchor="ctr"/>
          <a:lstStyle/>
          <a:p>
            <a:pPr algn="ctr" indent="0" marL="0">
              <a:buNone/>
            </a:pPr>
            <a:r>
              <a:rPr lang="en-US" sz="1350" b="1" dirty="0">
                <a:solidFill>
                  <a:srgbClr val="E9E2D0"/>
                </a:solidFill>
                <a:latin typeface="Calibri" pitchFamily="34" charset="0"/>
                <a:ea typeface="Calibri" pitchFamily="34" charset="-122"/>
                <a:cs typeface="Calibri" pitchFamily="34" charset="-120"/>
              </a:rPr>
              <a:t>The receipt first: one Rust codebase → browser game (wasm) · desktop app · multiplayer server ·</a:t>
            </a:r>
            <a:endParaRPr lang="en-US" sz="1350" dirty="0"/>
          </a:p>
          <a:p>
            <a:pPr algn="ctr" indent="0" marL="0">
              <a:buNone/>
            </a:pPr>
            <a:r>
              <a:rPr lang="en-US" sz="1350" b="1" dirty="0">
                <a:solidFill>
                  <a:srgbClr val="E9E2D0"/>
                </a:solidFill>
                <a:latin typeface="Calibri" pitchFamily="34" charset="0"/>
                <a:ea typeface="Calibri" pitchFamily="34" charset="-122"/>
                <a:cs typeface="Calibri" pitchFamily="34" charset="-120"/>
              </a:rPr>
              <a:t>graphical campaign editor · the controller for a physical e-ink board on a serial cable.</a:t>
            </a:r>
            <a:endParaRPr lang="en-US" sz="1350" dirty="0"/>
          </a:p>
        </p:txBody>
      </p:sp>
      <p:sp>
        <p:nvSpPr>
          <p:cNvPr id="6" name="Shape 4"/>
          <p:cNvSpPr/>
          <p:nvPr/>
        </p:nvSpPr>
        <p:spPr>
          <a:xfrm>
            <a:off x="548640" y="2606040"/>
            <a:ext cx="3514344" cy="2834640"/>
          </a:xfrm>
          <a:prstGeom prst="roundRect">
            <a:avLst>
              <a:gd name="adj" fmla="val 2258"/>
            </a:avLst>
          </a:prstGeom>
          <a:solidFill>
            <a:srgbClr val="221C31"/>
          </a:solidFill>
          <a:ln w="9525">
            <a:solidFill>
              <a:srgbClr val="3A3152"/>
            </a:solidFill>
            <a:prstDash val="solid"/>
          </a:ln>
        </p:spPr>
      </p:sp>
      <p:sp>
        <p:nvSpPr>
          <p:cNvPr id="7" name="Shape 5"/>
          <p:cNvSpPr/>
          <p:nvPr/>
        </p:nvSpPr>
        <p:spPr>
          <a:xfrm>
            <a:off x="1930908" y="2916936"/>
            <a:ext cx="749808" cy="749808"/>
          </a:xfrm>
          <a:prstGeom prst="ellipse">
            <a:avLst/>
          </a:prstGeom>
          <a:solidFill>
            <a:srgbClr val="2B2342"/>
          </a:solidFill>
          <a:ln w="9525">
            <a:solidFill>
              <a:srgbClr val="3A3152"/>
            </a:solidFill>
            <a:prstDash val="solid"/>
          </a:ln>
        </p:spPr>
      </p:sp>
      <p:pic>
        <p:nvPicPr>
          <p:cNvPr id="8" name="Image 0" descr="/tmp/claude-0/-home-user-WickedWays/bfe20d4f-91dd-58c9-a5c6-92b3d7767e5d/scratchpad/decks/icons/shield.png">    </p:cNvPr>
          <p:cNvPicPr>
            <a:picLocks noChangeAspect="1"/>
          </p:cNvPicPr>
          <p:nvPr/>
        </p:nvPicPr>
        <p:blipFill>
          <a:blip r:embed="rId1"/>
          <a:stretch>
            <a:fillRect/>
          </a:stretch>
        </p:blipFill>
        <p:spPr>
          <a:xfrm>
            <a:off x="2110862" y="3096890"/>
            <a:ext cx="389900" cy="389900"/>
          </a:xfrm>
          <a:prstGeom prst="rect">
            <a:avLst/>
          </a:prstGeom>
        </p:spPr>
      </p:pic>
      <p:sp>
        <p:nvSpPr>
          <p:cNvPr id="9" name="Text 6"/>
          <p:cNvSpPr/>
          <p:nvPr/>
        </p:nvSpPr>
        <p:spPr>
          <a:xfrm>
            <a:off x="749808" y="3840480"/>
            <a:ext cx="3112008" cy="566928"/>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Memory safety,</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no garbage collector</a:t>
            </a:r>
            <a:endParaRPr lang="en-US" sz="1550" dirty="0"/>
          </a:p>
        </p:txBody>
      </p:sp>
      <p:sp>
        <p:nvSpPr>
          <p:cNvPr id="10" name="Text 7"/>
          <p:cNvSpPr/>
          <p:nvPr/>
        </p:nvSpPr>
        <p:spPr>
          <a:xfrm>
            <a:off x="768096" y="4800600"/>
            <a:ext cx="3075432" cy="45720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The compiler proves memory correctness at build time — the C/C++ crash-and-exploit class is ruled out, without GC pauses. Fits a web server and a microcontroller alike.</a:t>
            </a:r>
            <a:endParaRPr lang="en-US" sz="1200" dirty="0"/>
          </a:p>
        </p:txBody>
      </p:sp>
      <p:sp>
        <p:nvSpPr>
          <p:cNvPr id="11" name="Shape 8"/>
          <p:cNvSpPr/>
          <p:nvPr/>
        </p:nvSpPr>
        <p:spPr>
          <a:xfrm>
            <a:off x="4337304" y="2606040"/>
            <a:ext cx="3514344" cy="2834640"/>
          </a:xfrm>
          <a:prstGeom prst="roundRect">
            <a:avLst>
              <a:gd name="adj" fmla="val 2258"/>
            </a:avLst>
          </a:prstGeom>
          <a:solidFill>
            <a:srgbClr val="221C31"/>
          </a:solidFill>
          <a:ln w="9525">
            <a:solidFill>
              <a:srgbClr val="3A3152"/>
            </a:solidFill>
            <a:prstDash val="solid"/>
          </a:ln>
        </p:spPr>
      </p:sp>
      <p:sp>
        <p:nvSpPr>
          <p:cNvPr id="12" name="Shape 9"/>
          <p:cNvSpPr/>
          <p:nvPr/>
        </p:nvSpPr>
        <p:spPr>
          <a:xfrm>
            <a:off x="5719572" y="2916936"/>
            <a:ext cx="749808" cy="749808"/>
          </a:xfrm>
          <a:prstGeom prst="ellipse">
            <a:avLst/>
          </a:prstGeom>
          <a:solidFill>
            <a:srgbClr val="2B2342"/>
          </a:solidFill>
          <a:ln w="9525">
            <a:solidFill>
              <a:srgbClr val="3A3152"/>
            </a:solidFill>
            <a:prstDash val="solid"/>
          </a:ln>
        </p:spPr>
      </p:sp>
      <p:pic>
        <p:nvPicPr>
          <p:cNvPr id="13" name="Image 1" descr="/tmp/claude-0/-home-user-WickedWays/bfe20d4f-91dd-58c9-a5c6-92b3d7767e5d/scratchpad/decks/icons/check.png">    </p:cNvPr>
          <p:cNvPicPr>
            <a:picLocks noChangeAspect="1"/>
          </p:cNvPicPr>
          <p:nvPr/>
        </p:nvPicPr>
        <p:blipFill>
          <a:blip r:embed="rId2"/>
          <a:stretch>
            <a:fillRect/>
          </a:stretch>
        </p:blipFill>
        <p:spPr>
          <a:xfrm>
            <a:off x="5899526" y="3096890"/>
            <a:ext cx="389900" cy="389900"/>
          </a:xfrm>
          <a:prstGeom prst="rect">
            <a:avLst/>
          </a:prstGeom>
        </p:spPr>
      </p:pic>
      <p:sp>
        <p:nvSpPr>
          <p:cNvPr id="14" name="Text 10"/>
          <p:cNvSpPr/>
          <p:nvPr/>
        </p:nvSpPr>
        <p:spPr>
          <a:xfrm>
            <a:off x="4538472" y="3840480"/>
            <a:ext cx="3112008" cy="566928"/>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"If it compiles,</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it usually works"</a:t>
            </a:r>
            <a:endParaRPr lang="en-US" sz="1550" dirty="0"/>
          </a:p>
        </p:txBody>
      </p:sp>
      <p:sp>
        <p:nvSpPr>
          <p:cNvPr id="15" name="Text 11"/>
          <p:cNvSpPr/>
          <p:nvPr/>
        </p:nvSpPr>
        <p:spPr>
          <a:xfrm>
            <a:off x="4556760" y="4800600"/>
            <a:ext cx="3075432" cy="45720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Whole bug categories become compile errors. You fight the compiler up front instead of the debugger at 2 a.m. Part 5 shows this doing architectural work.</a:t>
            </a:r>
            <a:endParaRPr lang="en-US" sz="1200" dirty="0"/>
          </a:p>
        </p:txBody>
      </p:sp>
      <p:sp>
        <p:nvSpPr>
          <p:cNvPr id="16" name="Shape 12"/>
          <p:cNvSpPr/>
          <p:nvPr/>
        </p:nvSpPr>
        <p:spPr>
          <a:xfrm>
            <a:off x="8125968" y="2606040"/>
            <a:ext cx="3514344" cy="2834640"/>
          </a:xfrm>
          <a:prstGeom prst="roundRect">
            <a:avLst>
              <a:gd name="adj" fmla="val 2258"/>
            </a:avLst>
          </a:prstGeom>
          <a:solidFill>
            <a:srgbClr val="221C31"/>
          </a:solidFill>
          <a:ln w="9525">
            <a:solidFill>
              <a:srgbClr val="3A3152"/>
            </a:solidFill>
            <a:prstDash val="solid"/>
          </a:ln>
        </p:spPr>
      </p:sp>
      <p:sp>
        <p:nvSpPr>
          <p:cNvPr id="17" name="Shape 13"/>
          <p:cNvSpPr/>
          <p:nvPr/>
        </p:nvSpPr>
        <p:spPr>
          <a:xfrm>
            <a:off x="9508236" y="2916936"/>
            <a:ext cx="749808" cy="749808"/>
          </a:xfrm>
          <a:prstGeom prst="ellipse">
            <a:avLst/>
          </a:prstGeom>
          <a:solidFill>
            <a:srgbClr val="2B2342"/>
          </a:solidFill>
          <a:ln w="9525">
            <a:solidFill>
              <a:srgbClr val="3A3152"/>
            </a:solidFill>
            <a:prstDash val="solid"/>
          </a:ln>
        </p:spPr>
      </p:sp>
      <p:pic>
        <p:nvPicPr>
          <p:cNvPr id="18" name="Image 2" descr="/tmp/claude-0/-home-user-WickedWays/bfe20d4f-91dd-58c9-a5c6-92b3d7767e5d/scratchpad/decks/icons/layers.png">    </p:cNvPr>
          <p:cNvPicPr>
            <a:picLocks noChangeAspect="1"/>
          </p:cNvPicPr>
          <p:nvPr/>
        </p:nvPicPr>
        <p:blipFill>
          <a:blip r:embed="rId3"/>
          <a:stretch>
            <a:fillRect/>
          </a:stretch>
        </p:blipFill>
        <p:spPr>
          <a:xfrm>
            <a:off x="9688190" y="3096890"/>
            <a:ext cx="389900" cy="389900"/>
          </a:xfrm>
          <a:prstGeom prst="rect">
            <a:avLst/>
          </a:prstGeom>
        </p:spPr>
      </p:pic>
      <p:sp>
        <p:nvSpPr>
          <p:cNvPr id="19" name="Text 14"/>
          <p:cNvSpPr/>
          <p:nvPr/>
        </p:nvSpPr>
        <p:spPr>
          <a:xfrm>
            <a:off x="8327136" y="3840480"/>
            <a:ext cx="3112008" cy="566928"/>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One language,</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an absurd range</a:t>
            </a:r>
            <a:endParaRPr lang="en-US" sz="1550" dirty="0"/>
          </a:p>
        </p:txBody>
      </p:sp>
      <p:sp>
        <p:nvSpPr>
          <p:cNvPr id="20" name="Text 15"/>
          <p:cNvSpPr/>
          <p:nvPr/>
        </p:nvSpPr>
        <p:spPr>
          <a:xfrm>
            <a:off x="8345424" y="4800600"/>
            <a:ext cx="3075432" cy="45720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The same source compiles natively, to WebAssembly for browsers, and for bare-metal targets with no OS. Most stacks need three languages for that spread.</a:t>
            </a:r>
            <a:endParaRPr lang="en-US" sz="1200" dirty="0"/>
          </a:p>
        </p:txBody>
      </p:sp>
      <p:sp>
        <p:nvSpPr>
          <p:cNvPr id="21" name="Text 16"/>
          <p:cNvSpPr/>
          <p:nvPr/>
        </p:nvSpPr>
        <p:spPr>
          <a:xfrm>
            <a:off x="822960" y="576072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Goal for the next half hour: every tool that makes that slide normal, introduced doing its actual job.</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2 — THE LANGUAGE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A taste of it — twelve lines of real Rust</a:t>
            </a:r>
            <a:endParaRPr lang="en-US" sz="3000" dirty="0"/>
          </a:p>
        </p:txBody>
      </p:sp>
      <p:sp>
        <p:nvSpPr>
          <p:cNvPr id="4" name="Shape 2"/>
          <p:cNvSpPr/>
          <p:nvPr/>
        </p:nvSpPr>
        <p:spPr>
          <a:xfrm>
            <a:off x="548640" y="1554480"/>
            <a:ext cx="6720840" cy="4297680"/>
          </a:xfrm>
          <a:prstGeom prst="roundRect">
            <a:avLst>
              <a:gd name="adj" fmla="val 1489"/>
            </a:avLst>
          </a:prstGeom>
          <a:solidFill>
            <a:srgbClr val="13101B"/>
          </a:solidFill>
          <a:ln w="9525">
            <a:solidFill>
              <a:srgbClr val="3A3152"/>
            </a:solidFill>
            <a:prstDash val="solid"/>
          </a:ln>
        </p:spPr>
      </p:sp>
      <p:sp>
        <p:nvSpPr>
          <p:cNvPr id="5" name="Text 3"/>
          <p:cNvSpPr/>
          <p:nvPr/>
        </p:nvSpPr>
        <p:spPr>
          <a:xfrm>
            <a:off x="868680" y="1783080"/>
            <a:ext cx="6126480" cy="3931920"/>
          </a:xfrm>
          <a:prstGeom prst="rect">
            <a:avLst/>
          </a:prstGeom>
          <a:noFill/>
          <a:ln/>
        </p:spPr>
        <p:txBody>
          <a:bodyPr wrap="square" lIns="0" tIns="0" rIns="0" bIns="0" rtlCol="0" anchor="t"/>
          <a:lstStyle/>
          <a:p>
            <a:pPr indent="0" marL="0">
              <a:buNone/>
            </a:pPr>
            <a:r>
              <a:rPr lang="en-US" sz="1050" dirty="0">
                <a:solidFill>
                  <a:srgbClr val="C9A227"/>
                </a:solidFill>
                <a:latin typeface="Courier New" pitchFamily="34" charset="0"/>
                <a:ea typeface="Courier New" pitchFamily="34" charset="-122"/>
                <a:cs typeface="Courier New" pitchFamily="34" charset="-120"/>
              </a:rPr>
              <a:t>// A fixed menu of outcomes — each variant carries its own data.</a:t>
            </a:r>
            <a:endParaRPr lang="en-US" sz="1050" dirty="0"/>
          </a:p>
          <a:p>
            <a:pPr indent="0" marL="0">
              <a:buNone/>
            </a:pPr>
            <a:r>
              <a:rPr lang="en-US" sz="1050" dirty="0">
                <a:solidFill>
                  <a:srgbClr val="E9E2D0"/>
                </a:solidFill>
                <a:latin typeface="Courier New" pitchFamily="34" charset="0"/>
                <a:ea typeface="Courier New" pitchFamily="34" charset="-122"/>
                <a:cs typeface="Courier New" pitchFamily="34" charset="-120"/>
              </a:rPr>
              <a:t>enum Effect {</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Damage { target: CharacterId, amount: u32 },</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Heal   { target: CharacterId, amount: u32 },</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Cue(String),</a:t>
            </a:r>
            <a:endParaRPr lang="en-US" sz="1050" dirty="0"/>
          </a:p>
          <a:p>
            <a:pPr indent="0" marL="0">
              <a:spcAft>
                <a:spcPts val="900"/>
              </a:spcAft>
              <a:buNone/>
            </a:pPr>
            <a:r>
              <a:rPr lang="en-US" sz="1050" dirty="0">
                <a:solidFill>
                  <a:srgbClr val="E9E2D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C9A227"/>
                </a:solidFill>
                <a:latin typeface="Courier New" pitchFamily="34" charset="0"/>
                <a:ea typeface="Courier New" pitchFamily="34" charset="-122"/>
                <a:cs typeface="Courier New" pitchFamily="34" charset="-120"/>
              </a:rPr>
              <a:t>// `&amp;` means "borrow it to look at it" — no copy, no handover.</a:t>
            </a:r>
            <a:endParaRPr lang="en-US" sz="1050" dirty="0"/>
          </a:p>
          <a:p>
            <a:pPr indent="0" marL="0">
              <a:buNone/>
            </a:pPr>
            <a:r>
              <a:rPr lang="en-US" sz="1050" dirty="0">
                <a:solidFill>
                  <a:srgbClr val="E9E2D0"/>
                </a:solidFill>
                <a:latin typeface="Courier New" pitchFamily="34" charset="0"/>
                <a:ea typeface="Courier New" pitchFamily="34" charset="-122"/>
                <a:cs typeface="Courier New" pitchFamily="34" charset="-120"/>
              </a:rPr>
              <a:t>fn describe(effect: &amp;Effect, world: &amp;World) -&gt; String {</a:t>
            </a:r>
            <a:endParaRPr lang="en-US" sz="1050" dirty="0"/>
          </a:p>
          <a:p>
            <a:pPr indent="0" marL="0">
              <a:buNone/>
            </a:pPr>
            <a:r>
              <a:rPr lang="en-US" sz="1050" dirty="0">
                <a:solidFill>
                  <a:srgbClr val="E9E2D0"/>
                </a:solidFill>
                <a:latin typeface="Courier New" pitchFamily="34" charset="0"/>
                <a:ea typeface="Courier New" pitchFamily="34" charset="-122"/>
                <a:cs typeface="Courier New" pitchFamily="34" charset="-120"/>
              </a:rPr>
              <a:t>    match effect {</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Effect::Damage { target, amount } =&gt;</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format!("{} takes {amount}", world.name(target)),</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Effect::Heal { target, amount } =&gt;</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format!("{} recovers {amount}", world.name(target)),</a:t>
            </a:r>
            <a:endParaRPr lang="en-US" sz="1050" dirty="0"/>
          </a:p>
          <a:p>
            <a:pPr indent="0" marL="0">
              <a:buNone/>
            </a:pPr>
            <a:r>
              <a:rPr lang="en-US" sz="1050" dirty="0">
                <a:solidFill>
                  <a:srgbClr val="9A92A8"/>
                </a:solidFill>
                <a:latin typeface="Courier New" pitchFamily="34" charset="0"/>
                <a:ea typeface="Courier New" pitchFamily="34" charset="-122"/>
                <a:cs typeface="Courier New" pitchFamily="34" charset="-120"/>
              </a:rPr>
              <a:t>        Effect::Cue(line) =&gt; line.clone(),</a:t>
            </a:r>
            <a:endParaRPr lang="en-US" sz="1050" dirty="0"/>
          </a:p>
          <a:p>
            <a:pPr indent="0" marL="0">
              <a:buNone/>
            </a:pPr>
            <a:r>
              <a:rPr lang="en-US" sz="1050" dirty="0">
                <a:solidFill>
                  <a:srgbClr val="E9E2D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9E2D0"/>
                </a:solidFill>
                <a:latin typeface="Courier New" pitchFamily="34" charset="0"/>
                <a:ea typeface="Courier New" pitchFamily="34" charset="-122"/>
                <a:cs typeface="Courier New" pitchFamily="34" charset="-120"/>
              </a:rPr>
              <a:t>}</a:t>
            </a:r>
            <a:endParaRPr lang="en-US" sz="1050" dirty="0"/>
          </a:p>
        </p:txBody>
      </p:sp>
      <p:sp>
        <p:nvSpPr>
          <p:cNvPr id="6" name="Shape 4"/>
          <p:cNvSpPr/>
          <p:nvPr/>
        </p:nvSpPr>
        <p:spPr>
          <a:xfrm>
            <a:off x="7543800" y="1554480"/>
            <a:ext cx="4096512" cy="1298448"/>
          </a:xfrm>
          <a:prstGeom prst="roundRect">
            <a:avLst>
              <a:gd name="adj" fmla="val 4930"/>
            </a:avLst>
          </a:prstGeom>
          <a:solidFill>
            <a:srgbClr val="221C31"/>
          </a:solidFill>
          <a:ln w="9525">
            <a:solidFill>
              <a:srgbClr val="3A3152"/>
            </a:solidFill>
            <a:prstDash val="solid"/>
          </a:ln>
        </p:spPr>
      </p:sp>
      <p:sp>
        <p:nvSpPr>
          <p:cNvPr id="7" name="Text 5"/>
          <p:cNvSpPr/>
          <p:nvPr/>
        </p:nvSpPr>
        <p:spPr>
          <a:xfrm>
            <a:off x="7818120" y="1664208"/>
            <a:ext cx="3566160" cy="365760"/>
          </a:xfrm>
          <a:prstGeom prst="rect">
            <a:avLst/>
          </a:prstGeom>
          <a:noFill/>
          <a:ln/>
        </p:spPr>
        <p:txBody>
          <a:bodyPr wrap="square" lIns="0" tIns="0" rIns="0" bIns="0" rtlCol="0" anchor="ctr"/>
          <a:lstStyle/>
          <a:p>
            <a:pPr indent="0" marL="0">
              <a:buNone/>
            </a:pPr>
            <a:r>
              <a:rPr lang="en-US" sz="1350" b="1" dirty="0">
                <a:solidFill>
                  <a:srgbClr val="C9A227"/>
                </a:solidFill>
                <a:latin typeface="Cambria" pitchFamily="34" charset="0"/>
                <a:ea typeface="Cambria" pitchFamily="34" charset="-122"/>
                <a:cs typeface="Cambria" pitchFamily="34" charset="-120"/>
              </a:rPr>
              <a:t>The enum carries data</a:t>
            </a:r>
            <a:endParaRPr lang="en-US" sz="1350" dirty="0"/>
          </a:p>
        </p:txBody>
      </p:sp>
      <p:sp>
        <p:nvSpPr>
          <p:cNvPr id="8" name="Text 6"/>
          <p:cNvSpPr/>
          <p:nvPr/>
        </p:nvSpPr>
        <p:spPr>
          <a:xfrm>
            <a:off x="7818120" y="2029968"/>
            <a:ext cx="3566160" cy="749808"/>
          </a:xfrm>
          <a:prstGeom prst="rect">
            <a:avLst/>
          </a:prstGeom>
          <a:noFill/>
          <a:ln/>
        </p:spPr>
        <p:txBody>
          <a:bodyPr wrap="square" lIns="0" tIns="0" rIns="0" bIns="0" rtlCol="0" anchor="t"/>
          <a:lstStyle/>
          <a:p>
            <a:pPr indent="0" marL="0">
              <a:buNone/>
            </a:pPr>
            <a:r>
              <a:rPr lang="en-US" sz="1050" dirty="0">
                <a:solidFill>
                  <a:srgbClr val="9A92A8"/>
                </a:solidFill>
                <a:latin typeface="Calibri" pitchFamily="34" charset="0"/>
                <a:ea typeface="Calibri" pitchFamily="34" charset="-122"/>
                <a:cs typeface="Calibri" pitchFamily="34" charset="-120"/>
              </a:rPr>
              <a:t>Damage holds a target and an amount; Cue holds a line of text. A fixed menu, each entry with its own payload.</a:t>
            </a:r>
            <a:endParaRPr lang="en-US" sz="1050" dirty="0"/>
          </a:p>
        </p:txBody>
      </p:sp>
      <p:sp>
        <p:nvSpPr>
          <p:cNvPr id="9" name="Shape 7"/>
          <p:cNvSpPr/>
          <p:nvPr/>
        </p:nvSpPr>
        <p:spPr>
          <a:xfrm>
            <a:off x="7543800" y="3035808"/>
            <a:ext cx="4096512" cy="1298448"/>
          </a:xfrm>
          <a:prstGeom prst="roundRect">
            <a:avLst>
              <a:gd name="adj" fmla="val 4930"/>
            </a:avLst>
          </a:prstGeom>
          <a:solidFill>
            <a:srgbClr val="221C31"/>
          </a:solidFill>
          <a:ln w="9525">
            <a:solidFill>
              <a:srgbClr val="3A3152"/>
            </a:solidFill>
            <a:prstDash val="solid"/>
          </a:ln>
        </p:spPr>
      </p:sp>
      <p:sp>
        <p:nvSpPr>
          <p:cNvPr id="10" name="Text 8"/>
          <p:cNvSpPr/>
          <p:nvPr/>
        </p:nvSpPr>
        <p:spPr>
          <a:xfrm>
            <a:off x="7818120" y="3145536"/>
            <a:ext cx="3566160" cy="365760"/>
          </a:xfrm>
          <a:prstGeom prst="rect">
            <a:avLst/>
          </a:prstGeom>
          <a:noFill/>
          <a:ln/>
        </p:spPr>
        <p:txBody>
          <a:bodyPr wrap="square" lIns="0" tIns="0" rIns="0" bIns="0" rtlCol="0" anchor="ctr"/>
          <a:lstStyle/>
          <a:p>
            <a:pPr indent="0" marL="0">
              <a:buNone/>
            </a:pPr>
            <a:r>
              <a:rPr lang="en-US" sz="1350" b="1" dirty="0">
                <a:solidFill>
                  <a:srgbClr val="C9A227"/>
                </a:solidFill>
                <a:latin typeface="Cambria" pitchFamily="34" charset="0"/>
                <a:ea typeface="Cambria" pitchFamily="34" charset="-122"/>
                <a:cs typeface="Cambria" pitchFamily="34" charset="-120"/>
              </a:rPr>
              <a:t>match covers every case</a:t>
            </a:r>
            <a:endParaRPr lang="en-US" sz="1350" dirty="0"/>
          </a:p>
        </p:txBody>
      </p:sp>
      <p:sp>
        <p:nvSpPr>
          <p:cNvPr id="11" name="Text 9"/>
          <p:cNvSpPr/>
          <p:nvPr/>
        </p:nvSpPr>
        <p:spPr>
          <a:xfrm>
            <a:off x="7818120" y="3511296"/>
            <a:ext cx="3566160" cy="749808"/>
          </a:xfrm>
          <a:prstGeom prst="rect">
            <a:avLst/>
          </a:prstGeom>
          <a:noFill/>
          <a:ln/>
        </p:spPr>
        <p:txBody>
          <a:bodyPr wrap="square" lIns="0" tIns="0" rIns="0" bIns="0" rtlCol="0" anchor="t"/>
          <a:lstStyle/>
          <a:p>
            <a:pPr indent="0" marL="0">
              <a:buNone/>
            </a:pPr>
            <a:r>
              <a:rPr lang="en-US" sz="1050" dirty="0">
                <a:solidFill>
                  <a:srgbClr val="9A92A8"/>
                </a:solidFill>
                <a:latin typeface="Calibri" pitchFamily="34" charset="0"/>
                <a:ea typeface="Calibri" pitchFamily="34" charset="-122"/>
                <a:cs typeface="Calibri" pitchFamily="34" charset="-120"/>
              </a:rPr>
              <a:t>Miss a variant and this does not compile. Not diligence — the law.</a:t>
            </a:r>
            <a:endParaRPr lang="en-US" sz="1050" dirty="0"/>
          </a:p>
        </p:txBody>
      </p:sp>
      <p:sp>
        <p:nvSpPr>
          <p:cNvPr id="12" name="Shape 10"/>
          <p:cNvSpPr/>
          <p:nvPr/>
        </p:nvSpPr>
        <p:spPr>
          <a:xfrm>
            <a:off x="7543800" y="4517136"/>
            <a:ext cx="4096512" cy="1298448"/>
          </a:xfrm>
          <a:prstGeom prst="roundRect">
            <a:avLst>
              <a:gd name="adj" fmla="val 4930"/>
            </a:avLst>
          </a:prstGeom>
          <a:solidFill>
            <a:srgbClr val="221C31"/>
          </a:solidFill>
          <a:ln w="9525">
            <a:solidFill>
              <a:srgbClr val="3A3152"/>
            </a:solidFill>
            <a:prstDash val="solid"/>
          </a:ln>
        </p:spPr>
      </p:sp>
      <p:sp>
        <p:nvSpPr>
          <p:cNvPr id="13" name="Text 11"/>
          <p:cNvSpPr/>
          <p:nvPr/>
        </p:nvSpPr>
        <p:spPr>
          <a:xfrm>
            <a:off x="7818120" y="4626864"/>
            <a:ext cx="3566160" cy="365760"/>
          </a:xfrm>
          <a:prstGeom prst="rect">
            <a:avLst/>
          </a:prstGeom>
          <a:noFill/>
          <a:ln/>
        </p:spPr>
        <p:txBody>
          <a:bodyPr wrap="square" lIns="0" tIns="0" rIns="0" bIns="0" rtlCol="0" anchor="ctr"/>
          <a:lstStyle/>
          <a:p>
            <a:pPr indent="0" marL="0">
              <a:buNone/>
            </a:pPr>
            <a:r>
              <a:rPr lang="en-US" sz="1350" b="1" dirty="0">
                <a:solidFill>
                  <a:srgbClr val="C9A227"/>
                </a:solidFill>
                <a:latin typeface="Cambria" pitchFamily="34" charset="0"/>
                <a:ea typeface="Cambria" pitchFamily="34" charset="-122"/>
                <a:cs typeface="Cambria" pitchFamily="34" charset="-120"/>
              </a:rPr>
              <a:t>&amp; means borrow</a:t>
            </a:r>
            <a:endParaRPr lang="en-US" sz="1350" dirty="0"/>
          </a:p>
        </p:txBody>
      </p:sp>
      <p:sp>
        <p:nvSpPr>
          <p:cNvPr id="14" name="Text 12"/>
          <p:cNvSpPr/>
          <p:nvPr/>
        </p:nvSpPr>
        <p:spPr>
          <a:xfrm>
            <a:off x="7818120" y="4992624"/>
            <a:ext cx="3566160" cy="749808"/>
          </a:xfrm>
          <a:prstGeom prst="rect">
            <a:avLst/>
          </a:prstGeom>
          <a:noFill/>
          <a:ln/>
        </p:spPr>
        <p:txBody>
          <a:bodyPr wrap="square" lIns="0" tIns="0" rIns="0" bIns="0" rtlCol="0" anchor="t"/>
          <a:lstStyle/>
          <a:p>
            <a:pPr indent="0" marL="0">
              <a:buNone/>
            </a:pPr>
            <a:r>
              <a:rPr lang="en-US" sz="1050" dirty="0">
                <a:solidFill>
                  <a:srgbClr val="9A92A8"/>
                </a:solidFill>
                <a:latin typeface="Calibri" pitchFamily="34" charset="0"/>
                <a:ea typeface="Calibri" pitchFamily="34" charset="-122"/>
                <a:cs typeface="Calibri" pitchFamily="34" charset="-120"/>
              </a:rPr>
              <a:t>The function looks at the effect and the world without copying or taking them — and the compiler checks every borrow at build time.</a:t>
            </a:r>
            <a:endParaRPr lang="en-US" sz="1050" dirty="0"/>
          </a:p>
        </p:txBody>
      </p:sp>
      <p:sp>
        <p:nvSpPr>
          <p:cNvPr id="15" name="Text 13"/>
          <p:cNvSpPr/>
          <p:nvPr/>
        </p:nvSpPr>
        <p:spPr>
          <a:xfrm>
            <a:off x="822960" y="6035040"/>
            <a:ext cx="10543032" cy="548640"/>
          </a:xfrm>
          <a:prstGeom prst="rect">
            <a:avLst/>
          </a:prstGeom>
          <a:noFill/>
          <a:ln/>
        </p:spPr>
        <p:txBody>
          <a:bodyPr wrap="square" lIns="0" tIns="0" rIns="0" bIns="0" rtlCol="0" anchor="ctr"/>
          <a:lstStyle/>
          <a:p>
            <a:pPr algn="ctr" indent="0" marL="0">
              <a:buNone/>
            </a:pPr>
            <a:r>
              <a:rPr lang="en-US" sz="1250" i="1" dirty="0">
                <a:solidFill>
                  <a:srgbClr val="9A92A8"/>
                </a:solidFill>
                <a:latin typeface="Calibri" pitchFamily="34" charset="0"/>
                <a:ea typeface="Calibri" pitchFamily="34" charset="-122"/>
                <a:cs typeface="Calibri" pitchFamily="34" charset="-120"/>
              </a:rPr>
              <a:t>Adapted from the engine's effect system — this is what the rest of the talk's code-shaped claims look like.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2 — THE LANGUAGE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language in five ideas</a:t>
            </a:r>
            <a:endParaRPr lang="en-US" sz="3000" dirty="0"/>
          </a:p>
        </p:txBody>
      </p:sp>
      <p:sp>
        <p:nvSpPr>
          <p:cNvPr id="4" name="Shape 2"/>
          <p:cNvSpPr/>
          <p:nvPr/>
        </p:nvSpPr>
        <p:spPr>
          <a:xfrm>
            <a:off x="548640" y="1536192"/>
            <a:ext cx="11091672" cy="731520"/>
          </a:xfrm>
          <a:prstGeom prst="roundRect">
            <a:avLst>
              <a:gd name="adj" fmla="val 8750"/>
            </a:avLst>
          </a:prstGeom>
          <a:solidFill>
            <a:srgbClr val="221C31"/>
          </a:solidFill>
          <a:ln w="9525">
            <a:solidFill>
              <a:srgbClr val="3A3152"/>
            </a:solidFill>
            <a:prstDash val="solid"/>
          </a:ln>
        </p:spPr>
      </p:sp>
      <p:sp>
        <p:nvSpPr>
          <p:cNvPr id="5" name="Text 3"/>
          <p:cNvSpPr/>
          <p:nvPr/>
        </p:nvSpPr>
        <p:spPr>
          <a:xfrm>
            <a:off x="777240" y="1627632"/>
            <a:ext cx="502920" cy="54864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463040" y="1536192"/>
            <a:ext cx="2880360" cy="73152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Ownership &amp; borrowing</a:t>
            </a:r>
            <a:endParaRPr lang="en-US" sz="1450" dirty="0"/>
          </a:p>
        </p:txBody>
      </p:sp>
      <p:sp>
        <p:nvSpPr>
          <p:cNvPr id="7" name="Text 5"/>
          <p:cNvSpPr/>
          <p:nvPr/>
        </p:nvSpPr>
        <p:spPr>
          <a:xfrm>
            <a:off x="4526280" y="1536192"/>
            <a:ext cx="6858000" cy="731520"/>
          </a:xfrm>
          <a:prstGeom prst="rect">
            <a:avLst/>
          </a:prstGeom>
          <a:noFill/>
          <a:ln/>
        </p:spPr>
        <p:txBody>
          <a:bodyPr wrap="square" lIns="0" tIns="0" rIns="0" bIns="0" rtlCol="0" anchor="ctr"/>
          <a:lstStyle/>
          <a:p>
            <a:pPr indent="0" marL="0">
              <a:buNone/>
            </a:pPr>
            <a:r>
              <a:rPr lang="en-US" sz="1100" dirty="0">
                <a:solidFill>
                  <a:srgbClr val="9A92A8"/>
                </a:solidFill>
                <a:latin typeface="Calibri" pitchFamily="34" charset="0"/>
                <a:ea typeface="Calibri" pitchFamily="34" charset="-122"/>
                <a:cs typeface="Calibri" pitchFamily="34" charset="-120"/>
              </a:rPr>
              <a:t>Every value has exactly one owner; everyone else borrows (&amp;), checked at build time — nothing used after it's gone, never two writers at once. This is what replaces the garbage collector.</a:t>
            </a:r>
            <a:endParaRPr lang="en-US" sz="1100" dirty="0"/>
          </a:p>
        </p:txBody>
      </p:sp>
      <p:sp>
        <p:nvSpPr>
          <p:cNvPr id="8" name="Shape 6"/>
          <p:cNvSpPr/>
          <p:nvPr/>
        </p:nvSpPr>
        <p:spPr>
          <a:xfrm>
            <a:off x="548640" y="2395728"/>
            <a:ext cx="11091672" cy="731520"/>
          </a:xfrm>
          <a:prstGeom prst="roundRect">
            <a:avLst>
              <a:gd name="adj" fmla="val 8750"/>
            </a:avLst>
          </a:prstGeom>
          <a:solidFill>
            <a:srgbClr val="221C31"/>
          </a:solidFill>
          <a:ln w="9525">
            <a:solidFill>
              <a:srgbClr val="3A3152"/>
            </a:solidFill>
            <a:prstDash val="solid"/>
          </a:ln>
        </p:spPr>
      </p:sp>
      <p:sp>
        <p:nvSpPr>
          <p:cNvPr id="9" name="Text 7"/>
          <p:cNvSpPr/>
          <p:nvPr/>
        </p:nvSpPr>
        <p:spPr>
          <a:xfrm>
            <a:off x="777240" y="2487168"/>
            <a:ext cx="502920" cy="54864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463040" y="2395728"/>
            <a:ext cx="2880360" cy="73152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Enums that carry data</a:t>
            </a:r>
            <a:endParaRPr lang="en-US" sz="1450" dirty="0"/>
          </a:p>
        </p:txBody>
      </p:sp>
      <p:sp>
        <p:nvSpPr>
          <p:cNvPr id="11" name="Text 9"/>
          <p:cNvSpPr/>
          <p:nvPr/>
        </p:nvSpPr>
        <p:spPr>
          <a:xfrm>
            <a:off x="4526280" y="2395728"/>
            <a:ext cx="6858000" cy="731520"/>
          </a:xfrm>
          <a:prstGeom prst="rect">
            <a:avLst/>
          </a:prstGeom>
          <a:noFill/>
          <a:ln/>
        </p:spPr>
        <p:txBody>
          <a:bodyPr wrap="square" lIns="0" tIns="0" rIns="0" bIns="0" rtlCol="0" anchor="ctr"/>
          <a:lstStyle/>
          <a:p>
            <a:pPr indent="0" marL="0">
              <a:buNone/>
            </a:pPr>
            <a:r>
              <a:rPr lang="en-US" sz="1100" dirty="0">
                <a:solidFill>
                  <a:srgbClr val="9A92A8"/>
                </a:solidFill>
                <a:latin typeface="Calibri" pitchFamily="34" charset="0"/>
                <a:ea typeface="Calibri" pitchFamily="34" charset="-122"/>
                <a:cs typeface="Calibri" pitchFamily="34" charset="-120"/>
              </a:rPr>
              <a:t>A fixed menu of variants, each with its own payload — not C's numbered constants. Most Rust designs start here.</a:t>
            </a:r>
            <a:endParaRPr lang="en-US" sz="1100" dirty="0"/>
          </a:p>
        </p:txBody>
      </p:sp>
      <p:sp>
        <p:nvSpPr>
          <p:cNvPr id="12" name="Shape 10"/>
          <p:cNvSpPr/>
          <p:nvPr/>
        </p:nvSpPr>
        <p:spPr>
          <a:xfrm>
            <a:off x="548640" y="3255264"/>
            <a:ext cx="11091672" cy="731520"/>
          </a:xfrm>
          <a:prstGeom prst="roundRect">
            <a:avLst>
              <a:gd name="adj" fmla="val 8750"/>
            </a:avLst>
          </a:prstGeom>
          <a:solidFill>
            <a:srgbClr val="221C31"/>
          </a:solidFill>
          <a:ln w="9525">
            <a:solidFill>
              <a:srgbClr val="3A3152"/>
            </a:solidFill>
            <a:prstDash val="solid"/>
          </a:ln>
        </p:spPr>
      </p:sp>
      <p:sp>
        <p:nvSpPr>
          <p:cNvPr id="13" name="Text 11"/>
          <p:cNvSpPr/>
          <p:nvPr/>
        </p:nvSpPr>
        <p:spPr>
          <a:xfrm>
            <a:off x="777240" y="3346704"/>
            <a:ext cx="502920" cy="54864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1463040" y="3255264"/>
            <a:ext cx="2880360" cy="73152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Exhaustive match</a:t>
            </a:r>
            <a:endParaRPr lang="en-US" sz="1450" dirty="0"/>
          </a:p>
        </p:txBody>
      </p:sp>
      <p:sp>
        <p:nvSpPr>
          <p:cNvPr id="15" name="Text 13"/>
          <p:cNvSpPr/>
          <p:nvPr/>
        </p:nvSpPr>
        <p:spPr>
          <a:xfrm>
            <a:off x="4526280" y="3255264"/>
            <a:ext cx="6858000" cy="731520"/>
          </a:xfrm>
          <a:prstGeom prst="rect">
            <a:avLst/>
          </a:prstGeom>
          <a:noFill/>
          <a:ln/>
        </p:spPr>
        <p:txBody>
          <a:bodyPr wrap="square" lIns="0" tIns="0" rIns="0" bIns="0" rtlCol="0" anchor="ctr"/>
          <a:lstStyle/>
          <a:p>
            <a:pPr indent="0" marL="0">
              <a:buNone/>
            </a:pPr>
            <a:r>
              <a:rPr lang="en-US" sz="1100" dirty="0">
                <a:solidFill>
                  <a:srgbClr val="9A92A8"/>
                </a:solidFill>
                <a:latin typeface="Calibri" pitchFamily="34" charset="0"/>
                <a:ea typeface="Calibri" pitchFamily="34" charset="-122"/>
                <a:cs typeface="Calibri" pitchFamily="34" charset="-120"/>
              </a:rPr>
              <a:t>Handle every variant or it doesn't compile. Add a variant next month → the compiler hands you the to-do list.</a:t>
            </a:r>
            <a:endParaRPr lang="en-US" sz="1100" dirty="0"/>
          </a:p>
        </p:txBody>
      </p:sp>
      <p:sp>
        <p:nvSpPr>
          <p:cNvPr id="16" name="Shape 14"/>
          <p:cNvSpPr/>
          <p:nvPr/>
        </p:nvSpPr>
        <p:spPr>
          <a:xfrm>
            <a:off x="548640" y="4114800"/>
            <a:ext cx="11091672" cy="731520"/>
          </a:xfrm>
          <a:prstGeom prst="roundRect">
            <a:avLst>
              <a:gd name="adj" fmla="val 8750"/>
            </a:avLst>
          </a:prstGeom>
          <a:solidFill>
            <a:srgbClr val="221C31"/>
          </a:solidFill>
          <a:ln w="9525">
            <a:solidFill>
              <a:srgbClr val="3A3152"/>
            </a:solidFill>
            <a:prstDash val="solid"/>
          </a:ln>
        </p:spPr>
      </p:sp>
      <p:sp>
        <p:nvSpPr>
          <p:cNvPr id="17" name="Text 15"/>
          <p:cNvSpPr/>
          <p:nvPr/>
        </p:nvSpPr>
        <p:spPr>
          <a:xfrm>
            <a:off x="777240" y="4206240"/>
            <a:ext cx="502920" cy="54864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1463040" y="4114800"/>
            <a:ext cx="2880360" cy="73152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Traits — and #[derive]</a:t>
            </a:r>
            <a:endParaRPr lang="en-US" sz="1450" dirty="0"/>
          </a:p>
        </p:txBody>
      </p:sp>
      <p:sp>
        <p:nvSpPr>
          <p:cNvPr id="19" name="Text 17"/>
          <p:cNvSpPr/>
          <p:nvPr/>
        </p:nvSpPr>
        <p:spPr>
          <a:xfrm>
            <a:off x="4526280" y="4114800"/>
            <a:ext cx="6858000" cy="731520"/>
          </a:xfrm>
          <a:prstGeom prst="rect">
            <a:avLst/>
          </a:prstGeom>
          <a:noFill/>
          <a:ln/>
        </p:spPr>
        <p:txBody>
          <a:bodyPr wrap="square" lIns="0" tIns="0" rIns="0" bIns="0" rtlCol="0" anchor="ctr"/>
          <a:lstStyle/>
          <a:p>
            <a:pPr indent="0" marL="0">
              <a:buNone/>
            </a:pPr>
            <a:r>
              <a:rPr lang="en-US" sz="1100" dirty="0">
                <a:solidFill>
                  <a:srgbClr val="9A92A8"/>
                </a:solidFill>
                <a:latin typeface="Calibri" pitchFamily="34" charset="0"/>
                <a:ea typeface="Calibri" pitchFamily="34" charset="-122"/>
                <a:cs typeface="Calibri" pitchFamily="34" charset="-120"/>
              </a:rPr>
              <a:t>A trait is Rust's interface. #[derive] asks a library to implement its trait for your type, generated at compile time. Hold that thought for serde.</a:t>
            </a:r>
            <a:endParaRPr lang="en-US" sz="1100" dirty="0"/>
          </a:p>
        </p:txBody>
      </p:sp>
      <p:sp>
        <p:nvSpPr>
          <p:cNvPr id="20" name="Shape 18"/>
          <p:cNvSpPr/>
          <p:nvPr/>
        </p:nvSpPr>
        <p:spPr>
          <a:xfrm>
            <a:off x="548640" y="4974336"/>
            <a:ext cx="11091672" cy="731520"/>
          </a:xfrm>
          <a:prstGeom prst="roundRect">
            <a:avLst>
              <a:gd name="adj" fmla="val 8750"/>
            </a:avLst>
          </a:prstGeom>
          <a:solidFill>
            <a:srgbClr val="221C31"/>
          </a:solidFill>
          <a:ln w="9525">
            <a:solidFill>
              <a:srgbClr val="3A3152"/>
            </a:solidFill>
            <a:prstDash val="solid"/>
          </a:ln>
        </p:spPr>
      </p:sp>
      <p:sp>
        <p:nvSpPr>
          <p:cNvPr id="21" name="Text 19"/>
          <p:cNvSpPr/>
          <p:nvPr/>
        </p:nvSpPr>
        <p:spPr>
          <a:xfrm>
            <a:off x="777240" y="5065776"/>
            <a:ext cx="502920" cy="54864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5</a:t>
            </a:r>
            <a:endParaRPr lang="en-US" sz="2200" dirty="0"/>
          </a:p>
        </p:txBody>
      </p:sp>
      <p:sp>
        <p:nvSpPr>
          <p:cNvPr id="22" name="Text 20"/>
          <p:cNvSpPr/>
          <p:nvPr/>
        </p:nvSpPr>
        <p:spPr>
          <a:xfrm>
            <a:off x="1463040" y="4974336"/>
            <a:ext cx="2880360" cy="73152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No null, no exceptions</a:t>
            </a:r>
            <a:endParaRPr lang="en-US" sz="1450" dirty="0"/>
          </a:p>
        </p:txBody>
      </p:sp>
      <p:sp>
        <p:nvSpPr>
          <p:cNvPr id="23" name="Text 21"/>
          <p:cNvSpPr/>
          <p:nvPr/>
        </p:nvSpPr>
        <p:spPr>
          <a:xfrm>
            <a:off x="4526280" y="4974336"/>
            <a:ext cx="6858000" cy="731520"/>
          </a:xfrm>
          <a:prstGeom prst="rect">
            <a:avLst/>
          </a:prstGeom>
          <a:noFill/>
          <a:ln/>
        </p:spPr>
        <p:txBody>
          <a:bodyPr wrap="square" lIns="0" tIns="0" rIns="0" bIns="0" rtlCol="0" anchor="ctr"/>
          <a:lstStyle/>
          <a:p>
            <a:pPr indent="0" marL="0">
              <a:buNone/>
            </a:pPr>
            <a:r>
              <a:rPr lang="en-US" sz="1100" dirty="0">
                <a:solidFill>
                  <a:srgbClr val="9A92A8"/>
                </a:solidFill>
                <a:latin typeface="Calibri" pitchFamily="34" charset="0"/>
                <a:ea typeface="Calibri" pitchFamily="34" charset="-122"/>
                <a:cs typeface="Calibri" pitchFamily="34" charset="-120"/>
              </a:rPr>
              <a:t>Absence is Option, failure is Result — ordinary enums you must handle; the ? operator passes errors up in one keystroke.</a:t>
            </a:r>
            <a:endParaRPr lang="en-US" sz="1100" dirty="0"/>
          </a:p>
        </p:txBody>
      </p:sp>
      <p:sp>
        <p:nvSpPr>
          <p:cNvPr id="24" name="Text 22"/>
          <p:cNvSpPr/>
          <p:nvPr/>
        </p:nvSpPr>
        <p:spPr>
          <a:xfrm>
            <a:off x="822960" y="5897880"/>
            <a:ext cx="10543032" cy="548640"/>
          </a:xfrm>
          <a:prstGeom prst="rect">
            <a:avLst/>
          </a:prstGeom>
          <a:noFill/>
          <a:ln/>
        </p:spPr>
        <p:txBody>
          <a:bodyPr wrap="square" lIns="0" tIns="0" rIns="0" bIns="0" rtlCol="0" anchor="ctr"/>
          <a:lstStyle/>
          <a:p>
            <a:pPr algn="ctr" indent="0" marL="0">
              <a:buNone/>
            </a:pPr>
            <a:r>
              <a:rPr lang="en-US" sz="1250" i="1" dirty="0">
                <a:solidFill>
                  <a:srgbClr val="E9E2D0"/>
                </a:solidFill>
                <a:latin typeface="Calibri" pitchFamily="34" charset="0"/>
                <a:ea typeface="Calibri" pitchFamily="34" charset="-122"/>
                <a:cs typeface="Calibri" pitchFamily="34" charset="-120"/>
              </a:rPr>
              <a:t>All five come back with jobs: ownership → the custody rule · enums + match → the command and effect menus · derive → serde · traits → the six extension families.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TOOLBOX</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rustup, and the version pin</a:t>
            </a:r>
            <a:endParaRPr lang="en-US" sz="3000" dirty="0"/>
          </a:p>
        </p:txBody>
      </p:sp>
      <p:sp>
        <p:nvSpPr>
          <p:cNvPr id="4" name="Shape 2"/>
          <p:cNvSpPr/>
          <p:nvPr/>
        </p:nvSpPr>
        <p:spPr>
          <a:xfrm>
            <a:off x="548640" y="1600200"/>
            <a:ext cx="6035040" cy="3931920"/>
          </a:xfrm>
          <a:prstGeom prst="roundRect">
            <a:avLst>
              <a:gd name="adj" fmla="val 1628"/>
            </a:avLst>
          </a:prstGeom>
          <a:solidFill>
            <a:srgbClr val="13101B"/>
          </a:solidFill>
          <a:ln w="9525">
            <a:solidFill>
              <a:srgbClr val="3A3152"/>
            </a:solidFill>
            <a:prstDash val="solid"/>
          </a:ln>
        </p:spPr>
      </p:sp>
      <p:sp>
        <p:nvSpPr>
          <p:cNvPr id="5" name="Text 3"/>
          <p:cNvSpPr/>
          <p:nvPr/>
        </p:nvSpPr>
        <p:spPr>
          <a:xfrm>
            <a:off x="914400" y="1874520"/>
            <a:ext cx="5394960" cy="3383280"/>
          </a:xfrm>
          <a:prstGeom prst="rect">
            <a:avLst/>
          </a:prstGeom>
          <a:noFill/>
          <a:ln/>
        </p:spPr>
        <p:txBody>
          <a:bodyPr wrap="square" lIns="0" tIns="0" rIns="0" bIns="0" rtlCol="0" anchor="t"/>
          <a:lstStyle/>
          <a:p>
            <a:pPr indent="0" marL="0">
              <a:spcAft>
                <a:spcPts val="600"/>
              </a:spcAft>
              <a:buNone/>
            </a:pPr>
            <a:r>
              <a:rPr lang="en-US" sz="1250" dirty="0">
                <a:solidFill>
                  <a:srgbClr val="C9A227"/>
                </a:solidFill>
                <a:latin typeface="Courier New" pitchFamily="34" charset="0"/>
                <a:ea typeface="Courier New" pitchFamily="34" charset="-122"/>
                <a:cs typeface="Courier New" pitchFamily="34" charset="-120"/>
              </a:rPr>
              <a:t># rust-toolchain.toml — repo root</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 Pin the toolchain so local rustfmt/clippy</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 match CI (rustfmt output and clippy lint</a:t>
            </a:r>
            <a:endParaRPr lang="en-US" sz="1250" dirty="0"/>
          </a:p>
          <a:p>
            <a:pPr indent="0" marL="0">
              <a:spcAft>
                <a:spcPts val="800"/>
              </a:spcAft>
              <a:buNone/>
            </a:pPr>
            <a:r>
              <a:rPr lang="en-US" sz="1250" dirty="0">
                <a:solidFill>
                  <a:srgbClr val="9A92A8"/>
                </a:solidFill>
                <a:latin typeface="Courier New" pitchFamily="34" charset="0"/>
                <a:ea typeface="Courier New" pitchFamily="34" charset="-122"/>
                <a:cs typeface="Courier New" pitchFamily="34" charset="-120"/>
              </a:rPr>
              <a:t># sets shift across stables...)</a:t>
            </a:r>
            <a:endParaRPr lang="en-US" sz="1250" dirty="0"/>
          </a:p>
          <a:p>
            <a:pPr indent="0" marL="0">
              <a:buNone/>
            </a:pPr>
            <a:r>
              <a:rPr lang="en-US" sz="1250" dirty="0">
                <a:solidFill>
                  <a:srgbClr val="E9E2D0"/>
                </a:solidFill>
                <a:latin typeface="Courier New" pitchFamily="34" charset="0"/>
                <a:ea typeface="Courier New" pitchFamily="34" charset="-122"/>
                <a:cs typeface="Courier New" pitchFamily="34" charset="-120"/>
              </a:rPr>
              <a:t>[toolchain]</a:t>
            </a:r>
            <a:endParaRPr lang="en-US" sz="1250" dirty="0"/>
          </a:p>
          <a:p>
            <a:pPr indent="0" marL="0">
              <a:buNone/>
            </a:pPr>
            <a:r>
              <a:rPr lang="en-US" sz="1250" dirty="0">
                <a:solidFill>
                  <a:srgbClr val="E9E2D0"/>
                </a:solidFill>
                <a:latin typeface="Courier New" pitchFamily="34" charset="0"/>
                <a:ea typeface="Courier New" pitchFamily="34" charset="-122"/>
                <a:cs typeface="Courier New" pitchFamily="34" charset="-120"/>
              </a:rPr>
              <a:t>channel    = "1.94.1"</a:t>
            </a:r>
            <a:endParaRPr lang="en-US" sz="1250" dirty="0"/>
          </a:p>
          <a:p>
            <a:pPr indent="0" marL="0">
              <a:buNone/>
            </a:pPr>
            <a:r>
              <a:rPr lang="en-US" sz="1250" dirty="0">
                <a:solidFill>
                  <a:srgbClr val="E9E2D0"/>
                </a:solidFill>
                <a:latin typeface="Courier New" pitchFamily="34" charset="0"/>
                <a:ea typeface="Courier New" pitchFamily="34" charset="-122"/>
                <a:cs typeface="Courier New" pitchFamily="34" charset="-120"/>
              </a:rPr>
              <a:t>components = ["clippy", "rustfmt"]</a:t>
            </a:r>
            <a:endParaRPr lang="en-US" sz="1250" dirty="0"/>
          </a:p>
          <a:p>
            <a:pPr indent="0" marL="0">
              <a:buNone/>
            </a:pPr>
            <a:r>
              <a:rPr lang="en-US" sz="1250" dirty="0">
                <a:solidFill>
                  <a:srgbClr val="E9E2D0"/>
                </a:solidFill>
                <a:latin typeface="Courier New" pitchFamily="34" charset="0"/>
                <a:ea typeface="Courier New" pitchFamily="34" charset="-122"/>
                <a:cs typeface="Courier New" pitchFamily="34" charset="-120"/>
              </a:rPr>
              <a:t>targets    = ["wasm32-unknown-unknown"]</a:t>
            </a:r>
            <a:endParaRPr lang="en-US" sz="1250" dirty="0"/>
          </a:p>
        </p:txBody>
      </p:sp>
      <p:sp>
        <p:nvSpPr>
          <p:cNvPr id="6" name="Shape 4"/>
          <p:cNvSpPr/>
          <p:nvPr/>
        </p:nvSpPr>
        <p:spPr>
          <a:xfrm>
            <a:off x="6858000" y="1600200"/>
            <a:ext cx="4782312" cy="3931920"/>
          </a:xfrm>
          <a:prstGeom prst="roundRect">
            <a:avLst>
              <a:gd name="adj" fmla="val 1628"/>
            </a:avLst>
          </a:prstGeom>
          <a:solidFill>
            <a:srgbClr val="221C31"/>
          </a:solidFill>
          <a:ln w="9525">
            <a:solidFill>
              <a:srgbClr val="3A3152"/>
            </a:solidFill>
            <a:prstDash val="solid"/>
          </a:ln>
        </p:spPr>
      </p:sp>
      <p:sp>
        <p:nvSpPr>
          <p:cNvPr id="7" name="Text 5"/>
          <p:cNvSpPr/>
          <p:nvPr/>
        </p:nvSpPr>
        <p:spPr>
          <a:xfrm>
            <a:off x="7178040" y="1874520"/>
            <a:ext cx="4160520" cy="3474720"/>
          </a:xfrm>
          <a:prstGeom prst="rect">
            <a:avLst/>
          </a:prstGeom>
          <a:noFill/>
          <a:ln/>
        </p:spPr>
        <p:txBody>
          <a:bodyPr wrap="square" lIns="0" tIns="0" rIns="0" bIns="0" rtlCol="0" anchor="t"/>
          <a:lstStyle/>
          <a:p>
            <a:pPr indent="0" marL="0">
              <a:buNone/>
            </a:pPr>
            <a:r>
              <a:rPr lang="en-US" sz="1250" b="1" dirty="0">
                <a:solidFill>
                  <a:srgbClr val="C9A227"/>
                </a:solidFill>
                <a:latin typeface="Calibri" pitchFamily="34" charset="0"/>
                <a:ea typeface="Calibri" pitchFamily="34" charset="-122"/>
                <a:cs typeface="Calibri" pitchFamily="34" charset="-120"/>
              </a:rPr>
              <a:t>rustup — </a:t>
            </a:r>
            <a:pPr indent="0" marL="0">
              <a:spcAft>
                <a:spcPts val="1000"/>
              </a:spcAft>
              <a:buNone/>
            </a:pPr>
            <a:r>
              <a:rPr lang="en-US" sz="1250" dirty="0">
                <a:solidFill>
                  <a:srgbClr val="9A92A8"/>
                </a:solidFill>
                <a:latin typeface="Calibri" pitchFamily="34" charset="0"/>
                <a:ea typeface="Calibri" pitchFamily="34" charset="-122"/>
                <a:cs typeface="Calibri" pitchFamily="34" charset="-120"/>
              </a:rPr>
              <a:t>the official toolchain installer: Rust versions, components, cross-compile targets. Like nvm/pyenv, but universal. You never hand-download a compiler.</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The pin — </a:t>
            </a:r>
            <a:pPr indent="0" marL="0">
              <a:spcAft>
                <a:spcPts val="1000"/>
              </a:spcAft>
              <a:buNone/>
            </a:pPr>
            <a:r>
              <a:rPr lang="en-US" sz="1250" dirty="0">
                <a:solidFill>
                  <a:srgbClr val="9A92A8"/>
                </a:solidFill>
                <a:latin typeface="Calibri" pitchFamily="34" charset="0"/>
                <a:ea typeface="Calibri" pitchFamily="34" charset="-122"/>
                <a:cs typeface="Calibri" pitchFamily="34" charset="-120"/>
              </a:rPr>
              <a:t>drop this file in the repo root and rustup auto-installs the right version for anyone who clones. Like .nvmrc — except it actually installs.</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The war story is in the comment — </a:t>
            </a:r>
            <a:pPr indent="0" marL="0">
              <a:buNone/>
            </a:pPr>
            <a:r>
              <a:rPr lang="en-US" sz="1250" dirty="0">
                <a:solidFill>
                  <a:srgbClr val="9A92A8"/>
                </a:solidFill>
                <a:latin typeface="Calibri" pitchFamily="34" charset="0"/>
                <a:ea typeface="Calibri" pitchFamily="34" charset="-122"/>
                <a:cs typeface="Calibri" pitchFamily="34" charset="-120"/>
              </a:rPr>
              <a:t>formatter output and lint sets shift between releases; CI and laptops must agree or the style gates fight each other.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TOOLBOX</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cargo, crates.io, and the lockfile</a:t>
            </a:r>
            <a:endParaRPr lang="en-US" sz="3000" dirty="0"/>
          </a:p>
        </p:txBody>
      </p:sp>
      <p:sp>
        <p:nvSpPr>
          <p:cNvPr id="4" name="Shape 2"/>
          <p:cNvSpPr/>
          <p:nvPr/>
        </p:nvSpPr>
        <p:spPr>
          <a:xfrm>
            <a:off x="548640" y="1645920"/>
            <a:ext cx="3514344" cy="3108960"/>
          </a:xfrm>
          <a:prstGeom prst="roundRect">
            <a:avLst>
              <a:gd name="adj" fmla="val 2059"/>
            </a:avLst>
          </a:prstGeom>
          <a:solidFill>
            <a:srgbClr val="221C31"/>
          </a:solidFill>
          <a:ln w="9525">
            <a:solidFill>
              <a:srgbClr val="3A3152"/>
            </a:solidFill>
            <a:prstDash val="solid"/>
          </a:ln>
        </p:spPr>
      </p:sp>
      <p:sp>
        <p:nvSpPr>
          <p:cNvPr id="5" name="Shape 3"/>
          <p:cNvSpPr/>
          <p:nvPr/>
        </p:nvSpPr>
        <p:spPr>
          <a:xfrm>
            <a:off x="1930908"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box.png">    </p:cNvPr>
          <p:cNvPicPr>
            <a:picLocks noChangeAspect="1"/>
          </p:cNvPicPr>
          <p:nvPr/>
        </p:nvPicPr>
        <p:blipFill>
          <a:blip r:embed="rId1"/>
          <a:stretch>
            <a:fillRect/>
          </a:stretch>
        </p:blipFill>
        <p:spPr>
          <a:xfrm>
            <a:off x="2110862" y="2136770"/>
            <a:ext cx="389900" cy="389900"/>
          </a:xfrm>
          <a:prstGeom prst="rect">
            <a:avLst/>
          </a:prstGeom>
        </p:spPr>
      </p:pic>
      <p:sp>
        <p:nvSpPr>
          <p:cNvPr id="7" name="Text 4"/>
          <p:cNvSpPr/>
          <p:nvPr/>
        </p:nvSpPr>
        <p:spPr>
          <a:xfrm>
            <a:off x="749808"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cargo</a:t>
            </a:r>
            <a:endParaRPr lang="en-US" sz="1700" dirty="0"/>
          </a:p>
        </p:txBody>
      </p:sp>
      <p:sp>
        <p:nvSpPr>
          <p:cNvPr id="8" name="Text 5"/>
          <p:cNvSpPr/>
          <p:nvPr/>
        </p:nvSpPr>
        <p:spPr>
          <a:xfrm>
            <a:off x="768096" y="3520440"/>
            <a:ext cx="3075432" cy="105156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Package manager, build system, test runner, doc generator, benchmarks — one tool. No webpack/babel/jest constellation to assemble. Here, cargo test --workspace literally runs the four golden gates that pin the engine byte-for-byte.</a:t>
            </a:r>
            <a:endParaRPr lang="en-US" sz="1200" dirty="0"/>
          </a:p>
        </p:txBody>
      </p:sp>
      <p:sp>
        <p:nvSpPr>
          <p:cNvPr id="9" name="Shape 6"/>
          <p:cNvSpPr/>
          <p:nvPr/>
        </p:nvSpPr>
        <p:spPr>
          <a:xfrm>
            <a:off x="4337304" y="1645920"/>
            <a:ext cx="3514344" cy="3108960"/>
          </a:xfrm>
          <a:prstGeom prst="roundRect">
            <a:avLst>
              <a:gd name="adj" fmla="val 2059"/>
            </a:avLst>
          </a:prstGeom>
          <a:solidFill>
            <a:srgbClr val="221C31"/>
          </a:solidFill>
          <a:ln w="9525">
            <a:solidFill>
              <a:srgbClr val="3A3152"/>
            </a:solidFill>
            <a:prstDash val="solid"/>
          </a:ln>
        </p:spPr>
      </p:sp>
      <p:sp>
        <p:nvSpPr>
          <p:cNvPr id="10" name="Shape 7"/>
          <p:cNvSpPr/>
          <p:nvPr/>
        </p:nvSpPr>
        <p:spPr>
          <a:xfrm>
            <a:off x="5719572"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layers.png">    </p:cNvPr>
          <p:cNvPicPr>
            <a:picLocks noChangeAspect="1"/>
          </p:cNvPicPr>
          <p:nvPr/>
        </p:nvPicPr>
        <p:blipFill>
          <a:blip r:embed="rId2"/>
          <a:stretch>
            <a:fillRect/>
          </a:stretch>
        </p:blipFill>
        <p:spPr>
          <a:xfrm>
            <a:off x="5899526" y="2136770"/>
            <a:ext cx="389900" cy="389900"/>
          </a:xfrm>
          <a:prstGeom prst="rect">
            <a:avLst/>
          </a:prstGeom>
        </p:spPr>
      </p:pic>
      <p:sp>
        <p:nvSpPr>
          <p:cNvPr id="12" name="Text 8"/>
          <p:cNvSpPr/>
          <p:nvPr/>
        </p:nvSpPr>
        <p:spPr>
          <a:xfrm>
            <a:off x="4538472"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crates.io</a:t>
            </a:r>
            <a:endParaRPr lang="en-US" sz="1700" dirty="0"/>
          </a:p>
        </p:txBody>
      </p:sp>
      <p:sp>
        <p:nvSpPr>
          <p:cNvPr id="13" name="Text 9"/>
          <p:cNvSpPr/>
          <p:nvPr/>
        </p:nvSpPr>
        <p:spPr>
          <a:xfrm>
            <a:off x="4556760" y="3520440"/>
            <a:ext cx="3075432" cy="105156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The package registry (npm's registry, PyPI). Rust libraries are called crates — hence the crates/ directory naming you'll see in every Rust repo, this one included.</a:t>
            </a:r>
            <a:endParaRPr lang="en-US" sz="1200" dirty="0"/>
          </a:p>
        </p:txBody>
      </p:sp>
      <p:sp>
        <p:nvSpPr>
          <p:cNvPr id="14" name="Shape 10"/>
          <p:cNvSpPr/>
          <p:nvPr/>
        </p:nvSpPr>
        <p:spPr>
          <a:xfrm>
            <a:off x="8125968" y="1645920"/>
            <a:ext cx="3514344" cy="3108960"/>
          </a:xfrm>
          <a:prstGeom prst="roundRect">
            <a:avLst>
              <a:gd name="adj" fmla="val 2059"/>
            </a:avLst>
          </a:prstGeom>
          <a:solidFill>
            <a:srgbClr val="221C31"/>
          </a:solidFill>
          <a:ln w="9525">
            <a:solidFill>
              <a:srgbClr val="3A3152"/>
            </a:solidFill>
            <a:prstDash val="solid"/>
          </a:ln>
        </p:spPr>
      </p:sp>
      <p:sp>
        <p:nvSpPr>
          <p:cNvPr id="15" name="Shape 11"/>
          <p:cNvSpPr/>
          <p:nvPr/>
        </p:nvSpPr>
        <p:spPr>
          <a:xfrm>
            <a:off x="9508236"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lock_bone.png">    </p:cNvPr>
          <p:cNvPicPr>
            <a:picLocks noChangeAspect="1"/>
          </p:cNvPicPr>
          <p:nvPr/>
        </p:nvPicPr>
        <p:blipFill>
          <a:blip r:embed="rId3"/>
          <a:stretch>
            <a:fillRect/>
          </a:stretch>
        </p:blipFill>
        <p:spPr>
          <a:xfrm>
            <a:off x="9688190" y="2136770"/>
            <a:ext cx="389900" cy="389900"/>
          </a:xfrm>
          <a:prstGeom prst="rect">
            <a:avLst/>
          </a:prstGeom>
        </p:spPr>
      </p:pic>
      <p:sp>
        <p:nvSpPr>
          <p:cNvPr id="17" name="Text 12"/>
          <p:cNvSpPr/>
          <p:nvPr/>
        </p:nvSpPr>
        <p:spPr>
          <a:xfrm>
            <a:off x="8327136"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Cargo.lock</a:t>
            </a:r>
            <a:endParaRPr lang="en-US" sz="1700" dirty="0"/>
          </a:p>
        </p:txBody>
      </p:sp>
      <p:sp>
        <p:nvSpPr>
          <p:cNvPr id="18" name="Text 13"/>
          <p:cNvSpPr/>
          <p:nvPr/>
        </p:nvSpPr>
        <p:spPr>
          <a:xfrm>
            <a:off x="8345424" y="3520440"/>
            <a:ext cx="3075432" cy="1051560"/>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The committed lockfile: every machine builds the identical dependency tree. Reproducible builds are the default posture, not an add-on.</a:t>
            </a:r>
            <a:endParaRPr lang="en-US" sz="1200" dirty="0"/>
          </a:p>
        </p:txBody>
      </p:sp>
      <p:sp>
        <p:nvSpPr>
          <p:cNvPr id="19" name="Text 14"/>
          <p:cNvSpPr/>
          <p:nvPr/>
        </p:nvSpPr>
        <p:spPr>
          <a:xfrm>
            <a:off x="822960" y="516636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One tool, one registry, one lockfile — the ecosystem's quiet superpower is that nobody assembles a toolchain.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TOOLBOX</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Workspaces: ten crates, one build</a:t>
            </a:r>
            <a:endParaRPr lang="en-US" sz="3000" dirty="0"/>
          </a:p>
        </p:txBody>
      </p:sp>
      <p:sp>
        <p:nvSpPr>
          <p:cNvPr id="4" name="Shape 2"/>
          <p:cNvSpPr/>
          <p:nvPr/>
        </p:nvSpPr>
        <p:spPr>
          <a:xfrm>
            <a:off x="548640" y="1554480"/>
            <a:ext cx="5413248" cy="475488"/>
          </a:xfrm>
          <a:prstGeom prst="roundRect">
            <a:avLst>
              <a:gd name="adj" fmla="val 13462"/>
            </a:avLst>
          </a:prstGeom>
          <a:solidFill>
            <a:srgbClr val="8E2F2F"/>
          </a:solidFill>
          <a:ln w="9525">
            <a:solidFill>
              <a:srgbClr val="C9A227"/>
            </a:solidFill>
            <a:prstDash val="solid"/>
          </a:ln>
        </p:spPr>
      </p:sp>
      <p:sp>
        <p:nvSpPr>
          <p:cNvPr id="5" name="Text 3"/>
          <p:cNvSpPr/>
          <p:nvPr/>
        </p:nvSpPr>
        <p:spPr>
          <a:xfrm>
            <a:off x="777240" y="1554480"/>
            <a:ext cx="2651760" cy="475488"/>
          </a:xfrm>
          <a:prstGeom prst="rect">
            <a:avLst/>
          </a:prstGeom>
          <a:noFill/>
          <a:ln/>
        </p:spPr>
        <p:txBody>
          <a:bodyPr wrap="square" lIns="0" tIns="0" rIns="0" bIns="0" rtlCol="0" anchor="ctr"/>
          <a:lstStyle/>
          <a:p>
            <a:pPr indent="0" marL="0">
              <a:buNone/>
            </a:pPr>
            <a:r>
              <a:rPr lang="en-US" sz="1150" b="1" dirty="0">
                <a:solidFill>
                  <a:srgbClr val="E9E2D0"/>
                </a:solidFill>
                <a:latin typeface="Courier New" pitchFamily="34" charset="0"/>
                <a:ea typeface="Courier New" pitchFamily="34" charset="-122"/>
                <a:cs typeface="Courier New" pitchFamily="34" charset="-120"/>
              </a:rPr>
              <a:t>wickedways-core</a:t>
            </a:r>
            <a:endParaRPr lang="en-US" sz="1150" dirty="0"/>
          </a:p>
        </p:txBody>
      </p:sp>
      <p:sp>
        <p:nvSpPr>
          <p:cNvPr id="6" name="Text 4"/>
          <p:cNvSpPr/>
          <p:nvPr/>
        </p:nvSpPr>
        <p:spPr>
          <a:xfrm>
            <a:off x="3474720" y="1554480"/>
            <a:ext cx="2377440" cy="475488"/>
          </a:xfrm>
          <a:prstGeom prst="rect">
            <a:avLst/>
          </a:prstGeom>
          <a:noFill/>
          <a:ln/>
        </p:spPr>
        <p:txBody>
          <a:bodyPr wrap="square" lIns="0" tIns="0" rIns="0" bIns="0" rtlCol="0" anchor="ctr"/>
          <a:lstStyle/>
          <a:p>
            <a:pPr indent="0" marL="0">
              <a:buNone/>
            </a:pPr>
            <a:r>
              <a:rPr lang="en-US" sz="1050" dirty="0">
                <a:solidFill>
                  <a:srgbClr val="E9E2D0"/>
                </a:solidFill>
                <a:latin typeface="Calibri" pitchFamily="34" charset="0"/>
                <a:ea typeface="Calibri" pitchFamily="34" charset="-122"/>
                <a:cs typeface="Calibri" pitchFamily="34" charset="-120"/>
              </a:rPr>
              <a:t>the engine — no_std-capable</a:t>
            </a:r>
            <a:endParaRPr lang="en-US" sz="1050" dirty="0"/>
          </a:p>
        </p:txBody>
      </p:sp>
      <p:sp>
        <p:nvSpPr>
          <p:cNvPr id="7" name="Shape 5"/>
          <p:cNvSpPr/>
          <p:nvPr/>
        </p:nvSpPr>
        <p:spPr>
          <a:xfrm>
            <a:off x="6236208" y="1554480"/>
            <a:ext cx="5413248" cy="475488"/>
          </a:xfrm>
          <a:prstGeom prst="roundRect">
            <a:avLst>
              <a:gd name="adj" fmla="val 13462"/>
            </a:avLst>
          </a:prstGeom>
          <a:solidFill>
            <a:srgbClr val="221C31"/>
          </a:solidFill>
          <a:ln w="9525">
            <a:solidFill>
              <a:srgbClr val="3A3152"/>
            </a:solidFill>
            <a:prstDash val="solid"/>
          </a:ln>
        </p:spPr>
      </p:sp>
      <p:sp>
        <p:nvSpPr>
          <p:cNvPr id="8" name="Text 6"/>
          <p:cNvSpPr/>
          <p:nvPr/>
        </p:nvSpPr>
        <p:spPr>
          <a:xfrm>
            <a:off x="6464808" y="1554480"/>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wickedways-author</a:t>
            </a:r>
            <a:endParaRPr lang="en-US" sz="1150" dirty="0"/>
          </a:p>
        </p:txBody>
      </p:sp>
      <p:sp>
        <p:nvSpPr>
          <p:cNvPr id="9" name="Text 7"/>
          <p:cNvSpPr/>
          <p:nvPr/>
        </p:nvSpPr>
        <p:spPr>
          <a:xfrm>
            <a:off x="9162288" y="1554480"/>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TOML campaign compiler</a:t>
            </a:r>
            <a:endParaRPr lang="en-US" sz="1050" dirty="0"/>
          </a:p>
        </p:txBody>
      </p:sp>
      <p:sp>
        <p:nvSpPr>
          <p:cNvPr id="10" name="Shape 8"/>
          <p:cNvSpPr/>
          <p:nvPr/>
        </p:nvSpPr>
        <p:spPr>
          <a:xfrm>
            <a:off x="548640" y="2121408"/>
            <a:ext cx="5413248" cy="475488"/>
          </a:xfrm>
          <a:prstGeom prst="roundRect">
            <a:avLst>
              <a:gd name="adj" fmla="val 13462"/>
            </a:avLst>
          </a:prstGeom>
          <a:solidFill>
            <a:srgbClr val="221C31"/>
          </a:solidFill>
          <a:ln w="9525">
            <a:solidFill>
              <a:srgbClr val="3A3152"/>
            </a:solidFill>
            <a:prstDash val="solid"/>
          </a:ln>
        </p:spPr>
      </p:sp>
      <p:sp>
        <p:nvSpPr>
          <p:cNvPr id="11" name="Text 9"/>
          <p:cNvSpPr/>
          <p:nvPr/>
        </p:nvSpPr>
        <p:spPr>
          <a:xfrm>
            <a:off x="777240" y="2121408"/>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wickedways-assemble</a:t>
            </a:r>
            <a:endParaRPr lang="en-US" sz="1150" dirty="0"/>
          </a:p>
        </p:txBody>
      </p:sp>
      <p:sp>
        <p:nvSpPr>
          <p:cNvPr id="12" name="Text 10"/>
          <p:cNvSpPr/>
          <p:nvPr/>
        </p:nvSpPr>
        <p:spPr>
          <a:xfrm>
            <a:off x="3474720" y="2121408"/>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genesis assembler</a:t>
            </a:r>
            <a:endParaRPr lang="en-US" sz="1050" dirty="0"/>
          </a:p>
        </p:txBody>
      </p:sp>
      <p:sp>
        <p:nvSpPr>
          <p:cNvPr id="13" name="Shape 11"/>
          <p:cNvSpPr/>
          <p:nvPr/>
        </p:nvSpPr>
        <p:spPr>
          <a:xfrm>
            <a:off x="6236208" y="2121408"/>
            <a:ext cx="5413248" cy="475488"/>
          </a:xfrm>
          <a:prstGeom prst="roundRect">
            <a:avLst>
              <a:gd name="adj" fmla="val 13462"/>
            </a:avLst>
          </a:prstGeom>
          <a:solidFill>
            <a:srgbClr val="221C31"/>
          </a:solidFill>
          <a:ln w="9525">
            <a:solidFill>
              <a:srgbClr val="3A3152"/>
            </a:solidFill>
            <a:prstDash val="solid"/>
          </a:ln>
        </p:spPr>
      </p:sp>
      <p:sp>
        <p:nvSpPr>
          <p:cNvPr id="14" name="Text 12"/>
          <p:cNvSpPr/>
          <p:nvPr/>
        </p:nvSpPr>
        <p:spPr>
          <a:xfrm>
            <a:off x="6464808" y="2121408"/>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wickedways-transport</a:t>
            </a:r>
            <a:endParaRPr lang="en-US" sz="1150" dirty="0"/>
          </a:p>
        </p:txBody>
      </p:sp>
      <p:sp>
        <p:nvSpPr>
          <p:cNvPr id="15" name="Text 13"/>
          <p:cNvSpPr/>
          <p:nvPr/>
        </p:nvSpPr>
        <p:spPr>
          <a:xfrm>
            <a:off x="9162288" y="2121408"/>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wire protocol (serde only)</a:t>
            </a:r>
            <a:endParaRPr lang="en-US" sz="1050" dirty="0"/>
          </a:p>
        </p:txBody>
      </p:sp>
      <p:sp>
        <p:nvSpPr>
          <p:cNvPr id="16" name="Shape 14"/>
          <p:cNvSpPr/>
          <p:nvPr/>
        </p:nvSpPr>
        <p:spPr>
          <a:xfrm>
            <a:off x="548640" y="2688336"/>
            <a:ext cx="5413248" cy="475488"/>
          </a:xfrm>
          <a:prstGeom prst="roundRect">
            <a:avLst>
              <a:gd name="adj" fmla="val 13462"/>
            </a:avLst>
          </a:prstGeom>
          <a:solidFill>
            <a:srgbClr val="221C31"/>
          </a:solidFill>
          <a:ln w="9525">
            <a:solidFill>
              <a:srgbClr val="3A3152"/>
            </a:solidFill>
            <a:prstDash val="solid"/>
          </a:ln>
        </p:spPr>
      </p:sp>
      <p:sp>
        <p:nvSpPr>
          <p:cNvPr id="17" name="Text 15"/>
          <p:cNvSpPr/>
          <p:nvPr/>
        </p:nvSpPr>
        <p:spPr>
          <a:xfrm>
            <a:off x="777240" y="2688336"/>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wickedways-server</a:t>
            </a:r>
            <a:endParaRPr lang="en-US" sz="1150" dirty="0"/>
          </a:p>
        </p:txBody>
      </p:sp>
      <p:sp>
        <p:nvSpPr>
          <p:cNvPr id="18" name="Text 16"/>
          <p:cNvSpPr/>
          <p:nvPr/>
        </p:nvSpPr>
        <p:spPr>
          <a:xfrm>
            <a:off x="3474720" y="2688336"/>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axum/tokio room server</a:t>
            </a:r>
            <a:endParaRPr lang="en-US" sz="1050" dirty="0"/>
          </a:p>
        </p:txBody>
      </p:sp>
      <p:sp>
        <p:nvSpPr>
          <p:cNvPr id="19" name="Shape 17"/>
          <p:cNvSpPr/>
          <p:nvPr/>
        </p:nvSpPr>
        <p:spPr>
          <a:xfrm>
            <a:off x="6236208" y="2688336"/>
            <a:ext cx="5413248" cy="475488"/>
          </a:xfrm>
          <a:prstGeom prst="roundRect">
            <a:avLst>
              <a:gd name="adj" fmla="val 13462"/>
            </a:avLst>
          </a:prstGeom>
          <a:solidFill>
            <a:srgbClr val="221C31"/>
          </a:solidFill>
          <a:ln w="9525">
            <a:solidFill>
              <a:srgbClr val="3A3152"/>
            </a:solidFill>
            <a:prstDash val="solid"/>
          </a:ln>
        </p:spPr>
      </p:sp>
      <p:sp>
        <p:nvSpPr>
          <p:cNvPr id="20" name="Text 18"/>
          <p:cNvSpPr/>
          <p:nvPr/>
        </p:nvSpPr>
        <p:spPr>
          <a:xfrm>
            <a:off x="6464808" y="2688336"/>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wickedways-wasm</a:t>
            </a:r>
            <a:endParaRPr lang="en-US" sz="1150" dirty="0"/>
          </a:p>
        </p:txBody>
      </p:sp>
      <p:sp>
        <p:nvSpPr>
          <p:cNvPr id="21" name="Text 19"/>
          <p:cNvSpPr/>
          <p:nvPr/>
        </p:nvSpPr>
        <p:spPr>
          <a:xfrm>
            <a:off x="9162288" y="2688336"/>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the JS boundary</a:t>
            </a:r>
            <a:endParaRPr lang="en-US" sz="1050" dirty="0"/>
          </a:p>
        </p:txBody>
      </p:sp>
      <p:sp>
        <p:nvSpPr>
          <p:cNvPr id="22" name="Shape 20"/>
          <p:cNvSpPr/>
          <p:nvPr/>
        </p:nvSpPr>
        <p:spPr>
          <a:xfrm>
            <a:off x="548640" y="3255264"/>
            <a:ext cx="5413248" cy="475488"/>
          </a:xfrm>
          <a:prstGeom prst="roundRect">
            <a:avLst>
              <a:gd name="adj" fmla="val 13462"/>
            </a:avLst>
          </a:prstGeom>
          <a:solidFill>
            <a:srgbClr val="221C31"/>
          </a:solidFill>
          <a:ln w="9525">
            <a:solidFill>
              <a:srgbClr val="3A3152"/>
            </a:solidFill>
            <a:prstDash val="solid"/>
          </a:ln>
        </p:spPr>
      </p:sp>
      <p:sp>
        <p:nvSpPr>
          <p:cNvPr id="23" name="Text 21"/>
          <p:cNvSpPr/>
          <p:nvPr/>
        </p:nvSpPr>
        <p:spPr>
          <a:xfrm>
            <a:off x="777240" y="3255264"/>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wickedways-web</a:t>
            </a:r>
            <a:endParaRPr lang="en-US" sz="1150" dirty="0"/>
          </a:p>
        </p:txBody>
      </p:sp>
      <p:sp>
        <p:nvSpPr>
          <p:cNvPr id="24" name="Text 22"/>
          <p:cNvSpPr/>
          <p:nvPr/>
        </p:nvSpPr>
        <p:spPr>
          <a:xfrm>
            <a:off x="3474720" y="3255264"/>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Dioxus web client</a:t>
            </a:r>
            <a:endParaRPr lang="en-US" sz="1050" dirty="0"/>
          </a:p>
        </p:txBody>
      </p:sp>
      <p:sp>
        <p:nvSpPr>
          <p:cNvPr id="25" name="Shape 23"/>
          <p:cNvSpPr/>
          <p:nvPr/>
        </p:nvSpPr>
        <p:spPr>
          <a:xfrm>
            <a:off x="6236208" y="3255264"/>
            <a:ext cx="5413248" cy="475488"/>
          </a:xfrm>
          <a:prstGeom prst="roundRect">
            <a:avLst>
              <a:gd name="adj" fmla="val 13462"/>
            </a:avLst>
          </a:prstGeom>
          <a:solidFill>
            <a:srgbClr val="221C31"/>
          </a:solidFill>
          <a:ln w="9525">
            <a:solidFill>
              <a:srgbClr val="3A3152"/>
            </a:solidFill>
            <a:prstDash val="solid"/>
          </a:ln>
        </p:spPr>
      </p:sp>
      <p:sp>
        <p:nvSpPr>
          <p:cNvPr id="26" name="Text 24"/>
          <p:cNvSpPr/>
          <p:nvPr/>
        </p:nvSpPr>
        <p:spPr>
          <a:xfrm>
            <a:off x="6464808" y="3255264"/>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wickedways-tabletop</a:t>
            </a:r>
            <a:endParaRPr lang="en-US" sz="1150" dirty="0"/>
          </a:p>
        </p:txBody>
      </p:sp>
      <p:sp>
        <p:nvSpPr>
          <p:cNvPr id="27" name="Text 25"/>
          <p:cNvSpPr/>
          <p:nvPr/>
        </p:nvSpPr>
        <p:spPr>
          <a:xfrm>
            <a:off x="9162288" y="3255264"/>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physical-board bridge</a:t>
            </a:r>
            <a:endParaRPr lang="en-US" sz="1050" dirty="0"/>
          </a:p>
        </p:txBody>
      </p:sp>
      <p:sp>
        <p:nvSpPr>
          <p:cNvPr id="28" name="Shape 26"/>
          <p:cNvSpPr/>
          <p:nvPr/>
        </p:nvSpPr>
        <p:spPr>
          <a:xfrm>
            <a:off x="548640" y="3822192"/>
            <a:ext cx="5413248" cy="475488"/>
          </a:xfrm>
          <a:prstGeom prst="roundRect">
            <a:avLst>
              <a:gd name="adj" fmla="val 13462"/>
            </a:avLst>
          </a:prstGeom>
          <a:solidFill>
            <a:srgbClr val="221C31"/>
          </a:solidFill>
          <a:ln w="9525">
            <a:solidFill>
              <a:srgbClr val="3A3152"/>
            </a:solidFill>
            <a:prstDash val="solid"/>
          </a:ln>
        </p:spPr>
      </p:sp>
      <p:sp>
        <p:nvSpPr>
          <p:cNvPr id="29" name="Text 27"/>
          <p:cNvSpPr/>
          <p:nvPr/>
        </p:nvSpPr>
        <p:spPr>
          <a:xfrm>
            <a:off x="777240" y="3822192"/>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wickedways-controller</a:t>
            </a:r>
            <a:endParaRPr lang="en-US" sz="1150" dirty="0"/>
          </a:p>
        </p:txBody>
      </p:sp>
      <p:sp>
        <p:nvSpPr>
          <p:cNvPr id="30" name="Text 28"/>
          <p:cNvSpPr/>
          <p:nvPr/>
        </p:nvSpPr>
        <p:spPr>
          <a:xfrm>
            <a:off x="3474720" y="3822192"/>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hardware controller</a:t>
            </a:r>
            <a:endParaRPr lang="en-US" sz="1050" dirty="0"/>
          </a:p>
        </p:txBody>
      </p:sp>
      <p:sp>
        <p:nvSpPr>
          <p:cNvPr id="31" name="Shape 29"/>
          <p:cNvSpPr/>
          <p:nvPr/>
        </p:nvSpPr>
        <p:spPr>
          <a:xfrm>
            <a:off x="6236208" y="3822192"/>
            <a:ext cx="5413248" cy="475488"/>
          </a:xfrm>
          <a:prstGeom prst="roundRect">
            <a:avLst>
              <a:gd name="adj" fmla="val 13462"/>
            </a:avLst>
          </a:prstGeom>
          <a:solidFill>
            <a:srgbClr val="221C31"/>
          </a:solidFill>
          <a:ln w="9525">
            <a:solidFill>
              <a:srgbClr val="3A3152"/>
            </a:solidFill>
            <a:prstDash val="solid"/>
          </a:ln>
        </p:spPr>
      </p:sp>
      <p:sp>
        <p:nvSpPr>
          <p:cNvPr id="32" name="Text 30"/>
          <p:cNvSpPr/>
          <p:nvPr/>
        </p:nvSpPr>
        <p:spPr>
          <a:xfrm>
            <a:off x="6464808" y="3822192"/>
            <a:ext cx="2651760" cy="475488"/>
          </a:xfrm>
          <a:prstGeom prst="rect">
            <a:avLst/>
          </a:prstGeom>
          <a:noFill/>
          <a:ln/>
        </p:spPr>
        <p:txBody>
          <a:bodyPr wrap="square" lIns="0" tIns="0" rIns="0" bIns="0" rtlCol="0" anchor="ctr"/>
          <a:lstStyle/>
          <a:p>
            <a:pPr indent="0" marL="0">
              <a:buNone/>
            </a:pPr>
            <a:r>
              <a:rPr lang="en-US" sz="1150" b="1" dirty="0">
                <a:solidFill>
                  <a:srgbClr val="C9A227"/>
                </a:solidFill>
                <a:latin typeface="Courier New" pitchFamily="34" charset="0"/>
                <a:ea typeface="Courier New" pitchFamily="34" charset="-122"/>
                <a:cs typeface="Courier New" pitchFamily="34" charset="-120"/>
              </a:rPr>
              <a:t>wickedways-studio</a:t>
            </a:r>
            <a:endParaRPr lang="en-US" sz="1150" dirty="0"/>
          </a:p>
        </p:txBody>
      </p:sp>
      <p:sp>
        <p:nvSpPr>
          <p:cNvPr id="33" name="Text 31"/>
          <p:cNvSpPr/>
          <p:nvPr/>
        </p:nvSpPr>
        <p:spPr>
          <a:xfrm>
            <a:off x="9162288" y="3822192"/>
            <a:ext cx="2377440" cy="475488"/>
          </a:xfrm>
          <a:prstGeom prst="rect">
            <a:avLst/>
          </a:prstGeom>
          <a:noFill/>
          <a:ln/>
        </p:spPr>
        <p:txBody>
          <a:bodyPr wrap="square" lIns="0" tIns="0" rIns="0" bIns="0" rtlCol="0" anchor="ctr"/>
          <a:lstStyle/>
          <a:p>
            <a:pPr indent="0" marL="0">
              <a:buNone/>
            </a:pPr>
            <a:r>
              <a:rPr lang="en-US" sz="1050" dirty="0">
                <a:solidFill>
                  <a:srgbClr val="9A92A8"/>
                </a:solidFill>
                <a:latin typeface="Calibri" pitchFamily="34" charset="0"/>
                <a:ea typeface="Calibri" pitchFamily="34" charset="-122"/>
                <a:cs typeface="Calibri" pitchFamily="34" charset="-120"/>
              </a:rPr>
              <a:t>graphical campaign editor</a:t>
            </a:r>
            <a:endParaRPr lang="en-US" sz="1050" dirty="0"/>
          </a:p>
        </p:txBody>
      </p:sp>
      <p:sp>
        <p:nvSpPr>
          <p:cNvPr id="34" name="Shape 32"/>
          <p:cNvSpPr/>
          <p:nvPr/>
        </p:nvSpPr>
        <p:spPr>
          <a:xfrm>
            <a:off x="548640" y="4617720"/>
            <a:ext cx="11091672" cy="1051560"/>
          </a:xfrm>
          <a:prstGeom prst="roundRect">
            <a:avLst>
              <a:gd name="adj" fmla="val 6087"/>
            </a:avLst>
          </a:prstGeom>
          <a:solidFill>
            <a:srgbClr val="2B2342"/>
          </a:solidFill>
          <a:ln w="9525">
            <a:solidFill>
              <a:srgbClr val="3A3152"/>
            </a:solidFill>
            <a:prstDash val="solid"/>
          </a:ln>
        </p:spPr>
      </p:sp>
      <p:sp>
        <p:nvSpPr>
          <p:cNvPr id="35" name="Text 33"/>
          <p:cNvSpPr/>
          <p:nvPr/>
        </p:nvSpPr>
        <p:spPr>
          <a:xfrm>
            <a:off x="822960" y="4709160"/>
            <a:ext cx="10543032" cy="868680"/>
          </a:xfrm>
          <a:prstGeom prst="rect">
            <a:avLst/>
          </a:prstGeom>
          <a:noFill/>
          <a:ln/>
        </p:spPr>
        <p:txBody>
          <a:bodyPr wrap="square" lIns="0" tIns="0" rIns="0" bIns="0" rtlCol="0" anchor="ctr"/>
          <a:lstStyle/>
          <a:p>
            <a:pPr algn="ctr" indent="0" marL="0">
              <a:buNone/>
            </a:pPr>
            <a:r>
              <a:rPr lang="en-US" sz="1300" dirty="0">
                <a:solidFill>
                  <a:srgbClr val="E9E2D0"/>
                </a:solidFill>
                <a:latin typeface="Calibri" pitchFamily="34" charset="0"/>
                <a:ea typeface="Calibri" pitchFamily="34" charset="-122"/>
                <a:cs typeface="Calibri" pitchFamily="34" charset="-120"/>
              </a:rPr>
              <a:t>The nuance beat: one crate — the desktop shell — is deliberately EXCLUDED from the workspace, with the reason</a:t>
            </a:r>
            <a:endParaRPr lang="en-US" sz="1300" dirty="0"/>
          </a:p>
          <a:p>
            <a:pPr algn="ctr" indent="0" marL="0">
              <a:buNone/>
            </a:pPr>
            <a:r>
              <a:rPr lang="en-US" sz="1300" dirty="0">
                <a:solidFill>
                  <a:srgbClr val="E9E2D0"/>
                </a:solidFill>
                <a:latin typeface="Calibri" pitchFamily="34" charset="0"/>
                <a:ea typeface="Calibri" pitchFamily="34" charset="-122"/>
                <a:cs typeface="Calibri" pitchFamily="34" charset="-120"/>
              </a:rPr>
              <a:t>in a comment: it alone links the system GUI stack, and excluding it keeps every workspace-wide gate free of system packages.</a:t>
            </a:r>
            <a:endParaRPr lang="en-US" sz="1300" dirty="0"/>
          </a:p>
        </p:txBody>
      </p:sp>
      <p:sp>
        <p:nvSpPr>
          <p:cNvPr id="36" name="Text 34"/>
          <p:cNvSpPr/>
          <p:nvPr/>
        </p:nvSpPr>
        <p:spPr>
          <a:xfrm>
            <a:off x="822960" y="5852160"/>
            <a:ext cx="10543032" cy="548640"/>
          </a:xfrm>
          <a:prstGeom prst="rect">
            <a:avLst/>
          </a:prstGeom>
          <a:noFill/>
          <a:ln/>
        </p:spPr>
        <p:txBody>
          <a:bodyPr wrap="square" lIns="0" tIns="0" rIns="0" bIns="0" rtlCol="0" anchor="ctr"/>
          <a:lstStyle/>
          <a:p>
            <a:pPr algn="ctr" indent="0" marL="0">
              <a:buNone/>
            </a:pPr>
            <a:r>
              <a:rPr lang="en-US" sz="1350" i="1" dirty="0">
                <a:solidFill>
                  <a:srgbClr val="9A92A8"/>
                </a:solidFill>
                <a:latin typeface="Calibri" pitchFamily="34" charset="0"/>
                <a:ea typeface="Calibri" pitchFamily="34" charset="-122"/>
                <a:cs typeface="Calibri" pitchFamily="34" charset="-120"/>
              </a:rPr>
              <a:t>Workspace membership is a boundary you design. Shared lint policy rides in [workspace.lints].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CRATES OF WICKED WAYS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engine, and the content pipeline</a:t>
            </a:r>
            <a:endParaRPr lang="en-US" sz="3000" dirty="0"/>
          </a:p>
        </p:txBody>
      </p:sp>
      <p:sp>
        <p:nvSpPr>
          <p:cNvPr id="4" name="Shape 2"/>
          <p:cNvSpPr/>
          <p:nvPr/>
        </p:nvSpPr>
        <p:spPr>
          <a:xfrm>
            <a:off x="548640" y="1691640"/>
            <a:ext cx="11091672" cy="1051560"/>
          </a:xfrm>
          <a:prstGeom prst="roundRect">
            <a:avLst>
              <a:gd name="adj" fmla="val 6087"/>
            </a:avLst>
          </a:prstGeom>
          <a:solidFill>
            <a:srgbClr val="8E2F2F"/>
          </a:solidFill>
          <a:ln w="9525">
            <a:solidFill>
              <a:srgbClr val="C9A227"/>
            </a:solidFill>
            <a:prstDash val="solid"/>
          </a:ln>
        </p:spPr>
      </p:sp>
      <p:sp>
        <p:nvSpPr>
          <p:cNvPr id="5" name="Text 3"/>
          <p:cNvSpPr/>
          <p:nvPr/>
        </p:nvSpPr>
        <p:spPr>
          <a:xfrm>
            <a:off x="804672" y="1746504"/>
            <a:ext cx="3291840" cy="310896"/>
          </a:xfrm>
          <a:prstGeom prst="rect">
            <a:avLst/>
          </a:prstGeom>
          <a:noFill/>
          <a:ln/>
        </p:spPr>
        <p:txBody>
          <a:bodyPr wrap="square" lIns="0" tIns="0" rIns="0" bIns="0" rtlCol="0" anchor="ctr"/>
          <a:lstStyle/>
          <a:p>
            <a:pPr indent="0" marL="0">
              <a:buNone/>
            </a:pPr>
            <a:r>
              <a:rPr lang="en-US" sz="1250" b="1" dirty="0">
                <a:solidFill>
                  <a:srgbClr val="E9E2D0"/>
                </a:solidFill>
                <a:latin typeface="Courier New" pitchFamily="34" charset="0"/>
                <a:ea typeface="Courier New" pitchFamily="34" charset="-122"/>
                <a:cs typeface="Courier New" pitchFamily="34" charset="-120"/>
              </a:rPr>
              <a:t>wickedways-core</a:t>
            </a:r>
            <a:endParaRPr lang="en-US" sz="1250" dirty="0"/>
          </a:p>
        </p:txBody>
      </p:sp>
      <p:sp>
        <p:nvSpPr>
          <p:cNvPr id="6" name="Text 4"/>
          <p:cNvSpPr/>
          <p:nvPr/>
        </p:nvSpPr>
        <p:spPr>
          <a:xfrm>
            <a:off x="4114800" y="174650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~26,600 lines</a:t>
            </a:r>
            <a:endParaRPr lang="en-US" sz="1050" dirty="0"/>
          </a:p>
        </p:txBody>
      </p:sp>
      <p:sp>
        <p:nvSpPr>
          <p:cNvPr id="7" name="Text 5"/>
          <p:cNvSpPr/>
          <p:nvPr/>
        </p:nvSpPr>
        <p:spPr>
          <a:xfrm>
            <a:off x="804672" y="2039112"/>
            <a:ext cx="10579608" cy="630936"/>
          </a:xfrm>
          <a:prstGeom prst="rect">
            <a:avLst/>
          </a:prstGeom>
          <a:noFill/>
          <a:ln/>
        </p:spPr>
        <p:txBody>
          <a:bodyPr wrap="square" lIns="0" tIns="0" rIns="0" bIns="0" rtlCol="0" anchor="t"/>
          <a:lstStyle/>
          <a:p>
            <a:pPr indent="0" marL="0">
              <a:buNone/>
            </a:pPr>
            <a:r>
              <a:rPr lang="en-US" sz="1150" dirty="0">
                <a:solidFill>
                  <a:srgbClr val="E9E2D0"/>
                </a:solidFill>
                <a:latin typeface="Calibri" pitchFamily="34" charset="0"/>
                <a:ea typeface="Calibri" pitchFamily="34" charset="-122"/>
                <a:cs typeface="Calibri" pitchFamily="34" charset="-120"/>
              </a:rPr>
              <a:t>The engine: world state, turn loop, combat, mechanics, sync. The only crate that knows the rules — every other crate here is a consumer of it. Depends on serde and nothing else of consequence, and builds without an operating system underneath.</a:t>
            </a:r>
            <a:endParaRPr lang="en-US" sz="1150" dirty="0"/>
          </a:p>
        </p:txBody>
      </p:sp>
      <p:sp>
        <p:nvSpPr>
          <p:cNvPr id="8" name="Shape 6"/>
          <p:cNvSpPr/>
          <p:nvPr/>
        </p:nvSpPr>
        <p:spPr>
          <a:xfrm>
            <a:off x="548640" y="2880360"/>
            <a:ext cx="11091672" cy="1051560"/>
          </a:xfrm>
          <a:prstGeom prst="roundRect">
            <a:avLst>
              <a:gd name="adj" fmla="val 6087"/>
            </a:avLst>
          </a:prstGeom>
          <a:solidFill>
            <a:srgbClr val="221C31"/>
          </a:solidFill>
          <a:ln w="9525">
            <a:solidFill>
              <a:srgbClr val="3A3152"/>
            </a:solidFill>
            <a:prstDash val="solid"/>
          </a:ln>
        </p:spPr>
      </p:sp>
      <p:sp>
        <p:nvSpPr>
          <p:cNvPr id="9" name="Text 7"/>
          <p:cNvSpPr/>
          <p:nvPr/>
        </p:nvSpPr>
        <p:spPr>
          <a:xfrm>
            <a:off x="804672" y="2935224"/>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wickedways-author</a:t>
            </a:r>
            <a:endParaRPr lang="en-US" sz="1250" dirty="0"/>
          </a:p>
        </p:txBody>
      </p:sp>
      <p:sp>
        <p:nvSpPr>
          <p:cNvPr id="10" name="Text 8"/>
          <p:cNvSpPr/>
          <p:nvPr/>
        </p:nvSpPr>
        <p:spPr>
          <a:xfrm>
            <a:off x="4114800" y="293522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~4,300 lines</a:t>
            </a:r>
            <a:endParaRPr lang="en-US" sz="1050" dirty="0"/>
          </a:p>
        </p:txBody>
      </p:sp>
      <p:sp>
        <p:nvSpPr>
          <p:cNvPr id="11" name="Text 9"/>
          <p:cNvSpPr/>
          <p:nvPr/>
        </p:nvSpPr>
        <p:spPr>
          <a:xfrm>
            <a:off x="804672" y="3227832"/>
            <a:ext cx="10579608" cy="63093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Compiles a TOML campaign into the description + catalog pair. Its Cargo.toml carries a comment worth reading aloud: rand and uuid are DELIBERATELY absent — ids are derived from author-supplied names, never generated, and adding either crate "is a spec violation."</a:t>
            </a:r>
            <a:endParaRPr lang="en-US" sz="1150" dirty="0"/>
          </a:p>
        </p:txBody>
      </p:sp>
      <p:sp>
        <p:nvSpPr>
          <p:cNvPr id="12" name="Shape 10"/>
          <p:cNvSpPr/>
          <p:nvPr/>
        </p:nvSpPr>
        <p:spPr>
          <a:xfrm>
            <a:off x="548640" y="4069080"/>
            <a:ext cx="11091672" cy="1051560"/>
          </a:xfrm>
          <a:prstGeom prst="roundRect">
            <a:avLst>
              <a:gd name="adj" fmla="val 6087"/>
            </a:avLst>
          </a:prstGeom>
          <a:solidFill>
            <a:srgbClr val="221C31"/>
          </a:solidFill>
          <a:ln w="9525">
            <a:solidFill>
              <a:srgbClr val="3A3152"/>
            </a:solidFill>
            <a:prstDash val="solid"/>
          </a:ln>
        </p:spPr>
      </p:sp>
      <p:sp>
        <p:nvSpPr>
          <p:cNvPr id="13" name="Text 11"/>
          <p:cNvSpPr/>
          <p:nvPr/>
        </p:nvSpPr>
        <p:spPr>
          <a:xfrm>
            <a:off x="804672" y="4123944"/>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wickedways-assemble</a:t>
            </a:r>
            <a:endParaRPr lang="en-US" sz="1250" dirty="0"/>
          </a:p>
        </p:txBody>
      </p:sp>
      <p:sp>
        <p:nvSpPr>
          <p:cNvPr id="14" name="Text 12"/>
          <p:cNvSpPr/>
          <p:nvPr/>
        </p:nvSpPr>
        <p:spPr>
          <a:xfrm>
            <a:off x="4114800" y="412394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~1,800 lines</a:t>
            </a:r>
            <a:endParaRPr lang="en-US" sz="1050" dirty="0"/>
          </a:p>
        </p:txBody>
      </p:sp>
      <p:sp>
        <p:nvSpPr>
          <p:cNvPr id="15" name="Text 13"/>
          <p:cNvSpPr/>
          <p:nvPr/>
        </p:nvSpPr>
        <p:spPr>
          <a:xfrm>
            <a:off x="804672" y="4416552"/>
            <a:ext cx="10579608" cy="63093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Folds a seated party into those artifacts and emits the genesis snapshot — the world’s complete starting state. Same no-randomness rule as the compiler: the same inputs produce byte-identical output, every time.</a:t>
            </a:r>
            <a:endParaRPr lang="en-US" sz="1150" dirty="0"/>
          </a:p>
        </p:txBody>
      </p:sp>
      <p:sp>
        <p:nvSpPr>
          <p:cNvPr id="16" name="Text 14"/>
          <p:cNvSpPr/>
          <p:nvPr/>
        </p:nvSpPr>
        <p:spPr>
          <a:xfrm>
            <a:off x="822960" y="5669280"/>
            <a:ext cx="10543032" cy="548640"/>
          </a:xfrm>
          <a:prstGeom prst="rect">
            <a:avLst/>
          </a:prstGeom>
          <a:noFill/>
          <a:ln/>
        </p:spPr>
        <p:txBody>
          <a:bodyPr wrap="square" lIns="0" tIns="0" rIns="0" bIns="0" rtlCol="0" anchor="ctr"/>
          <a:lstStyle/>
          <a:p>
            <a:pPr algn="ctr" indent="0" marL="0">
              <a:buNone/>
            </a:pPr>
            <a:r>
              <a:rPr lang="en-US" sz="1350" i="1" dirty="0">
                <a:solidFill>
                  <a:srgbClr val="C9A227"/>
                </a:solidFill>
                <a:latin typeface="Calibri" pitchFamily="34" charset="0"/>
                <a:ea typeface="Calibri" pitchFamily="34" charset="-122"/>
                <a:cs typeface="Calibri" pitchFamily="34" charset="-120"/>
              </a:rPr>
              <a:t>campaign.toml  →  description + catalog  →  genesis snapshot  →  the engine takes it from there.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CRATES OF WICKED WAYS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Multiplayer, and the embedding seam</a:t>
            </a:r>
            <a:endParaRPr lang="en-US" sz="3000" dirty="0"/>
          </a:p>
        </p:txBody>
      </p:sp>
      <p:sp>
        <p:nvSpPr>
          <p:cNvPr id="4" name="Shape 2"/>
          <p:cNvSpPr/>
          <p:nvPr/>
        </p:nvSpPr>
        <p:spPr>
          <a:xfrm>
            <a:off x="548640" y="1691640"/>
            <a:ext cx="11091672" cy="1051560"/>
          </a:xfrm>
          <a:prstGeom prst="roundRect">
            <a:avLst>
              <a:gd name="adj" fmla="val 6087"/>
            </a:avLst>
          </a:prstGeom>
          <a:solidFill>
            <a:srgbClr val="221C31"/>
          </a:solidFill>
          <a:ln w="9525">
            <a:solidFill>
              <a:srgbClr val="C9A227"/>
            </a:solidFill>
            <a:prstDash val="solid"/>
          </a:ln>
        </p:spPr>
      </p:sp>
      <p:sp>
        <p:nvSpPr>
          <p:cNvPr id="5" name="Text 3"/>
          <p:cNvSpPr/>
          <p:nvPr/>
        </p:nvSpPr>
        <p:spPr>
          <a:xfrm>
            <a:off x="804672" y="1746504"/>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wickedways-transport</a:t>
            </a:r>
            <a:endParaRPr lang="en-US" sz="1250" dirty="0"/>
          </a:p>
        </p:txBody>
      </p:sp>
      <p:sp>
        <p:nvSpPr>
          <p:cNvPr id="6" name="Text 4"/>
          <p:cNvSpPr/>
          <p:nvPr/>
        </p:nvSpPr>
        <p:spPr>
          <a:xfrm>
            <a:off x="4114800" y="174650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245 lines</a:t>
            </a:r>
            <a:endParaRPr lang="en-US" sz="1050" dirty="0"/>
          </a:p>
        </p:txBody>
      </p:sp>
      <p:sp>
        <p:nvSpPr>
          <p:cNvPr id="7" name="Text 5"/>
          <p:cNvSpPr/>
          <p:nvPr/>
        </p:nvSpPr>
        <p:spPr>
          <a:xfrm>
            <a:off x="804672" y="2039112"/>
            <a:ext cx="10579608" cy="63093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multiplayer wire protocol — and the smallest crate in the repo. It depends on serde ONLY: not even on the engine. The protocol is a data contract, and the crate boundary is what proves it.</a:t>
            </a:r>
            <a:endParaRPr lang="en-US" sz="1150" dirty="0"/>
          </a:p>
        </p:txBody>
      </p:sp>
      <p:sp>
        <p:nvSpPr>
          <p:cNvPr id="8" name="Shape 6"/>
          <p:cNvSpPr/>
          <p:nvPr/>
        </p:nvSpPr>
        <p:spPr>
          <a:xfrm>
            <a:off x="548640" y="2880360"/>
            <a:ext cx="11091672" cy="1051560"/>
          </a:xfrm>
          <a:prstGeom prst="roundRect">
            <a:avLst>
              <a:gd name="adj" fmla="val 6087"/>
            </a:avLst>
          </a:prstGeom>
          <a:solidFill>
            <a:srgbClr val="221C31"/>
          </a:solidFill>
          <a:ln w="9525">
            <a:solidFill>
              <a:srgbClr val="3A3152"/>
            </a:solidFill>
            <a:prstDash val="solid"/>
          </a:ln>
        </p:spPr>
      </p:sp>
      <p:sp>
        <p:nvSpPr>
          <p:cNvPr id="9" name="Text 7"/>
          <p:cNvSpPr/>
          <p:nvPr/>
        </p:nvSpPr>
        <p:spPr>
          <a:xfrm>
            <a:off x="804672" y="2935224"/>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wickedways-server</a:t>
            </a:r>
            <a:endParaRPr lang="en-US" sz="1250" dirty="0"/>
          </a:p>
        </p:txBody>
      </p:sp>
      <p:sp>
        <p:nvSpPr>
          <p:cNvPr id="10" name="Text 8"/>
          <p:cNvSpPr/>
          <p:nvPr/>
        </p:nvSpPr>
        <p:spPr>
          <a:xfrm>
            <a:off x="4114800" y="293522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~1,900 lines</a:t>
            </a:r>
            <a:endParaRPr lang="en-US" sz="1050" dirty="0"/>
          </a:p>
        </p:txBody>
      </p:sp>
      <p:sp>
        <p:nvSpPr>
          <p:cNvPr id="11" name="Text 9"/>
          <p:cNvSpPr/>
          <p:nvPr/>
        </p:nvSpPr>
        <p:spPr>
          <a:xfrm>
            <a:off x="804672" y="3227832"/>
            <a:ext cx="10579608" cy="63093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room server: axum for the WebSocket, tokio for one task per campaign, rusqlite for persistence — with SQLite compiled in-tree, so there is no system library to install. It also serves the built web client, so one binary is the whole deployment.</a:t>
            </a:r>
            <a:endParaRPr lang="en-US" sz="1150" dirty="0"/>
          </a:p>
        </p:txBody>
      </p:sp>
      <p:sp>
        <p:nvSpPr>
          <p:cNvPr id="12" name="Shape 10"/>
          <p:cNvSpPr/>
          <p:nvPr/>
        </p:nvSpPr>
        <p:spPr>
          <a:xfrm>
            <a:off x="548640" y="4069080"/>
            <a:ext cx="11091672" cy="1051560"/>
          </a:xfrm>
          <a:prstGeom prst="roundRect">
            <a:avLst>
              <a:gd name="adj" fmla="val 6087"/>
            </a:avLst>
          </a:prstGeom>
          <a:solidFill>
            <a:srgbClr val="221C31"/>
          </a:solidFill>
          <a:ln w="9525">
            <a:solidFill>
              <a:srgbClr val="3A3152"/>
            </a:solidFill>
            <a:prstDash val="solid"/>
          </a:ln>
        </p:spPr>
      </p:sp>
      <p:sp>
        <p:nvSpPr>
          <p:cNvPr id="13" name="Text 11"/>
          <p:cNvSpPr/>
          <p:nvPr/>
        </p:nvSpPr>
        <p:spPr>
          <a:xfrm>
            <a:off x="804672" y="4123944"/>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wickedways-wasm</a:t>
            </a:r>
            <a:endParaRPr lang="en-US" sz="1250" dirty="0"/>
          </a:p>
        </p:txBody>
      </p:sp>
      <p:sp>
        <p:nvSpPr>
          <p:cNvPr id="14" name="Text 12"/>
          <p:cNvSpPr/>
          <p:nvPr/>
        </p:nvSpPr>
        <p:spPr>
          <a:xfrm>
            <a:off x="4114800" y="4123944"/>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260 lines</a:t>
            </a:r>
            <a:endParaRPr lang="en-US" sz="1050" dirty="0"/>
          </a:p>
        </p:txBody>
      </p:sp>
      <p:sp>
        <p:nvSpPr>
          <p:cNvPr id="15" name="Text 13"/>
          <p:cNvSpPr/>
          <p:nvPr/>
        </p:nvSpPr>
        <p:spPr>
          <a:xfrm>
            <a:off x="804672" y="4416552"/>
            <a:ext cx="10579608" cy="63093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JavaScript embedding seam: one stateful handle, nothing but JSON strings across the boundary. No external host ever holds a live engine object — 260 lines is the entire public surface any JS application needs.</a:t>
            </a:r>
            <a:endParaRPr lang="en-US" sz="1150" dirty="0"/>
          </a:p>
        </p:txBody>
      </p:sp>
      <p:sp>
        <p:nvSpPr>
          <p:cNvPr id="16" name="Text 14"/>
          <p:cNvSpPr/>
          <p:nvPr/>
        </p:nvSpPr>
        <p:spPr>
          <a:xfrm>
            <a:off x="822960" y="5669280"/>
            <a:ext cx="10543032" cy="548640"/>
          </a:xfrm>
          <a:prstGeom prst="rect">
            <a:avLst/>
          </a:prstGeom>
          <a:noFill/>
          <a:ln/>
        </p:spPr>
        <p:txBody>
          <a:bodyPr wrap="square" lIns="0" tIns="0" rIns="0" bIns="0" rtlCol="0" anchor="ctr"/>
          <a:lstStyle/>
          <a:p>
            <a:pPr algn="ctr" indent="0" marL="0">
              <a:buNone/>
            </a:pPr>
            <a:r>
              <a:rPr lang="en-US" sz="1350" i="1" dirty="0">
                <a:solidFill>
                  <a:srgbClr val="E9E2D0"/>
                </a:solidFill>
                <a:latin typeface="Calibri" pitchFamily="34" charset="0"/>
                <a:ea typeface="Calibri" pitchFamily="34" charset="-122"/>
                <a:cs typeface="Calibri" pitchFamily="34" charset="-120"/>
              </a:rPr>
              <a:t>Two of the three smallest crates in the repo are its two most important boundaries. That is not a coincidence.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CRATES OF WICKED WAYS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surfaces — where the lines actually are</a:t>
            </a:r>
            <a:endParaRPr lang="en-US" sz="3000" dirty="0"/>
          </a:p>
        </p:txBody>
      </p:sp>
      <p:sp>
        <p:nvSpPr>
          <p:cNvPr id="4" name="Shape 2"/>
          <p:cNvSpPr/>
          <p:nvPr/>
        </p:nvSpPr>
        <p:spPr>
          <a:xfrm>
            <a:off x="548640" y="1481328"/>
            <a:ext cx="5413248" cy="1371600"/>
          </a:xfrm>
          <a:prstGeom prst="roundRect">
            <a:avLst>
              <a:gd name="adj" fmla="val 4667"/>
            </a:avLst>
          </a:prstGeom>
          <a:solidFill>
            <a:srgbClr val="221C31"/>
          </a:solidFill>
          <a:ln w="9525">
            <a:solidFill>
              <a:srgbClr val="3A3152"/>
            </a:solidFill>
            <a:prstDash val="solid"/>
          </a:ln>
        </p:spPr>
      </p:sp>
      <p:sp>
        <p:nvSpPr>
          <p:cNvPr id="5" name="Text 3"/>
          <p:cNvSpPr/>
          <p:nvPr/>
        </p:nvSpPr>
        <p:spPr>
          <a:xfrm>
            <a:off x="804672" y="1536192"/>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wickedways-web</a:t>
            </a:r>
            <a:endParaRPr lang="en-US" sz="1250" dirty="0"/>
          </a:p>
        </p:txBody>
      </p:sp>
      <p:sp>
        <p:nvSpPr>
          <p:cNvPr id="6" name="Text 4"/>
          <p:cNvSpPr/>
          <p:nvPr/>
        </p:nvSpPr>
        <p:spPr>
          <a:xfrm>
            <a:off x="4114800" y="1536192"/>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~10,800 lines</a:t>
            </a:r>
            <a:endParaRPr lang="en-US" sz="1050" dirty="0"/>
          </a:p>
        </p:txBody>
      </p:sp>
      <p:sp>
        <p:nvSpPr>
          <p:cNvPr id="7" name="Text 5"/>
          <p:cNvSpPr/>
          <p:nvPr/>
        </p:nvSpPr>
        <p:spPr>
          <a:xfrm>
            <a:off x="804672" y="1828800"/>
            <a:ext cx="4901184" cy="95097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shipped Dioxus client. Every line is presentation; its browser-API list reads like a tour of the platform — WebSocket, Web Audio, fullscreen, local storage.</a:t>
            </a:r>
            <a:endParaRPr lang="en-US" sz="1150" dirty="0"/>
          </a:p>
        </p:txBody>
      </p:sp>
      <p:sp>
        <p:nvSpPr>
          <p:cNvPr id="8" name="Shape 6"/>
          <p:cNvSpPr/>
          <p:nvPr/>
        </p:nvSpPr>
        <p:spPr>
          <a:xfrm>
            <a:off x="6227064" y="1481328"/>
            <a:ext cx="5413248" cy="1371600"/>
          </a:xfrm>
          <a:prstGeom prst="roundRect">
            <a:avLst>
              <a:gd name="adj" fmla="val 4667"/>
            </a:avLst>
          </a:prstGeom>
          <a:solidFill>
            <a:srgbClr val="221C31"/>
          </a:solidFill>
          <a:ln w="9525">
            <a:solidFill>
              <a:srgbClr val="3A3152"/>
            </a:solidFill>
            <a:prstDash val="solid"/>
          </a:ln>
        </p:spPr>
      </p:sp>
      <p:sp>
        <p:nvSpPr>
          <p:cNvPr id="9" name="Text 7"/>
          <p:cNvSpPr/>
          <p:nvPr/>
        </p:nvSpPr>
        <p:spPr>
          <a:xfrm>
            <a:off x="6483096" y="1536192"/>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wickedways-studio</a:t>
            </a:r>
            <a:endParaRPr lang="en-US" sz="1250" dirty="0"/>
          </a:p>
        </p:txBody>
      </p:sp>
      <p:sp>
        <p:nvSpPr>
          <p:cNvPr id="10" name="Text 8"/>
          <p:cNvSpPr/>
          <p:nvPr/>
        </p:nvSpPr>
        <p:spPr>
          <a:xfrm>
            <a:off x="9793224" y="1536192"/>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~7,400 lines</a:t>
            </a:r>
            <a:endParaRPr lang="en-US" sz="1050" dirty="0"/>
          </a:p>
        </p:txBody>
      </p:sp>
      <p:sp>
        <p:nvSpPr>
          <p:cNvPr id="11" name="Text 9"/>
          <p:cNvSpPr/>
          <p:nvPr/>
        </p:nvSpPr>
        <p:spPr>
          <a:xfrm>
            <a:off x="6483096" y="1828800"/>
            <a:ext cx="4901184" cy="95097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Campaign Studio, the graphical editor: another Dioxus app in the same workspace, reusing the author and assembler crates DIRECTLY for its "Check campaign" gate.</a:t>
            </a:r>
            <a:endParaRPr lang="en-US" sz="1150" dirty="0"/>
          </a:p>
        </p:txBody>
      </p:sp>
      <p:sp>
        <p:nvSpPr>
          <p:cNvPr id="12" name="Shape 10"/>
          <p:cNvSpPr/>
          <p:nvPr/>
        </p:nvSpPr>
        <p:spPr>
          <a:xfrm>
            <a:off x="548640" y="2999232"/>
            <a:ext cx="5413248" cy="1371600"/>
          </a:xfrm>
          <a:prstGeom prst="roundRect">
            <a:avLst>
              <a:gd name="adj" fmla="val 4667"/>
            </a:avLst>
          </a:prstGeom>
          <a:solidFill>
            <a:srgbClr val="221C31"/>
          </a:solidFill>
          <a:ln w="9525">
            <a:solidFill>
              <a:srgbClr val="3A3152"/>
            </a:solidFill>
            <a:prstDash val="solid"/>
          </a:ln>
        </p:spPr>
      </p:sp>
      <p:sp>
        <p:nvSpPr>
          <p:cNvPr id="13" name="Text 11"/>
          <p:cNvSpPr/>
          <p:nvPr/>
        </p:nvSpPr>
        <p:spPr>
          <a:xfrm>
            <a:off x="804672" y="3054096"/>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wickedways-tabletop</a:t>
            </a:r>
            <a:endParaRPr lang="en-US" sz="1250" dirty="0"/>
          </a:p>
        </p:txBody>
      </p:sp>
      <p:sp>
        <p:nvSpPr>
          <p:cNvPr id="14" name="Text 12"/>
          <p:cNvSpPr/>
          <p:nvPr/>
        </p:nvSpPr>
        <p:spPr>
          <a:xfrm>
            <a:off x="4114800" y="3054096"/>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~1,600 lines</a:t>
            </a:r>
            <a:endParaRPr lang="en-US" sz="1050" dirty="0"/>
          </a:p>
        </p:txBody>
      </p:sp>
      <p:sp>
        <p:nvSpPr>
          <p:cNvPr id="15" name="Text 13"/>
          <p:cNvSpPr/>
          <p:nvPr/>
        </p:nvSpPr>
        <p:spPr>
          <a:xfrm>
            <a:off x="804672" y="3346704"/>
            <a:ext cx="4901184" cy="95097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physical-board bridge. Depends on the core and serde and nothing else — which is exactly why it compiles native for the hardware AND to wasm for the on-screen simulator.</a:t>
            </a:r>
            <a:endParaRPr lang="en-US" sz="1150" dirty="0"/>
          </a:p>
        </p:txBody>
      </p:sp>
      <p:sp>
        <p:nvSpPr>
          <p:cNvPr id="16" name="Shape 14"/>
          <p:cNvSpPr/>
          <p:nvPr/>
        </p:nvSpPr>
        <p:spPr>
          <a:xfrm>
            <a:off x="6227064" y="2999232"/>
            <a:ext cx="5413248" cy="1371600"/>
          </a:xfrm>
          <a:prstGeom prst="roundRect">
            <a:avLst>
              <a:gd name="adj" fmla="val 4667"/>
            </a:avLst>
          </a:prstGeom>
          <a:solidFill>
            <a:srgbClr val="221C31"/>
          </a:solidFill>
          <a:ln w="9525">
            <a:solidFill>
              <a:srgbClr val="3A3152"/>
            </a:solidFill>
            <a:prstDash val="solid"/>
          </a:ln>
        </p:spPr>
      </p:sp>
      <p:sp>
        <p:nvSpPr>
          <p:cNvPr id="17" name="Text 15"/>
          <p:cNvSpPr/>
          <p:nvPr/>
        </p:nvSpPr>
        <p:spPr>
          <a:xfrm>
            <a:off x="6483096" y="3054096"/>
            <a:ext cx="3291840" cy="310896"/>
          </a:xfrm>
          <a:prstGeom prst="rect">
            <a:avLst/>
          </a:prstGeom>
          <a:noFill/>
          <a:ln/>
        </p:spPr>
        <p:txBody>
          <a:bodyPr wrap="square" lIns="0" tIns="0" rIns="0" bIns="0" rtlCol="0" anchor="ctr"/>
          <a:lstStyle/>
          <a:p>
            <a:pPr indent="0" marL="0">
              <a:buNone/>
            </a:pPr>
            <a:r>
              <a:rPr lang="en-US" sz="1250" b="1" dirty="0">
                <a:solidFill>
                  <a:srgbClr val="C9A227"/>
                </a:solidFill>
                <a:latin typeface="Courier New" pitchFamily="34" charset="0"/>
                <a:ea typeface="Courier New" pitchFamily="34" charset="-122"/>
                <a:cs typeface="Courier New" pitchFamily="34" charset="-120"/>
              </a:rPr>
              <a:t>wickedways-controller</a:t>
            </a:r>
            <a:endParaRPr lang="en-US" sz="1250" dirty="0"/>
          </a:p>
        </p:txBody>
      </p:sp>
      <p:sp>
        <p:nvSpPr>
          <p:cNvPr id="18" name="Text 16"/>
          <p:cNvSpPr/>
          <p:nvPr/>
        </p:nvSpPr>
        <p:spPr>
          <a:xfrm>
            <a:off x="9793224" y="3054096"/>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423 lines</a:t>
            </a:r>
            <a:endParaRPr lang="en-US" sz="1050" dirty="0"/>
          </a:p>
        </p:txBody>
      </p:sp>
      <p:sp>
        <p:nvSpPr>
          <p:cNvPr id="19" name="Text 17"/>
          <p:cNvSpPr/>
          <p:nvPr/>
        </p:nvSpPr>
        <p:spPr>
          <a:xfrm>
            <a:off x="6483096" y="3346704"/>
            <a:ext cx="4901184" cy="950976"/>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host binary that speaks to real hardware over a serial cable. Its --dry-run exercises the whole engine → bridge → codec path with no board attached.</a:t>
            </a:r>
            <a:endParaRPr lang="en-US" sz="1150" dirty="0"/>
          </a:p>
        </p:txBody>
      </p:sp>
      <p:sp>
        <p:nvSpPr>
          <p:cNvPr id="20" name="Shape 18"/>
          <p:cNvSpPr/>
          <p:nvPr/>
        </p:nvSpPr>
        <p:spPr>
          <a:xfrm>
            <a:off x="548640" y="4517136"/>
            <a:ext cx="11091672" cy="1024128"/>
          </a:xfrm>
          <a:prstGeom prst="roundRect">
            <a:avLst>
              <a:gd name="adj" fmla="val 6250"/>
            </a:avLst>
          </a:prstGeom>
          <a:solidFill>
            <a:srgbClr val="2B2342"/>
          </a:solidFill>
          <a:ln w="9525">
            <a:solidFill>
              <a:srgbClr val="D06060"/>
            </a:solidFill>
            <a:prstDash val="solid"/>
          </a:ln>
        </p:spPr>
      </p:sp>
      <p:sp>
        <p:nvSpPr>
          <p:cNvPr id="21" name="Text 19"/>
          <p:cNvSpPr/>
          <p:nvPr/>
        </p:nvSpPr>
        <p:spPr>
          <a:xfrm>
            <a:off x="804672" y="4572000"/>
            <a:ext cx="3291840" cy="310896"/>
          </a:xfrm>
          <a:prstGeom prst="rect">
            <a:avLst/>
          </a:prstGeom>
          <a:noFill/>
          <a:ln/>
        </p:spPr>
        <p:txBody>
          <a:bodyPr wrap="square" lIns="0" tIns="0" rIns="0" bIns="0" rtlCol="0" anchor="ctr"/>
          <a:lstStyle/>
          <a:p>
            <a:pPr indent="0" marL="0">
              <a:buNone/>
            </a:pPr>
            <a:r>
              <a:rPr lang="en-US" sz="1250" b="1" dirty="0">
                <a:solidFill>
                  <a:srgbClr val="D06060"/>
                </a:solidFill>
                <a:latin typeface="Courier New" pitchFamily="34" charset="0"/>
                <a:ea typeface="Courier New" pitchFamily="34" charset="-122"/>
                <a:cs typeface="Courier New" pitchFamily="34" charset="-120"/>
              </a:rPr>
              <a:t>desktop</a:t>
            </a:r>
            <a:endParaRPr lang="en-US" sz="1250" dirty="0"/>
          </a:p>
        </p:txBody>
      </p:sp>
      <p:sp>
        <p:nvSpPr>
          <p:cNvPr id="22" name="Text 20"/>
          <p:cNvSpPr/>
          <p:nvPr/>
        </p:nvSpPr>
        <p:spPr>
          <a:xfrm>
            <a:off x="4114800" y="4572000"/>
            <a:ext cx="1371600" cy="310896"/>
          </a:xfrm>
          <a:prstGeom prst="rect">
            <a:avLst/>
          </a:prstGeom>
          <a:noFill/>
          <a:ln/>
        </p:spPr>
        <p:txBody>
          <a:bodyPr wrap="square" lIns="0" tIns="0" rIns="0" bIns="0" rtlCol="0" anchor="ctr"/>
          <a:lstStyle/>
          <a:p>
            <a:pPr indent="0" marL="0">
              <a:buNone/>
            </a:pPr>
            <a:r>
              <a:rPr lang="en-US" sz="1050" i="1" dirty="0">
                <a:solidFill>
                  <a:srgbClr val="9A92A8"/>
                </a:solidFill>
                <a:latin typeface="Calibri" pitchFamily="34" charset="0"/>
                <a:ea typeface="Calibri" pitchFamily="34" charset="-122"/>
                <a:cs typeface="Calibri" pitchFamily="34" charset="-120"/>
              </a:rPr>
              <a:t>162 lines · excluded</a:t>
            </a:r>
            <a:endParaRPr lang="en-US" sz="1050" dirty="0"/>
          </a:p>
        </p:txBody>
      </p:sp>
      <p:sp>
        <p:nvSpPr>
          <p:cNvPr id="23" name="Text 21"/>
          <p:cNvSpPr/>
          <p:nvPr/>
        </p:nvSpPr>
        <p:spPr>
          <a:xfrm>
            <a:off x="804672" y="4864608"/>
            <a:ext cx="10579608" cy="603504"/>
          </a:xfrm>
          <a:prstGeom prst="rect">
            <a:avLst/>
          </a:prstGeom>
          <a:noFill/>
          <a:ln/>
        </p:spPr>
        <p:txBody>
          <a:bodyPr wrap="square" lIns="0" tIns="0" rIns="0" bIns="0" rtlCol="0" anchor="t"/>
          <a:lstStyle/>
          <a:p>
            <a:pPr indent="0" marL="0">
              <a:buNone/>
            </a:pPr>
            <a:r>
              <a:rPr lang="en-US" sz="1150" dirty="0">
                <a:solidFill>
                  <a:srgbClr val="9A92A8"/>
                </a:solidFill>
                <a:latin typeface="Calibri" pitchFamily="34" charset="0"/>
                <a:ea typeface="Calibri" pitchFamily="34" charset="-122"/>
                <a:cs typeface="Calibri" pitchFamily="34" charset="-120"/>
              </a:rPr>
              <a:t>The native shell from the last slide, and the punchline for the group: the exclusion is not protecting something big. It is protecting everyone else from 162 lines’ worth of system GUI dependencies.</a:t>
            </a:r>
            <a:endParaRPr lang="en-US" sz="1150" dirty="0"/>
          </a:p>
        </p:txBody>
      </p:sp>
      <p:sp>
        <p:nvSpPr>
          <p:cNvPr id="24" name="Text 22"/>
          <p:cNvSpPr/>
          <p:nvPr/>
        </p:nvSpPr>
        <p:spPr>
          <a:xfrm>
            <a:off x="822960" y="571500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Eighteen thousand of the repo’s lines are surfaces. None of them contain a rule.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CRATES OF WICKED WAYS</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How they connect</a:t>
            </a:r>
            <a:endParaRPr lang="en-US" sz="3000" dirty="0"/>
          </a:p>
        </p:txBody>
      </p:sp>
      <p:sp>
        <p:nvSpPr>
          <p:cNvPr id="4" name="Text 2"/>
          <p:cNvSpPr/>
          <p:nvPr/>
        </p:nvSpPr>
        <p:spPr>
          <a:xfrm>
            <a:off x="548640" y="1170432"/>
            <a:ext cx="11091672" cy="274320"/>
          </a:xfrm>
          <a:prstGeom prst="rect">
            <a:avLst/>
          </a:prstGeom>
          <a:noFill/>
          <a:ln/>
        </p:spPr>
        <p:txBody>
          <a:bodyPr wrap="square" lIns="0" tIns="0" rIns="0" bIns="0" rtlCol="0" anchor="ctr"/>
          <a:lstStyle/>
          <a:p>
            <a:pPr algn="ctr" indent="0" marL="0">
              <a:buNone/>
            </a:pPr>
            <a:r>
              <a:rPr lang="en-US" sz="1150" i="1" dirty="0">
                <a:solidFill>
                  <a:srgbClr val="9A92A8"/>
                </a:solidFill>
                <a:latin typeface="Calibri" pitchFamily="34" charset="0"/>
                <a:ea typeface="Calibri" pitchFamily="34" charset="-122"/>
                <a:cs typeface="Calibri" pitchFamily="34" charset="-120"/>
              </a:rPr>
              <a:t>Arrows point to what a crate depends on.</a:t>
            </a:r>
            <a:endParaRPr lang="en-US" sz="1150" dirty="0"/>
          </a:p>
        </p:txBody>
      </p:sp>
      <p:sp>
        <p:nvSpPr>
          <p:cNvPr id="5" name="Shape 3"/>
          <p:cNvSpPr/>
          <p:nvPr/>
        </p:nvSpPr>
        <p:spPr>
          <a:xfrm>
            <a:off x="548640" y="1444752"/>
            <a:ext cx="2651760" cy="658368"/>
          </a:xfrm>
          <a:prstGeom prst="roundRect">
            <a:avLst>
              <a:gd name="adj" fmla="val 9722"/>
            </a:avLst>
          </a:prstGeom>
          <a:solidFill>
            <a:srgbClr val="2B2342"/>
          </a:solidFill>
          <a:ln w="9525">
            <a:solidFill>
              <a:srgbClr val="3A3152"/>
            </a:solidFill>
            <a:prstDash val="solid"/>
          </a:ln>
        </p:spPr>
      </p:sp>
      <p:sp>
        <p:nvSpPr>
          <p:cNvPr id="6" name="Text 4"/>
          <p:cNvSpPr/>
          <p:nvPr/>
        </p:nvSpPr>
        <p:spPr>
          <a:xfrm>
            <a:off x="548640" y="1481328"/>
            <a:ext cx="26517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wickedways-author</a:t>
            </a:r>
            <a:endParaRPr lang="en-US" sz="1150" dirty="0"/>
          </a:p>
        </p:txBody>
      </p:sp>
      <p:sp>
        <p:nvSpPr>
          <p:cNvPr id="7" name="Text 5"/>
          <p:cNvSpPr/>
          <p:nvPr/>
        </p:nvSpPr>
        <p:spPr>
          <a:xfrm>
            <a:off x="594360" y="1773936"/>
            <a:ext cx="256032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TOML → artifacts</a:t>
            </a:r>
            <a:endParaRPr lang="en-US" sz="950" dirty="0"/>
          </a:p>
        </p:txBody>
      </p:sp>
      <p:sp>
        <p:nvSpPr>
          <p:cNvPr id="8" name="Shape 6"/>
          <p:cNvSpPr/>
          <p:nvPr/>
        </p:nvSpPr>
        <p:spPr>
          <a:xfrm>
            <a:off x="3429000" y="1444752"/>
            <a:ext cx="2651760" cy="658368"/>
          </a:xfrm>
          <a:prstGeom prst="roundRect">
            <a:avLst>
              <a:gd name="adj" fmla="val 9722"/>
            </a:avLst>
          </a:prstGeom>
          <a:solidFill>
            <a:srgbClr val="2B2342"/>
          </a:solidFill>
          <a:ln w="9525">
            <a:solidFill>
              <a:srgbClr val="3A3152"/>
            </a:solidFill>
            <a:prstDash val="solid"/>
          </a:ln>
        </p:spPr>
      </p:sp>
      <p:sp>
        <p:nvSpPr>
          <p:cNvPr id="9" name="Text 7"/>
          <p:cNvSpPr/>
          <p:nvPr/>
        </p:nvSpPr>
        <p:spPr>
          <a:xfrm>
            <a:off x="3429000" y="1481328"/>
            <a:ext cx="26517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wickedways-assemble</a:t>
            </a:r>
            <a:endParaRPr lang="en-US" sz="1150" dirty="0"/>
          </a:p>
        </p:txBody>
      </p:sp>
      <p:sp>
        <p:nvSpPr>
          <p:cNvPr id="10" name="Text 8"/>
          <p:cNvSpPr/>
          <p:nvPr/>
        </p:nvSpPr>
        <p:spPr>
          <a:xfrm>
            <a:off x="3474720" y="1773936"/>
            <a:ext cx="256032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artifacts → genesis</a:t>
            </a:r>
            <a:endParaRPr lang="en-US" sz="950" dirty="0"/>
          </a:p>
        </p:txBody>
      </p:sp>
      <p:sp>
        <p:nvSpPr>
          <p:cNvPr id="11" name="Shape 9"/>
          <p:cNvSpPr/>
          <p:nvPr/>
        </p:nvSpPr>
        <p:spPr>
          <a:xfrm>
            <a:off x="6400800" y="1444752"/>
            <a:ext cx="5239512" cy="658368"/>
          </a:xfrm>
          <a:prstGeom prst="roundRect">
            <a:avLst>
              <a:gd name="adj" fmla="val 9722"/>
            </a:avLst>
          </a:prstGeom>
          <a:solidFill>
            <a:srgbClr val="221C31"/>
          </a:solidFill>
          <a:ln w="9525">
            <a:solidFill>
              <a:srgbClr val="3A3152"/>
            </a:solidFill>
            <a:prstDash val="solid"/>
          </a:ln>
        </p:spPr>
      </p:sp>
      <p:sp>
        <p:nvSpPr>
          <p:cNvPr id="12" name="Text 10"/>
          <p:cNvSpPr/>
          <p:nvPr/>
        </p:nvSpPr>
        <p:spPr>
          <a:xfrm>
            <a:off x="6400800" y="1444752"/>
            <a:ext cx="5239512" cy="658368"/>
          </a:xfrm>
          <a:prstGeom prst="rect">
            <a:avLst/>
          </a:prstGeom>
          <a:noFill/>
          <a:ln/>
        </p:spPr>
        <p:txBody>
          <a:bodyPr wrap="square" lIns="0" tIns="0" rIns="0" bIns="0" rtlCol="0" anchor="ctr"/>
          <a:lstStyle/>
          <a:p>
            <a:pPr algn="ctr" indent="0" marL="0">
              <a:buNone/>
            </a:pPr>
            <a:r>
              <a:rPr lang="en-US" sz="1050" dirty="0">
                <a:solidFill>
                  <a:srgbClr val="C9A227"/>
                </a:solidFill>
                <a:latin typeface="Courier New" pitchFamily="34" charset="0"/>
                <a:ea typeface="Courier New" pitchFamily="34" charset="-122"/>
                <a:cs typeface="Courier New" pitchFamily="34" charset="-120"/>
              </a:rPr>
              <a:t>campaign.toml  →  description + catalog  →  genesis</a:t>
            </a:r>
            <a:endParaRPr lang="en-US" sz="1050" dirty="0"/>
          </a:p>
        </p:txBody>
      </p:sp>
      <p:sp>
        <p:nvSpPr>
          <p:cNvPr id="13" name="Shape 11"/>
          <p:cNvSpPr/>
          <p:nvPr/>
        </p:nvSpPr>
        <p:spPr>
          <a:xfrm>
            <a:off x="548640" y="2606040"/>
            <a:ext cx="11091672" cy="777240"/>
          </a:xfrm>
          <a:prstGeom prst="roundRect">
            <a:avLst>
              <a:gd name="adj" fmla="val 8235"/>
            </a:avLst>
          </a:prstGeom>
          <a:solidFill>
            <a:srgbClr val="8E2F2F"/>
          </a:solidFill>
          <a:ln w="9525">
            <a:solidFill>
              <a:srgbClr val="C9A227"/>
            </a:solidFill>
            <a:prstDash val="solid"/>
          </a:ln>
        </p:spPr>
      </p:sp>
      <p:sp>
        <p:nvSpPr>
          <p:cNvPr id="14" name="Text 12"/>
          <p:cNvSpPr/>
          <p:nvPr/>
        </p:nvSpPr>
        <p:spPr>
          <a:xfrm>
            <a:off x="548640" y="2642616"/>
            <a:ext cx="11091672" cy="427482"/>
          </a:xfrm>
          <a:prstGeom prst="rect">
            <a:avLst/>
          </a:prstGeom>
          <a:noFill/>
          <a:ln/>
        </p:spPr>
        <p:txBody>
          <a:bodyPr wrap="square" lIns="0" tIns="0" rIns="0" bIns="0" rtlCol="0" anchor="ctr"/>
          <a:lstStyle/>
          <a:p>
            <a:pPr algn="ctr" indent="0" marL="0">
              <a:buNone/>
            </a:pPr>
            <a:r>
              <a:rPr lang="en-US" sz="1400" b="1" dirty="0">
                <a:solidFill>
                  <a:srgbClr val="E9E2D0"/>
                </a:solidFill>
                <a:latin typeface="Courier New" pitchFamily="34" charset="0"/>
                <a:ea typeface="Courier New" pitchFamily="34" charset="-122"/>
                <a:cs typeface="Courier New" pitchFamily="34" charset="-120"/>
              </a:rPr>
              <a:t>wickedways-core</a:t>
            </a:r>
            <a:endParaRPr lang="en-US" sz="1400" dirty="0"/>
          </a:p>
        </p:txBody>
      </p:sp>
      <p:sp>
        <p:nvSpPr>
          <p:cNvPr id="15" name="Text 13"/>
          <p:cNvSpPr/>
          <p:nvPr/>
        </p:nvSpPr>
        <p:spPr>
          <a:xfrm>
            <a:off x="594360" y="2994660"/>
            <a:ext cx="11000232" cy="349758"/>
          </a:xfrm>
          <a:prstGeom prst="rect">
            <a:avLst/>
          </a:prstGeom>
          <a:noFill/>
          <a:ln/>
        </p:spPr>
        <p:txBody>
          <a:bodyPr wrap="square" lIns="0" tIns="0" rIns="0" bIns="0" rtlCol="0" anchor="ctr"/>
          <a:lstStyle/>
          <a:p>
            <a:pPr algn="ctr" indent="0" marL="0">
              <a:buNone/>
            </a:pPr>
            <a:r>
              <a:rPr lang="en-US" sz="950" dirty="0">
                <a:solidFill>
                  <a:srgbClr val="E9E2D0"/>
                </a:solidFill>
                <a:latin typeface="Calibri" pitchFamily="34" charset="0"/>
                <a:ea typeface="Calibri" pitchFamily="34" charset="-122"/>
                <a:cs typeface="Calibri" pitchFamily="34" charset="-120"/>
              </a:rPr>
              <a:t>the engine — the only crate that knows the rules</a:t>
            </a:r>
            <a:endParaRPr lang="en-US" sz="950" dirty="0"/>
          </a:p>
        </p:txBody>
      </p:sp>
      <p:sp>
        <p:nvSpPr>
          <p:cNvPr id="16" name="Shape 14"/>
          <p:cNvSpPr/>
          <p:nvPr/>
        </p:nvSpPr>
        <p:spPr>
          <a:xfrm>
            <a:off x="548640" y="3822192"/>
            <a:ext cx="3566160" cy="658368"/>
          </a:xfrm>
          <a:prstGeom prst="roundRect">
            <a:avLst>
              <a:gd name="adj" fmla="val 9722"/>
            </a:avLst>
          </a:prstGeom>
          <a:solidFill>
            <a:srgbClr val="2B2342"/>
          </a:solidFill>
          <a:ln w="9525">
            <a:solidFill>
              <a:srgbClr val="C9A227"/>
            </a:solidFill>
            <a:prstDash val="solid"/>
          </a:ln>
        </p:spPr>
      </p:sp>
      <p:sp>
        <p:nvSpPr>
          <p:cNvPr id="17" name="Text 15"/>
          <p:cNvSpPr/>
          <p:nvPr/>
        </p:nvSpPr>
        <p:spPr>
          <a:xfrm>
            <a:off x="548640" y="3858768"/>
            <a:ext cx="35661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wickedways-transport</a:t>
            </a:r>
            <a:endParaRPr lang="en-US" sz="1150" dirty="0"/>
          </a:p>
        </p:txBody>
      </p:sp>
      <p:sp>
        <p:nvSpPr>
          <p:cNvPr id="18" name="Text 16"/>
          <p:cNvSpPr/>
          <p:nvPr/>
        </p:nvSpPr>
        <p:spPr>
          <a:xfrm>
            <a:off x="594360" y="4151376"/>
            <a:ext cx="3474720" cy="296266"/>
          </a:xfrm>
          <a:prstGeom prst="rect">
            <a:avLst/>
          </a:prstGeom>
          <a:noFill/>
          <a:ln/>
        </p:spPr>
        <p:txBody>
          <a:bodyPr wrap="square" lIns="0" tIns="0" rIns="0" bIns="0" rtlCol="0" anchor="ctr"/>
          <a:lstStyle/>
          <a:p>
            <a:pPr algn="ctr" indent="0" marL="0">
              <a:buNone/>
            </a:pPr>
            <a:r>
              <a:rPr lang="en-US" sz="950" dirty="0">
                <a:solidFill>
                  <a:srgbClr val="C9A227"/>
                </a:solidFill>
                <a:latin typeface="Calibri" pitchFamily="34" charset="0"/>
                <a:ea typeface="Calibri" pitchFamily="34" charset="-122"/>
                <a:cs typeface="Calibri" pitchFamily="34" charset="-120"/>
              </a:rPr>
              <a:t>serde only — no engine dependency</a:t>
            </a:r>
            <a:endParaRPr lang="en-US" sz="950" dirty="0"/>
          </a:p>
        </p:txBody>
      </p:sp>
      <p:sp>
        <p:nvSpPr>
          <p:cNvPr id="19" name="Shape 17"/>
          <p:cNvSpPr/>
          <p:nvPr/>
        </p:nvSpPr>
        <p:spPr>
          <a:xfrm>
            <a:off x="4315968" y="3822192"/>
            <a:ext cx="3566160" cy="658368"/>
          </a:xfrm>
          <a:prstGeom prst="roundRect">
            <a:avLst>
              <a:gd name="adj" fmla="val 9722"/>
            </a:avLst>
          </a:prstGeom>
          <a:solidFill>
            <a:srgbClr val="2B2342"/>
          </a:solidFill>
          <a:ln w="9525">
            <a:solidFill>
              <a:srgbClr val="3A3152"/>
            </a:solidFill>
            <a:prstDash val="solid"/>
          </a:ln>
        </p:spPr>
      </p:sp>
      <p:sp>
        <p:nvSpPr>
          <p:cNvPr id="20" name="Text 18"/>
          <p:cNvSpPr/>
          <p:nvPr/>
        </p:nvSpPr>
        <p:spPr>
          <a:xfrm>
            <a:off x="4315968" y="3858768"/>
            <a:ext cx="35661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wickedways-tabletop</a:t>
            </a:r>
            <a:endParaRPr lang="en-US" sz="1150" dirty="0"/>
          </a:p>
        </p:txBody>
      </p:sp>
      <p:sp>
        <p:nvSpPr>
          <p:cNvPr id="21" name="Text 19"/>
          <p:cNvSpPr/>
          <p:nvPr/>
        </p:nvSpPr>
        <p:spPr>
          <a:xfrm>
            <a:off x="4361688" y="4151376"/>
            <a:ext cx="347472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board bridge — native + wasm</a:t>
            </a:r>
            <a:endParaRPr lang="en-US" sz="950" dirty="0"/>
          </a:p>
        </p:txBody>
      </p:sp>
      <p:sp>
        <p:nvSpPr>
          <p:cNvPr id="22" name="Shape 20"/>
          <p:cNvSpPr/>
          <p:nvPr/>
        </p:nvSpPr>
        <p:spPr>
          <a:xfrm>
            <a:off x="8074152" y="3822192"/>
            <a:ext cx="3566160" cy="658368"/>
          </a:xfrm>
          <a:prstGeom prst="roundRect">
            <a:avLst>
              <a:gd name="adj" fmla="val 9722"/>
            </a:avLst>
          </a:prstGeom>
          <a:solidFill>
            <a:srgbClr val="2B2342"/>
          </a:solidFill>
          <a:ln w="9525">
            <a:solidFill>
              <a:srgbClr val="3A3152"/>
            </a:solidFill>
            <a:prstDash val="solid"/>
          </a:ln>
        </p:spPr>
      </p:sp>
      <p:sp>
        <p:nvSpPr>
          <p:cNvPr id="23" name="Text 21"/>
          <p:cNvSpPr/>
          <p:nvPr/>
        </p:nvSpPr>
        <p:spPr>
          <a:xfrm>
            <a:off x="8074152" y="3858768"/>
            <a:ext cx="35661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wickedways-wasm</a:t>
            </a:r>
            <a:endParaRPr lang="en-US" sz="1150" dirty="0"/>
          </a:p>
        </p:txBody>
      </p:sp>
      <p:sp>
        <p:nvSpPr>
          <p:cNvPr id="24" name="Text 22"/>
          <p:cNvSpPr/>
          <p:nvPr/>
        </p:nvSpPr>
        <p:spPr>
          <a:xfrm>
            <a:off x="8119872" y="4151376"/>
            <a:ext cx="347472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JSON seam — for external JS hosts</a:t>
            </a:r>
            <a:endParaRPr lang="en-US" sz="950" dirty="0"/>
          </a:p>
        </p:txBody>
      </p:sp>
      <p:sp>
        <p:nvSpPr>
          <p:cNvPr id="25" name="Shape 23"/>
          <p:cNvSpPr/>
          <p:nvPr/>
        </p:nvSpPr>
        <p:spPr>
          <a:xfrm>
            <a:off x="548640" y="4983480"/>
            <a:ext cx="2651760" cy="658368"/>
          </a:xfrm>
          <a:prstGeom prst="roundRect">
            <a:avLst>
              <a:gd name="adj" fmla="val 9722"/>
            </a:avLst>
          </a:prstGeom>
          <a:solidFill>
            <a:srgbClr val="2B2342"/>
          </a:solidFill>
          <a:ln w="9525">
            <a:solidFill>
              <a:srgbClr val="3A3152"/>
            </a:solidFill>
            <a:prstDash val="solid"/>
          </a:ln>
        </p:spPr>
      </p:sp>
      <p:sp>
        <p:nvSpPr>
          <p:cNvPr id="26" name="Text 24"/>
          <p:cNvSpPr/>
          <p:nvPr/>
        </p:nvSpPr>
        <p:spPr>
          <a:xfrm>
            <a:off x="548640" y="5020056"/>
            <a:ext cx="265176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wickedways-server</a:t>
            </a:r>
            <a:endParaRPr lang="en-US" sz="1150" dirty="0"/>
          </a:p>
        </p:txBody>
      </p:sp>
      <p:sp>
        <p:nvSpPr>
          <p:cNvPr id="27" name="Text 25"/>
          <p:cNvSpPr/>
          <p:nvPr/>
        </p:nvSpPr>
        <p:spPr>
          <a:xfrm>
            <a:off x="594360" y="5312664"/>
            <a:ext cx="256032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axum · tokio · SQLite</a:t>
            </a:r>
            <a:endParaRPr lang="en-US" sz="950" dirty="0"/>
          </a:p>
        </p:txBody>
      </p:sp>
      <p:sp>
        <p:nvSpPr>
          <p:cNvPr id="28" name="Shape 26"/>
          <p:cNvSpPr/>
          <p:nvPr/>
        </p:nvSpPr>
        <p:spPr>
          <a:xfrm>
            <a:off x="3429000" y="4983480"/>
            <a:ext cx="2377440" cy="658368"/>
          </a:xfrm>
          <a:prstGeom prst="roundRect">
            <a:avLst>
              <a:gd name="adj" fmla="val 9722"/>
            </a:avLst>
          </a:prstGeom>
          <a:solidFill>
            <a:srgbClr val="2B2342"/>
          </a:solidFill>
          <a:ln w="9525">
            <a:solidFill>
              <a:srgbClr val="3A3152"/>
            </a:solidFill>
            <a:prstDash val="solid"/>
          </a:ln>
        </p:spPr>
      </p:sp>
      <p:sp>
        <p:nvSpPr>
          <p:cNvPr id="29" name="Text 27"/>
          <p:cNvSpPr/>
          <p:nvPr/>
        </p:nvSpPr>
        <p:spPr>
          <a:xfrm>
            <a:off x="3429000" y="5020056"/>
            <a:ext cx="237744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wickedways-web</a:t>
            </a:r>
            <a:endParaRPr lang="en-US" sz="1150" dirty="0"/>
          </a:p>
        </p:txBody>
      </p:sp>
      <p:sp>
        <p:nvSpPr>
          <p:cNvPr id="30" name="Text 28"/>
          <p:cNvSpPr/>
          <p:nvPr/>
        </p:nvSpPr>
        <p:spPr>
          <a:xfrm>
            <a:off x="3474720" y="5312664"/>
            <a:ext cx="228600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Dioxus client</a:t>
            </a:r>
            <a:endParaRPr lang="en-US" sz="950" dirty="0"/>
          </a:p>
        </p:txBody>
      </p:sp>
      <p:sp>
        <p:nvSpPr>
          <p:cNvPr id="31" name="Shape 29"/>
          <p:cNvSpPr/>
          <p:nvPr/>
        </p:nvSpPr>
        <p:spPr>
          <a:xfrm>
            <a:off x="5989320" y="4983480"/>
            <a:ext cx="2377440" cy="658368"/>
          </a:xfrm>
          <a:prstGeom prst="roundRect">
            <a:avLst>
              <a:gd name="adj" fmla="val 9722"/>
            </a:avLst>
          </a:prstGeom>
          <a:solidFill>
            <a:srgbClr val="2B2342"/>
          </a:solidFill>
          <a:ln w="9525">
            <a:solidFill>
              <a:srgbClr val="3A3152"/>
            </a:solidFill>
            <a:prstDash val="solid"/>
          </a:ln>
        </p:spPr>
      </p:sp>
      <p:sp>
        <p:nvSpPr>
          <p:cNvPr id="32" name="Text 30"/>
          <p:cNvSpPr/>
          <p:nvPr/>
        </p:nvSpPr>
        <p:spPr>
          <a:xfrm>
            <a:off x="5989320" y="5020056"/>
            <a:ext cx="2377440"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wickedways-studio</a:t>
            </a:r>
            <a:endParaRPr lang="en-US" sz="1150" dirty="0"/>
          </a:p>
        </p:txBody>
      </p:sp>
      <p:sp>
        <p:nvSpPr>
          <p:cNvPr id="33" name="Text 31"/>
          <p:cNvSpPr/>
          <p:nvPr/>
        </p:nvSpPr>
        <p:spPr>
          <a:xfrm>
            <a:off x="6035040" y="5312664"/>
            <a:ext cx="2286000"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Dioxus editor</a:t>
            </a:r>
            <a:endParaRPr lang="en-US" sz="950" dirty="0"/>
          </a:p>
        </p:txBody>
      </p:sp>
      <p:sp>
        <p:nvSpPr>
          <p:cNvPr id="34" name="Shape 32"/>
          <p:cNvSpPr/>
          <p:nvPr/>
        </p:nvSpPr>
        <p:spPr>
          <a:xfrm>
            <a:off x="8549640" y="4983480"/>
            <a:ext cx="3090672" cy="658368"/>
          </a:xfrm>
          <a:prstGeom prst="roundRect">
            <a:avLst>
              <a:gd name="adj" fmla="val 9722"/>
            </a:avLst>
          </a:prstGeom>
          <a:solidFill>
            <a:srgbClr val="2B2342"/>
          </a:solidFill>
          <a:ln w="9525">
            <a:solidFill>
              <a:srgbClr val="3A3152"/>
            </a:solidFill>
            <a:prstDash val="solid"/>
          </a:ln>
        </p:spPr>
      </p:sp>
      <p:sp>
        <p:nvSpPr>
          <p:cNvPr id="35" name="Text 33"/>
          <p:cNvSpPr/>
          <p:nvPr/>
        </p:nvSpPr>
        <p:spPr>
          <a:xfrm>
            <a:off x="8549640" y="5020056"/>
            <a:ext cx="3090672" cy="362102"/>
          </a:xfrm>
          <a:prstGeom prst="rect">
            <a:avLst/>
          </a:prstGeom>
          <a:noFill/>
          <a:ln/>
        </p:spPr>
        <p:txBody>
          <a:bodyPr wrap="square" lIns="0" tIns="0" rIns="0" bIns="0" rtlCol="0" anchor="ctr"/>
          <a:lstStyle/>
          <a:p>
            <a:pPr algn="ctr" indent="0" marL="0">
              <a:buNone/>
            </a:pPr>
            <a:r>
              <a:rPr lang="en-US" sz="1150" b="1" dirty="0">
                <a:solidFill>
                  <a:srgbClr val="E9E2D0"/>
                </a:solidFill>
                <a:latin typeface="Courier New" pitchFamily="34" charset="0"/>
                <a:ea typeface="Courier New" pitchFamily="34" charset="-122"/>
                <a:cs typeface="Courier New" pitchFamily="34" charset="-120"/>
              </a:rPr>
              <a:t>wickedways-controller</a:t>
            </a:r>
            <a:endParaRPr lang="en-US" sz="1150" dirty="0"/>
          </a:p>
        </p:txBody>
      </p:sp>
      <p:sp>
        <p:nvSpPr>
          <p:cNvPr id="36" name="Text 34"/>
          <p:cNvSpPr/>
          <p:nvPr/>
        </p:nvSpPr>
        <p:spPr>
          <a:xfrm>
            <a:off x="8595360" y="5312664"/>
            <a:ext cx="2999232" cy="296266"/>
          </a:xfrm>
          <a:prstGeom prst="rect">
            <a:avLst/>
          </a:prstGeom>
          <a:noFill/>
          <a:ln/>
        </p:spPr>
        <p:txBody>
          <a:bodyPr wrap="square" lIns="0" tIns="0" rIns="0" bIns="0" rtlCol="0" anchor="ctr"/>
          <a:lstStyle/>
          <a:p>
            <a:pPr algn="ctr" indent="0" marL="0">
              <a:buNone/>
            </a:pPr>
            <a:r>
              <a:rPr lang="en-US" sz="950" dirty="0">
                <a:solidFill>
                  <a:srgbClr val="9A92A8"/>
                </a:solidFill>
                <a:latin typeface="Calibri" pitchFamily="34" charset="0"/>
                <a:ea typeface="Calibri" pitchFamily="34" charset="-122"/>
                <a:cs typeface="Calibri" pitchFamily="34" charset="-120"/>
              </a:rPr>
              <a:t>serial line → hardware</a:t>
            </a:r>
            <a:endParaRPr lang="en-US" sz="950" dirty="0"/>
          </a:p>
        </p:txBody>
      </p:sp>
      <p:sp>
        <p:nvSpPr>
          <p:cNvPr id="37" name="Shape 35"/>
          <p:cNvSpPr/>
          <p:nvPr/>
        </p:nvSpPr>
        <p:spPr>
          <a:xfrm>
            <a:off x="1874520" y="2148840"/>
            <a:ext cx="0" cy="411480"/>
          </a:xfrm>
          <a:prstGeom prst="line">
            <a:avLst/>
          </a:prstGeom>
          <a:noFill/>
          <a:ln w="22225">
            <a:solidFill>
              <a:srgbClr val="C9A227"/>
            </a:solidFill>
            <a:prstDash val="solid"/>
            <a:tailEnd type="triangle"/>
          </a:ln>
        </p:spPr>
      </p:sp>
      <p:sp>
        <p:nvSpPr>
          <p:cNvPr id="38" name="Shape 36"/>
          <p:cNvSpPr/>
          <p:nvPr/>
        </p:nvSpPr>
        <p:spPr>
          <a:xfrm>
            <a:off x="4754880" y="2148840"/>
            <a:ext cx="0" cy="411480"/>
          </a:xfrm>
          <a:prstGeom prst="line">
            <a:avLst/>
          </a:prstGeom>
          <a:noFill/>
          <a:ln w="22225">
            <a:solidFill>
              <a:srgbClr val="C9A227"/>
            </a:solidFill>
            <a:prstDash val="solid"/>
            <a:tailEnd type="triangle"/>
          </a:ln>
        </p:spPr>
      </p:sp>
      <p:sp>
        <p:nvSpPr>
          <p:cNvPr id="39" name="Shape 37"/>
          <p:cNvSpPr/>
          <p:nvPr/>
        </p:nvSpPr>
        <p:spPr>
          <a:xfrm flipV="1">
            <a:off x="6099048" y="3429000"/>
            <a:ext cx="0" cy="347472"/>
          </a:xfrm>
          <a:prstGeom prst="line">
            <a:avLst/>
          </a:prstGeom>
          <a:noFill/>
          <a:ln w="22225">
            <a:solidFill>
              <a:srgbClr val="C9A227"/>
            </a:solidFill>
            <a:prstDash val="solid"/>
            <a:tailEnd type="triangle"/>
          </a:ln>
        </p:spPr>
      </p:sp>
      <p:sp>
        <p:nvSpPr>
          <p:cNvPr id="40" name="Shape 38"/>
          <p:cNvSpPr/>
          <p:nvPr/>
        </p:nvSpPr>
        <p:spPr>
          <a:xfrm flipV="1">
            <a:off x="9857232" y="3429000"/>
            <a:ext cx="0" cy="347472"/>
          </a:xfrm>
          <a:prstGeom prst="line">
            <a:avLst/>
          </a:prstGeom>
          <a:noFill/>
          <a:ln w="22225">
            <a:solidFill>
              <a:srgbClr val="C9A227"/>
            </a:solidFill>
            <a:prstDash val="solid"/>
            <a:tailEnd type="triangle"/>
          </a:ln>
        </p:spPr>
      </p:sp>
      <p:sp>
        <p:nvSpPr>
          <p:cNvPr id="41" name="Shape 39"/>
          <p:cNvSpPr/>
          <p:nvPr/>
        </p:nvSpPr>
        <p:spPr>
          <a:xfrm flipV="1">
            <a:off x="1874520" y="4526280"/>
            <a:ext cx="0" cy="429768"/>
          </a:xfrm>
          <a:prstGeom prst="line">
            <a:avLst/>
          </a:prstGeom>
          <a:noFill/>
          <a:ln w="22225">
            <a:solidFill>
              <a:srgbClr val="C9A227"/>
            </a:solidFill>
            <a:prstDash val="solid"/>
            <a:tailEnd type="triangle"/>
          </a:ln>
        </p:spPr>
      </p:sp>
      <p:sp>
        <p:nvSpPr>
          <p:cNvPr id="42" name="Shape 40"/>
          <p:cNvSpPr/>
          <p:nvPr/>
        </p:nvSpPr>
        <p:spPr>
          <a:xfrm flipV="1">
            <a:off x="4617720" y="4526280"/>
            <a:ext cx="502920" cy="429768"/>
          </a:xfrm>
          <a:prstGeom prst="line">
            <a:avLst/>
          </a:prstGeom>
          <a:noFill/>
          <a:ln w="22225">
            <a:solidFill>
              <a:srgbClr val="C9A227"/>
            </a:solidFill>
            <a:prstDash val="solid"/>
            <a:tailEnd type="triangle"/>
          </a:ln>
        </p:spPr>
      </p:sp>
      <p:sp>
        <p:nvSpPr>
          <p:cNvPr id="43" name="Shape 41"/>
          <p:cNvSpPr/>
          <p:nvPr/>
        </p:nvSpPr>
        <p:spPr>
          <a:xfrm flipH="1" flipV="1">
            <a:off x="6949440" y="4526280"/>
            <a:ext cx="228600" cy="429768"/>
          </a:xfrm>
          <a:prstGeom prst="line">
            <a:avLst/>
          </a:prstGeom>
          <a:noFill/>
          <a:ln w="22225">
            <a:solidFill>
              <a:srgbClr val="C9A227"/>
            </a:solidFill>
            <a:prstDash val="solid"/>
            <a:tailEnd type="triangle"/>
          </a:ln>
        </p:spPr>
      </p:sp>
      <p:sp>
        <p:nvSpPr>
          <p:cNvPr id="44" name="Shape 42"/>
          <p:cNvSpPr/>
          <p:nvPr/>
        </p:nvSpPr>
        <p:spPr>
          <a:xfrm flipH="1" flipV="1">
            <a:off x="7680960" y="4544568"/>
            <a:ext cx="2414016" cy="411480"/>
          </a:xfrm>
          <a:prstGeom prst="line">
            <a:avLst/>
          </a:prstGeom>
          <a:noFill/>
          <a:ln w="22225">
            <a:solidFill>
              <a:srgbClr val="C9A227"/>
            </a:solidFill>
            <a:prstDash val="solid"/>
            <a:tailEnd type="triangle"/>
          </a:ln>
        </p:spPr>
      </p:sp>
      <p:sp>
        <p:nvSpPr>
          <p:cNvPr id="45" name="Text 43"/>
          <p:cNvSpPr/>
          <p:nvPr/>
        </p:nvSpPr>
        <p:spPr>
          <a:xfrm>
            <a:off x="822960" y="5806440"/>
            <a:ext cx="10543032" cy="548640"/>
          </a:xfrm>
          <a:prstGeom prst="rect">
            <a:avLst/>
          </a:prstGeom>
          <a:noFill/>
          <a:ln/>
        </p:spPr>
        <p:txBody>
          <a:bodyPr wrap="square" lIns="0" tIns="0" rIns="0" bIns="0" rtlCol="0" anchor="ctr"/>
          <a:lstStyle/>
          <a:p>
            <a:pPr algn="ctr" indent="0" marL="0">
              <a:buNone/>
            </a:pPr>
            <a:r>
              <a:rPr lang="en-US" sz="1300" i="1" dirty="0">
                <a:solidFill>
                  <a:srgbClr val="E9E2D0"/>
                </a:solidFill>
                <a:latin typeface="Calibri" pitchFamily="34" charset="0"/>
                <a:ea typeface="Calibri" pitchFamily="34" charset="-122"/>
                <a:cs typeface="Calibri" pitchFamily="34" charset="-120"/>
              </a:rPr>
              <a:t>Every crate on this slide also depends on the core directly — except wickedways-transport, which depends on serde alone.</a:t>
            </a:r>
            <a:endParaRPr lang="en-US" sz="1300" dirty="0"/>
          </a:p>
          <a:p>
            <a:pPr algn="ctr" indent="0" marL="0">
              <a:buNone/>
            </a:pPr>
            <a:r>
              <a:rPr lang="en-US" sz="1300" i="1" dirty="0">
                <a:solidFill>
                  <a:srgbClr val="E9E2D0"/>
                </a:solidFill>
                <a:latin typeface="Calibri" pitchFamily="34" charset="0"/>
                <a:ea typeface="Calibri" pitchFamily="34" charset="-122"/>
                <a:cs typeface="Calibri" pitchFamily="34" charset="-120"/>
              </a:rPr>
              <a:t>The wire protocol does not know the game exists. That is the whole architecture, drawn.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TOOLBOX</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Features and targets: one codebase, many shapes</a:t>
            </a:r>
            <a:endParaRPr lang="en-US" sz="3000" dirty="0"/>
          </a:p>
        </p:txBody>
      </p:sp>
      <p:sp>
        <p:nvSpPr>
          <p:cNvPr id="4" name="Shape 2"/>
          <p:cNvSpPr/>
          <p:nvPr/>
        </p:nvSpPr>
        <p:spPr>
          <a:xfrm>
            <a:off x="548640" y="1600200"/>
            <a:ext cx="5440680" cy="3977640"/>
          </a:xfrm>
          <a:prstGeom prst="roundRect">
            <a:avLst>
              <a:gd name="adj" fmla="val 1609"/>
            </a:avLst>
          </a:prstGeom>
          <a:solidFill>
            <a:srgbClr val="221C31"/>
          </a:solidFill>
          <a:ln w="9525">
            <a:solidFill>
              <a:srgbClr val="3A3152"/>
            </a:solidFill>
            <a:prstDash val="solid"/>
          </a:ln>
        </p:spPr>
      </p:sp>
      <p:sp>
        <p:nvSpPr>
          <p:cNvPr id="5" name="Text 3"/>
          <p:cNvSpPr/>
          <p:nvPr/>
        </p:nvSpPr>
        <p:spPr>
          <a:xfrm>
            <a:off x="548640" y="1755648"/>
            <a:ext cx="5440680" cy="274320"/>
          </a:xfrm>
          <a:prstGeom prst="rect">
            <a:avLst/>
          </a:prstGeom>
          <a:noFill/>
          <a:ln/>
        </p:spPr>
        <p:txBody>
          <a:bodyPr wrap="square" lIns="0" tIns="0" rIns="0" bIns="0" rtlCol="0" anchor="ctr"/>
          <a:lstStyle/>
          <a:p>
            <a:pPr algn="ctr" indent="0" marL="0">
              <a:buNone/>
            </a:pPr>
            <a:r>
              <a:rPr lang="en-US" sz="1200" b="1" spc="200" kern="0" dirty="0">
                <a:solidFill>
                  <a:srgbClr val="C9A227"/>
                </a:solidFill>
                <a:latin typeface="Calibri" pitchFamily="34" charset="0"/>
                <a:ea typeface="Calibri" pitchFamily="34" charset="-122"/>
                <a:cs typeface="Calibri" pitchFamily="34" charset="-120"/>
              </a:rPr>
              <a:t>FEATURES — compile-time config</a:t>
            </a:r>
            <a:endParaRPr lang="en-US" sz="1200" dirty="0"/>
          </a:p>
        </p:txBody>
      </p:sp>
      <p:sp>
        <p:nvSpPr>
          <p:cNvPr id="6" name="Text 4"/>
          <p:cNvSpPr/>
          <p:nvPr/>
        </p:nvSpPr>
        <p:spPr>
          <a:xfrm>
            <a:off x="868680" y="2148840"/>
            <a:ext cx="4800600" cy="3200400"/>
          </a:xfrm>
          <a:prstGeom prst="rect">
            <a:avLst/>
          </a:prstGeom>
          <a:noFill/>
          <a:ln/>
        </p:spPr>
        <p:txBody>
          <a:bodyPr wrap="square" lIns="0" tIns="0" rIns="0" bIns="0" rtlCol="0" anchor="t"/>
          <a:lstStyle/>
          <a:p>
            <a:pPr indent="0" marL="0">
              <a:buNone/>
            </a:pPr>
            <a:r>
              <a:rPr lang="en-US" sz="1250" b="1" dirty="0">
                <a:solidFill>
                  <a:srgbClr val="E9E2D0"/>
                </a:solidFill>
                <a:latin typeface="Calibri" pitchFamily="34" charset="0"/>
                <a:ea typeface="Calibri" pitchFamily="34" charset="-122"/>
                <a:cs typeface="Calibri" pitchFamily="34" charset="-120"/>
              </a:rPr>
              <a:t>std off </a:t>
            </a:r>
            <a:pPr indent="0" marL="0">
              <a:spcAft>
                <a:spcPts val="800"/>
              </a:spcAft>
              <a:buNone/>
            </a:pPr>
            <a:r>
              <a:rPr lang="en-US" sz="1250" dirty="0">
                <a:solidFill>
                  <a:srgbClr val="9A92A8"/>
                </a:solidFill>
                <a:latin typeface="Calibri" pitchFamily="34" charset="0"/>
                <a:ea typeface="Calibri" pitchFamily="34" charset="-122"/>
                <a:cs typeface="Calibri" pitchFamily="34" charset="-120"/>
              </a:rPr>
              <a:t>→ the core builds with no OS assumptions at all — the embedded story.</a:t>
            </a:r>
            <a:endParaRPr lang="en-US" sz="1250" dirty="0"/>
          </a:p>
          <a:p>
            <a:pPr indent="0" marL="0">
              <a:buNone/>
            </a:pPr>
            <a:r>
              <a:rPr lang="en-US" sz="1250" b="1" dirty="0">
                <a:solidFill>
                  <a:srgbClr val="E9E2D0"/>
                </a:solidFill>
                <a:latin typeface="Calibri" pitchFamily="34" charset="0"/>
                <a:ea typeface="Calibri" pitchFamily="34" charset="-122"/>
                <a:cs typeface="Calibri" pitchFamily="34" charset="-120"/>
              </a:rPr>
              <a:t>native-app </a:t>
            </a:r>
            <a:pPr indent="0" marL="0">
              <a:spcAft>
                <a:spcPts val="800"/>
              </a:spcAft>
              <a:buNone/>
            </a:pPr>
            <a:r>
              <a:rPr lang="en-US" sz="1250" dirty="0">
                <a:solidFill>
                  <a:srgbClr val="9A92A8"/>
                </a:solidFill>
                <a:latin typeface="Calibri" pitchFamily="34" charset="0"/>
                <a:ea typeface="Calibri" pitchFamily="34" charset="-122"/>
                <a:cs typeface="Calibri" pitchFamily="34" charset="-120"/>
              </a:rPr>
              <a:t>→ the same UI crate becomes the desktop app.</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serde_json float_roundtrip </a:t>
            </a:r>
            <a:pPr indent="0" marL="0">
              <a:buNone/>
            </a:pPr>
            <a:r>
              <a:rPr lang="en-US" sz="1250" dirty="0">
                <a:solidFill>
                  <a:srgbClr val="9A92A8"/>
                </a:solidFill>
                <a:latin typeface="Calibri" pitchFamily="34" charset="0"/>
                <a:ea typeface="Calibri" pitchFamily="34" charset="-122"/>
                <a:cs typeface="Calibri" pitchFamily="34" charset="-120"/>
              </a:rPr>
              <a:t>→ the sweetest one: the default float parser can re-parse a number to a slightly different number, which broke byte-exact replay. One line in Cargo.toml fixed a determinism bug.</a:t>
            </a:r>
            <a:endParaRPr lang="en-US" sz="1250" dirty="0"/>
          </a:p>
        </p:txBody>
      </p:sp>
      <p:sp>
        <p:nvSpPr>
          <p:cNvPr id="7" name="Shape 5"/>
          <p:cNvSpPr/>
          <p:nvPr/>
        </p:nvSpPr>
        <p:spPr>
          <a:xfrm>
            <a:off x="6199632" y="1600200"/>
            <a:ext cx="5440680" cy="3977640"/>
          </a:xfrm>
          <a:prstGeom prst="roundRect">
            <a:avLst>
              <a:gd name="adj" fmla="val 1609"/>
            </a:avLst>
          </a:prstGeom>
          <a:solidFill>
            <a:srgbClr val="221C31"/>
          </a:solidFill>
          <a:ln w="9525">
            <a:solidFill>
              <a:srgbClr val="3A3152"/>
            </a:solidFill>
            <a:prstDash val="solid"/>
          </a:ln>
        </p:spPr>
      </p:sp>
      <p:sp>
        <p:nvSpPr>
          <p:cNvPr id="8" name="Text 6"/>
          <p:cNvSpPr/>
          <p:nvPr/>
        </p:nvSpPr>
        <p:spPr>
          <a:xfrm>
            <a:off x="6199632" y="1755648"/>
            <a:ext cx="5440680" cy="274320"/>
          </a:xfrm>
          <a:prstGeom prst="rect">
            <a:avLst/>
          </a:prstGeom>
          <a:noFill/>
          <a:ln/>
        </p:spPr>
        <p:txBody>
          <a:bodyPr wrap="square" lIns="0" tIns="0" rIns="0" bIns="0" rtlCol="0" anchor="ctr"/>
          <a:lstStyle/>
          <a:p>
            <a:pPr algn="ctr" indent="0" marL="0">
              <a:buNone/>
            </a:pPr>
            <a:r>
              <a:rPr lang="en-US" sz="1200" b="1" spc="200" kern="0" dirty="0">
                <a:solidFill>
                  <a:srgbClr val="C9A227"/>
                </a:solidFill>
                <a:latin typeface="Calibri" pitchFamily="34" charset="0"/>
                <a:ea typeface="Calibri" pitchFamily="34" charset="-122"/>
                <a:cs typeface="Calibri" pitchFamily="34" charset="-120"/>
              </a:rPr>
              <a:t>TARGETS — same code, other worlds</a:t>
            </a:r>
            <a:endParaRPr lang="en-US" sz="1200" dirty="0"/>
          </a:p>
        </p:txBody>
      </p:sp>
      <p:sp>
        <p:nvSpPr>
          <p:cNvPr id="9" name="Text 7"/>
          <p:cNvSpPr/>
          <p:nvPr/>
        </p:nvSpPr>
        <p:spPr>
          <a:xfrm>
            <a:off x="6519672" y="2148840"/>
            <a:ext cx="4800600" cy="3200400"/>
          </a:xfrm>
          <a:prstGeom prst="rect">
            <a:avLst/>
          </a:prstGeom>
          <a:noFill/>
          <a:ln/>
        </p:spPr>
        <p:txBody>
          <a:bodyPr wrap="square" lIns="0" tIns="0" rIns="0" bIns="0" rtlCol="0" anchor="t"/>
          <a:lstStyle/>
          <a:p>
            <a:pPr indent="0" marL="0">
              <a:buNone/>
            </a:pPr>
            <a:r>
              <a:rPr lang="en-US" sz="1250" b="1" dirty="0">
                <a:solidFill>
                  <a:srgbClr val="E9E2D0"/>
                </a:solidFill>
                <a:latin typeface="Calibri" pitchFamily="34" charset="0"/>
                <a:ea typeface="Calibri" pitchFamily="34" charset="-122"/>
                <a:cs typeface="Calibri" pitchFamily="34" charset="-120"/>
              </a:rPr>
              <a:t>wasm32-unknown-unknown </a:t>
            </a:r>
            <a:pPr indent="0" marL="0">
              <a:spcAft>
                <a:spcPts val="800"/>
              </a:spcAft>
              <a:buNone/>
            </a:pPr>
            <a:r>
              <a:rPr lang="en-US" sz="1250" dirty="0">
                <a:solidFill>
                  <a:srgbClr val="9A92A8"/>
                </a:solidFill>
                <a:latin typeface="Calibri" pitchFamily="34" charset="0"/>
                <a:ea typeface="Calibri" pitchFamily="34" charset="-122"/>
                <a:cs typeface="Calibri" pitchFamily="34" charset="-120"/>
              </a:rPr>
              <a:t>→ the web client and the campaign studio, compiled for the browser.</a:t>
            </a:r>
            <a:endParaRPr lang="en-US" sz="1250" dirty="0"/>
          </a:p>
          <a:p>
            <a:pPr indent="0" marL="0">
              <a:buNone/>
            </a:pPr>
            <a:r>
              <a:rPr lang="en-US" sz="1250" b="1" dirty="0">
                <a:solidFill>
                  <a:srgbClr val="E9E2D0"/>
                </a:solidFill>
                <a:latin typeface="Calibri" pitchFamily="34" charset="0"/>
                <a:ea typeface="Calibri" pitchFamily="34" charset="-122"/>
                <a:cs typeface="Calibri" pitchFamily="34" charset="-120"/>
              </a:rPr>
              <a:t>--no-default-features </a:t>
            </a:r>
            <a:pPr indent="0" marL="0">
              <a:spcAft>
                <a:spcPts val="800"/>
              </a:spcAft>
              <a:buNone/>
            </a:pPr>
            <a:r>
              <a:rPr lang="en-US" sz="1250" dirty="0">
                <a:solidFill>
                  <a:srgbClr val="9A92A8"/>
                </a:solidFill>
                <a:latin typeface="Calibri" pitchFamily="34" charset="0"/>
                <a:ea typeface="Calibri" pitchFamily="34" charset="-122"/>
                <a:cs typeface="Calibri" pitchFamily="34" charset="-120"/>
              </a:rPr>
              <a:t>→ the no-OS build of the core.</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Both are CI gates </a:t>
            </a:r>
            <a:pPr indent="0" marL="0">
              <a:buNone/>
            </a:pPr>
            <a:r>
              <a:rPr lang="en-US" sz="1250" dirty="0">
                <a:solidFill>
                  <a:srgbClr val="9A92A8"/>
                </a:solidFill>
                <a:latin typeface="Calibri" pitchFamily="34" charset="0"/>
                <a:ea typeface="Calibri" pitchFamily="34" charset="-122"/>
                <a:cs typeface="Calibri" pitchFamily="34" charset="-120"/>
              </a:rPr>
              <a:t>— built on every commit. "One language, many worlds" is a gated build here, not a slide.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3 — THE TOOLBOX</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clippy + rustfmt: mechanized review culture</a:t>
            </a:r>
            <a:endParaRPr lang="en-US" sz="3000" dirty="0"/>
          </a:p>
        </p:txBody>
      </p:sp>
      <p:sp>
        <p:nvSpPr>
          <p:cNvPr id="4" name="Shape 2"/>
          <p:cNvSpPr/>
          <p:nvPr/>
        </p:nvSpPr>
        <p:spPr>
          <a:xfrm>
            <a:off x="548640" y="1600200"/>
            <a:ext cx="6035040" cy="3749040"/>
          </a:xfrm>
          <a:prstGeom prst="roundRect">
            <a:avLst>
              <a:gd name="adj" fmla="val 1707"/>
            </a:avLst>
          </a:prstGeom>
          <a:solidFill>
            <a:srgbClr val="13101B"/>
          </a:solidFill>
          <a:ln w="9525">
            <a:solidFill>
              <a:srgbClr val="3A3152"/>
            </a:solidFill>
            <a:prstDash val="solid"/>
          </a:ln>
        </p:spPr>
      </p:sp>
      <p:sp>
        <p:nvSpPr>
          <p:cNvPr id="5" name="Text 3"/>
          <p:cNvSpPr/>
          <p:nvPr/>
        </p:nvSpPr>
        <p:spPr>
          <a:xfrm>
            <a:off x="914400" y="1874520"/>
            <a:ext cx="5394960" cy="3200400"/>
          </a:xfrm>
          <a:prstGeom prst="rect">
            <a:avLst/>
          </a:prstGeom>
          <a:noFill/>
          <a:ln/>
        </p:spPr>
        <p:txBody>
          <a:bodyPr wrap="square" lIns="0" tIns="0" rIns="0" bIns="0" rtlCol="0" anchor="t"/>
          <a:lstStyle/>
          <a:p>
            <a:pPr indent="0" marL="0">
              <a:spcAft>
                <a:spcPts val="600"/>
              </a:spcAft>
              <a:buNone/>
            </a:pPr>
            <a:r>
              <a:rPr lang="en-US" sz="1250" dirty="0">
                <a:solidFill>
                  <a:srgbClr val="C9A227"/>
                </a:solidFill>
                <a:latin typeface="Courier New" pitchFamily="34" charset="0"/>
                <a:ea typeface="Courier New" pitchFamily="34" charset="-122"/>
                <a:cs typeface="Courier New" pitchFamily="34" charset="-120"/>
              </a:rPr>
              <a:t># root Cargo.toml — the lint policy</a:t>
            </a:r>
            <a:endParaRPr lang="en-US" sz="1250" dirty="0"/>
          </a:p>
          <a:p>
            <a:pPr indent="0" marL="0">
              <a:buNone/>
            </a:pPr>
            <a:r>
              <a:rPr lang="en-US" sz="1250" dirty="0">
                <a:solidFill>
                  <a:srgbClr val="E9E2D0"/>
                </a:solidFill>
                <a:latin typeface="Courier New" pitchFamily="34" charset="0"/>
                <a:ea typeface="Courier New" pitchFamily="34" charset="-122"/>
                <a:cs typeface="Courier New" pitchFamily="34" charset="-120"/>
              </a:rPr>
              <a:t>[workspace.lints.clippy]</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cast_lossless            = "warn"</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manual_let_else          = "warn"</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match_same_arms          = "warn"</a:t>
            </a:r>
            <a:endParaRPr lang="en-US" sz="1250" dirty="0"/>
          </a:p>
          <a:p>
            <a:pPr indent="0" marL="0">
              <a:buNone/>
            </a:pPr>
            <a:r>
              <a:rPr lang="en-US" sz="1250" dirty="0">
                <a:solidFill>
                  <a:srgbClr val="9A92A8"/>
                </a:solidFill>
                <a:latin typeface="Courier New" pitchFamily="34" charset="0"/>
                <a:ea typeface="Courier New" pitchFamily="34" charset="-122"/>
                <a:cs typeface="Courier New" pitchFamily="34" charset="-120"/>
              </a:rPr>
              <a:t>needless_pass_by_value   = "warn"</a:t>
            </a:r>
            <a:endParaRPr lang="en-US" sz="1250" dirty="0"/>
          </a:p>
          <a:p>
            <a:pPr indent="0" marL="0">
              <a:buNone/>
            </a:pPr>
            <a:r>
              <a:rPr lang="en-US" sz="1250" dirty="0">
                <a:solidFill>
                  <a:srgbClr val="C9A227"/>
                </a:solidFill>
                <a:latin typeface="Courier New" pitchFamily="34" charset="0"/>
                <a:ea typeface="Courier New" pitchFamily="34" charset="-122"/>
                <a:cs typeface="Courier New" pitchFamily="34" charset="-120"/>
              </a:rPr>
              <a:t># ... individually chosen, with comments</a:t>
            </a:r>
            <a:endParaRPr lang="en-US" sz="1250" dirty="0"/>
          </a:p>
          <a:p>
            <a:pPr indent="0" marL="0">
              <a:buNone/>
            </a:pPr>
            <a:r>
              <a:rPr lang="en-US" sz="1250" dirty="0">
                <a:solidFill>
                  <a:srgbClr val="C9A227"/>
                </a:solidFill>
                <a:latin typeface="Courier New" pitchFamily="34" charset="0"/>
                <a:ea typeface="Courier New" pitchFamily="34" charset="-122"/>
                <a:cs typeface="Courier New" pitchFamily="34" charset="-120"/>
              </a:rPr>
              <a:t># on which noisy lints were left OUT</a:t>
            </a:r>
            <a:endParaRPr lang="en-US" sz="1250" dirty="0"/>
          </a:p>
        </p:txBody>
      </p:sp>
      <p:sp>
        <p:nvSpPr>
          <p:cNvPr id="6" name="Shape 4"/>
          <p:cNvSpPr/>
          <p:nvPr/>
        </p:nvSpPr>
        <p:spPr>
          <a:xfrm>
            <a:off x="6858000" y="1600200"/>
            <a:ext cx="4782312" cy="3749040"/>
          </a:xfrm>
          <a:prstGeom prst="roundRect">
            <a:avLst>
              <a:gd name="adj" fmla="val 1707"/>
            </a:avLst>
          </a:prstGeom>
          <a:solidFill>
            <a:srgbClr val="221C31"/>
          </a:solidFill>
          <a:ln w="9525">
            <a:solidFill>
              <a:srgbClr val="3A3152"/>
            </a:solidFill>
            <a:prstDash val="solid"/>
          </a:ln>
        </p:spPr>
      </p:sp>
      <p:sp>
        <p:nvSpPr>
          <p:cNvPr id="7" name="Text 5"/>
          <p:cNvSpPr/>
          <p:nvPr/>
        </p:nvSpPr>
        <p:spPr>
          <a:xfrm>
            <a:off x="7178040" y="1874520"/>
            <a:ext cx="4160520" cy="3291840"/>
          </a:xfrm>
          <a:prstGeom prst="rect">
            <a:avLst/>
          </a:prstGeom>
          <a:noFill/>
          <a:ln/>
        </p:spPr>
        <p:txBody>
          <a:bodyPr wrap="square" lIns="0" tIns="0" rIns="0" bIns="0" rtlCol="0" anchor="t"/>
          <a:lstStyle/>
          <a:p>
            <a:pPr indent="0" marL="0">
              <a:buNone/>
            </a:pPr>
            <a:r>
              <a:rPr lang="en-US" sz="1250" b="1" dirty="0">
                <a:solidFill>
                  <a:srgbClr val="C9A227"/>
                </a:solidFill>
                <a:latin typeface="Calibri" pitchFamily="34" charset="0"/>
                <a:ea typeface="Calibri" pitchFamily="34" charset="-122"/>
                <a:cs typeface="Calibri" pitchFamily="34" charset="-120"/>
              </a:rPr>
              <a:t>clippy — </a:t>
            </a:r>
            <a:pPr indent="0" marL="0">
              <a:spcAft>
                <a:spcPts val="900"/>
              </a:spcAft>
              <a:buNone/>
            </a:pPr>
            <a:r>
              <a:rPr lang="en-US" sz="1250" dirty="0">
                <a:solidFill>
                  <a:srgbClr val="9A92A8"/>
                </a:solidFill>
                <a:latin typeface="Calibri" pitchFamily="34" charset="0"/>
                <a:ea typeface="Calibri" pitchFamily="34" charset="-122"/>
                <a:cs typeface="Calibri" pitchFamily="34" charset="-120"/>
              </a:rPr>
              <a:t>the official linter: hundreds of lints from correctness to style, run in CI with warnings promoted to errors (-D warnings).</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rustfmt — </a:t>
            </a:r>
            <a:pPr indent="0" marL="0">
              <a:spcAft>
                <a:spcPts val="900"/>
              </a:spcAft>
              <a:buNone/>
            </a:pPr>
            <a:r>
              <a:rPr lang="en-US" sz="1250" dirty="0">
                <a:solidFill>
                  <a:srgbClr val="9A92A8"/>
                </a:solidFill>
                <a:latin typeface="Calibri" pitchFamily="34" charset="0"/>
                <a:ea typeface="Calibri" pitchFamily="34" charset="-122"/>
                <a:cs typeface="Calibri" pitchFamily="34" charset="-120"/>
              </a:rPr>
              <a:t>the official formatter. cargo fmt --all --check gates every commit; nobody argues about style in review.</a:t>
            </a:r>
            <a:endParaRPr lang="en-US" sz="1250" dirty="0"/>
          </a:p>
          <a:p>
            <a:pPr indent="0" marL="0">
              <a:buNone/>
            </a:pPr>
            <a:r>
              <a:rPr lang="en-US" sz="1250" b="1" dirty="0">
                <a:solidFill>
                  <a:srgbClr val="C9A227"/>
                </a:solidFill>
                <a:latin typeface="Calibri" pitchFamily="34" charset="0"/>
                <a:ea typeface="Calibri" pitchFamily="34" charset="-122"/>
                <a:cs typeface="Calibri" pitchFamily="34" charset="-120"/>
              </a:rPr>
              <a:t>The grown-up version — </a:t>
            </a:r>
            <a:pPr indent="0" marL="0">
              <a:buNone/>
            </a:pPr>
            <a:r>
              <a:rPr lang="en-US" sz="1250" dirty="0">
                <a:solidFill>
                  <a:srgbClr val="9A92A8"/>
                </a:solidFill>
                <a:latin typeface="Calibri" pitchFamily="34" charset="0"/>
                <a:ea typeface="Calibri" pitchFamily="34" charset="-122"/>
                <a:cs typeface="Calibri" pitchFamily="34" charset="-120"/>
              </a:rPr>
              <a:t>a shared workspace policy where pedantic lints are enabled by name, and the exclusions are documented. Lint policy as reviewed code.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4 — THE ECOSYSTEM IN THE WILD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crate map, part 1: data and servers</a:t>
            </a:r>
            <a:endParaRPr lang="en-US" sz="3000" dirty="0"/>
          </a:p>
        </p:txBody>
      </p:sp>
      <p:sp>
        <p:nvSpPr>
          <p:cNvPr id="4" name="Shape 2"/>
          <p:cNvSpPr/>
          <p:nvPr/>
        </p:nvSpPr>
        <p:spPr>
          <a:xfrm>
            <a:off x="548640" y="1645920"/>
            <a:ext cx="3514344" cy="3794760"/>
          </a:xfrm>
          <a:prstGeom prst="roundRect">
            <a:avLst>
              <a:gd name="adj" fmla="val 1821"/>
            </a:avLst>
          </a:prstGeom>
          <a:solidFill>
            <a:srgbClr val="221C31"/>
          </a:solidFill>
          <a:ln w="9525">
            <a:solidFill>
              <a:srgbClr val="3A3152"/>
            </a:solidFill>
            <a:prstDash val="solid"/>
          </a:ln>
        </p:spPr>
      </p:sp>
      <p:sp>
        <p:nvSpPr>
          <p:cNvPr id="5" name="Shape 3"/>
          <p:cNvSpPr/>
          <p:nvPr/>
        </p:nvSpPr>
        <p:spPr>
          <a:xfrm>
            <a:off x="1930908"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file_gold.png">    </p:cNvPr>
          <p:cNvPicPr>
            <a:picLocks noChangeAspect="1"/>
          </p:cNvPicPr>
          <p:nvPr/>
        </p:nvPicPr>
        <p:blipFill>
          <a:blip r:embed="rId1"/>
          <a:stretch>
            <a:fillRect/>
          </a:stretch>
        </p:blipFill>
        <p:spPr>
          <a:xfrm>
            <a:off x="2110862" y="2136770"/>
            <a:ext cx="389900" cy="389900"/>
          </a:xfrm>
          <a:prstGeom prst="rect">
            <a:avLst/>
          </a:prstGeom>
        </p:spPr>
      </p:pic>
      <p:sp>
        <p:nvSpPr>
          <p:cNvPr id="7" name="Text 4"/>
          <p:cNvSpPr/>
          <p:nvPr/>
        </p:nvSpPr>
        <p:spPr>
          <a:xfrm>
            <a:off x="749808"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serde</a:t>
            </a:r>
            <a:endParaRPr lang="en-US" sz="1700" dirty="0"/>
          </a:p>
        </p:txBody>
      </p:sp>
      <p:sp>
        <p:nvSpPr>
          <p:cNvPr id="8" name="Text 5"/>
          <p:cNvSpPr/>
          <p:nvPr/>
        </p:nvSpPr>
        <p:spPr>
          <a:xfrm>
            <a:off x="768096"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THE serialization answer: annotate a struct, the compiler writes the JSON code. Here it carries every seam — save files, the multiplayer wire protocol, the JSON-only wasm boundary, campaign artifacts, the serial messages to the board. Nine of ten crates use it.</a:t>
            </a:r>
            <a:endParaRPr lang="en-US" sz="1150" dirty="0"/>
          </a:p>
        </p:txBody>
      </p:sp>
      <p:sp>
        <p:nvSpPr>
          <p:cNvPr id="9" name="Shape 6"/>
          <p:cNvSpPr/>
          <p:nvPr/>
        </p:nvSpPr>
        <p:spPr>
          <a:xfrm>
            <a:off x="4337304" y="1645920"/>
            <a:ext cx="3514344" cy="3794760"/>
          </a:xfrm>
          <a:prstGeom prst="roundRect">
            <a:avLst>
              <a:gd name="adj" fmla="val 1821"/>
            </a:avLst>
          </a:prstGeom>
          <a:solidFill>
            <a:srgbClr val="221C31"/>
          </a:solidFill>
          <a:ln w="9525">
            <a:solidFill>
              <a:srgbClr val="3A3152"/>
            </a:solidFill>
            <a:prstDash val="solid"/>
          </a:ln>
        </p:spPr>
      </p:sp>
      <p:sp>
        <p:nvSpPr>
          <p:cNvPr id="10" name="Shape 7"/>
          <p:cNvSpPr/>
          <p:nvPr/>
        </p:nvSpPr>
        <p:spPr>
          <a:xfrm>
            <a:off x="5719572"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refresh_gold.png">    </p:cNvPr>
          <p:cNvPicPr>
            <a:picLocks noChangeAspect="1"/>
          </p:cNvPicPr>
          <p:nvPr/>
        </p:nvPicPr>
        <p:blipFill>
          <a:blip r:embed="rId2"/>
          <a:stretch>
            <a:fillRect/>
          </a:stretch>
        </p:blipFill>
        <p:spPr>
          <a:xfrm>
            <a:off x="5899526" y="2136770"/>
            <a:ext cx="389900" cy="389900"/>
          </a:xfrm>
          <a:prstGeom prst="rect">
            <a:avLst/>
          </a:prstGeom>
        </p:spPr>
      </p:pic>
      <p:sp>
        <p:nvSpPr>
          <p:cNvPr id="12" name="Text 8"/>
          <p:cNvSpPr/>
          <p:nvPr/>
        </p:nvSpPr>
        <p:spPr>
          <a:xfrm>
            <a:off x="4538472"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tokio</a:t>
            </a:r>
            <a:endParaRPr lang="en-US" sz="1700" dirty="0"/>
          </a:p>
        </p:txBody>
      </p:sp>
      <p:sp>
        <p:nvSpPr>
          <p:cNvPr id="13" name="Text 9"/>
          <p:cNvSpPr/>
          <p:nvPr/>
        </p:nvSpPr>
        <p:spPr>
          <a:xfrm>
            <a:off x="4556760"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Rust ships async syntax but no runtime; tokio is the de-facto one — the Node event loop as a library you opt into. The room server uses it for one task per campaign that owns the game and processes one command at a time: apply → persist → acknowledge.</a:t>
            </a:r>
            <a:endParaRPr lang="en-US" sz="1150" dirty="0"/>
          </a:p>
        </p:txBody>
      </p:sp>
      <p:sp>
        <p:nvSpPr>
          <p:cNvPr id="14" name="Shape 10"/>
          <p:cNvSpPr/>
          <p:nvPr/>
        </p:nvSpPr>
        <p:spPr>
          <a:xfrm>
            <a:off x="8125968" y="1645920"/>
            <a:ext cx="3514344" cy="3794760"/>
          </a:xfrm>
          <a:prstGeom prst="roundRect">
            <a:avLst>
              <a:gd name="adj" fmla="val 1821"/>
            </a:avLst>
          </a:prstGeom>
          <a:solidFill>
            <a:srgbClr val="221C31"/>
          </a:solidFill>
          <a:ln w="9525">
            <a:solidFill>
              <a:srgbClr val="3A3152"/>
            </a:solidFill>
            <a:prstDash val="solid"/>
          </a:ln>
        </p:spPr>
      </p:sp>
      <p:sp>
        <p:nvSpPr>
          <p:cNvPr id="15" name="Shape 11"/>
          <p:cNvSpPr/>
          <p:nvPr/>
        </p:nvSpPr>
        <p:spPr>
          <a:xfrm>
            <a:off x="9508236"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server.png">    </p:cNvPr>
          <p:cNvPicPr>
            <a:picLocks noChangeAspect="1"/>
          </p:cNvPicPr>
          <p:nvPr/>
        </p:nvPicPr>
        <p:blipFill>
          <a:blip r:embed="rId3"/>
          <a:stretch>
            <a:fillRect/>
          </a:stretch>
        </p:blipFill>
        <p:spPr>
          <a:xfrm>
            <a:off x="9688190" y="2136770"/>
            <a:ext cx="389900" cy="389900"/>
          </a:xfrm>
          <a:prstGeom prst="rect">
            <a:avLst/>
          </a:prstGeom>
        </p:spPr>
      </p:pic>
      <p:sp>
        <p:nvSpPr>
          <p:cNvPr id="17" name="Text 12"/>
          <p:cNvSpPr/>
          <p:nvPr/>
        </p:nvSpPr>
        <p:spPr>
          <a:xfrm>
            <a:off x="8327136" y="2880360"/>
            <a:ext cx="3112008" cy="566928"/>
          </a:xfrm>
          <a:prstGeom prst="rect">
            <a:avLst/>
          </a:prstGeom>
          <a:noFill/>
          <a:ln/>
        </p:spPr>
        <p:txBody>
          <a:bodyPr wrap="square" lIns="0" tIns="0" rIns="0" bIns="0" rtlCol="0" anchor="ctr"/>
          <a:lstStyle/>
          <a:p>
            <a:pPr algn="ctr" indent="0" marL="0">
              <a:buNone/>
            </a:pPr>
            <a:r>
              <a:rPr lang="en-US" sz="1700" b="1" dirty="0">
                <a:solidFill>
                  <a:srgbClr val="C9A227"/>
                </a:solidFill>
                <a:latin typeface="Courier New" pitchFamily="34" charset="0"/>
                <a:ea typeface="Courier New" pitchFamily="34" charset="-122"/>
                <a:cs typeface="Courier New" pitchFamily="34" charset="-120"/>
              </a:rPr>
              <a:t>axum</a:t>
            </a:r>
            <a:endParaRPr lang="en-US" sz="1700" dirty="0"/>
          </a:p>
        </p:txBody>
      </p:sp>
      <p:sp>
        <p:nvSpPr>
          <p:cNvPr id="18" name="Text 13"/>
          <p:cNvSpPr/>
          <p:nvPr/>
        </p:nvSpPr>
        <p:spPr>
          <a:xfrm>
            <a:off x="8345424"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The current default web framework, from the tokio team. Here it is deliberately boring: a WebSocket endpoint in front of the room server. Boring is the point — the interesting code is all in the engine.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4 — THE ECOSYSTEM IN THE WILD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crate map, part 2: UI and the edges</a:t>
            </a:r>
            <a:endParaRPr lang="en-US" sz="3000" dirty="0"/>
          </a:p>
        </p:txBody>
      </p:sp>
      <p:sp>
        <p:nvSpPr>
          <p:cNvPr id="4" name="Shape 2"/>
          <p:cNvSpPr/>
          <p:nvPr/>
        </p:nvSpPr>
        <p:spPr>
          <a:xfrm>
            <a:off x="548640" y="1645920"/>
            <a:ext cx="3514344" cy="3794760"/>
          </a:xfrm>
          <a:prstGeom prst="roundRect">
            <a:avLst>
              <a:gd name="adj" fmla="val 1821"/>
            </a:avLst>
          </a:prstGeom>
          <a:solidFill>
            <a:srgbClr val="221C31"/>
          </a:solidFill>
          <a:ln w="9525">
            <a:solidFill>
              <a:srgbClr val="3A3152"/>
            </a:solidFill>
            <a:prstDash val="solid"/>
          </a:ln>
        </p:spPr>
      </p:sp>
      <p:sp>
        <p:nvSpPr>
          <p:cNvPr id="5" name="Shape 3"/>
          <p:cNvSpPr/>
          <p:nvPr/>
        </p:nvSpPr>
        <p:spPr>
          <a:xfrm>
            <a:off x="1930908"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monitor.png">    </p:cNvPr>
          <p:cNvPicPr>
            <a:picLocks noChangeAspect="1"/>
          </p:cNvPicPr>
          <p:nvPr/>
        </p:nvPicPr>
        <p:blipFill>
          <a:blip r:embed="rId1"/>
          <a:stretch>
            <a:fillRect/>
          </a:stretch>
        </p:blipFill>
        <p:spPr>
          <a:xfrm>
            <a:off x="2110862" y="2136770"/>
            <a:ext cx="389900" cy="389900"/>
          </a:xfrm>
          <a:prstGeom prst="rect">
            <a:avLst/>
          </a:prstGeom>
        </p:spPr>
      </p:pic>
      <p:sp>
        <p:nvSpPr>
          <p:cNvPr id="7" name="Text 4"/>
          <p:cNvSpPr/>
          <p:nvPr/>
        </p:nvSpPr>
        <p:spPr>
          <a:xfrm>
            <a:off x="749808" y="2880360"/>
            <a:ext cx="3112008" cy="566928"/>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Dioxus</a:t>
            </a:r>
            <a:endParaRPr lang="en-US" sz="1600" dirty="0"/>
          </a:p>
        </p:txBody>
      </p:sp>
      <p:sp>
        <p:nvSpPr>
          <p:cNvPr id="8" name="Text 5"/>
          <p:cNvSpPr/>
          <p:nvPr/>
        </p:nvSpPr>
        <p:spPr>
          <a:xfrm>
            <a:off x="768096"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React, in Rust: components + hooks, compiled to wasm. Powers the shipped web client (~10k lines, procedural audio included), the desktop shell via its webview, AND the new graphical Campaign Studio — another Dioxus app in the same workspace, reusing the campaign compiler crate directly. Honest note: GUI is the youngest corner of the ecosystem, and it shows.</a:t>
            </a:r>
            <a:endParaRPr lang="en-US" sz="1150" dirty="0"/>
          </a:p>
        </p:txBody>
      </p:sp>
      <p:sp>
        <p:nvSpPr>
          <p:cNvPr id="9" name="Shape 6"/>
          <p:cNvSpPr/>
          <p:nvPr/>
        </p:nvSpPr>
        <p:spPr>
          <a:xfrm>
            <a:off x="4337304" y="1645920"/>
            <a:ext cx="3514344" cy="3794760"/>
          </a:xfrm>
          <a:prstGeom prst="roundRect">
            <a:avLst>
              <a:gd name="adj" fmla="val 1821"/>
            </a:avLst>
          </a:prstGeom>
          <a:solidFill>
            <a:srgbClr val="221C31"/>
          </a:solidFill>
          <a:ln w="9525">
            <a:solidFill>
              <a:srgbClr val="3A3152"/>
            </a:solidFill>
            <a:prstDash val="solid"/>
          </a:ln>
        </p:spPr>
      </p:sp>
      <p:sp>
        <p:nvSpPr>
          <p:cNvPr id="10" name="Shape 7"/>
          <p:cNvSpPr/>
          <p:nvPr/>
        </p:nvSpPr>
        <p:spPr>
          <a:xfrm>
            <a:off x="5719572"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code.png">    </p:cNvPr>
          <p:cNvPicPr>
            <a:picLocks noChangeAspect="1"/>
          </p:cNvPicPr>
          <p:nvPr/>
        </p:nvPicPr>
        <p:blipFill>
          <a:blip r:embed="rId2"/>
          <a:stretch>
            <a:fillRect/>
          </a:stretch>
        </p:blipFill>
        <p:spPr>
          <a:xfrm>
            <a:off x="5899526" y="2136770"/>
            <a:ext cx="389900" cy="389900"/>
          </a:xfrm>
          <a:prstGeom prst="rect">
            <a:avLst/>
          </a:prstGeom>
        </p:spPr>
      </p:pic>
      <p:sp>
        <p:nvSpPr>
          <p:cNvPr id="12" name="Text 8"/>
          <p:cNvSpPr/>
          <p:nvPr/>
        </p:nvSpPr>
        <p:spPr>
          <a:xfrm>
            <a:off x="4538472" y="2880360"/>
            <a:ext cx="3112008" cy="566928"/>
          </a:xfrm>
          <a:prstGeom prst="rect">
            <a:avLst/>
          </a:prstGeom>
          <a:noFill/>
          <a:ln/>
        </p:spPr>
        <p:txBody>
          <a:bodyPr wrap="square" lIns="0" tIns="0" rIns="0" bIns="0" rtlCol="0" anchor="ctr"/>
          <a:lstStyle/>
          <a:p>
            <a:pPr algn="ctr" indent="0" marL="0">
              <a:buNone/>
            </a:pPr>
            <a:r>
              <a:rPr lang="en-US" sz="1600" b="1" dirty="0">
                <a:solidFill>
                  <a:srgbClr val="C9A227"/>
                </a:solidFill>
                <a:latin typeface="Courier New" pitchFamily="34" charset="0"/>
                <a:ea typeface="Courier New" pitchFamily="34" charset="-122"/>
                <a:cs typeface="Courier New" pitchFamily="34" charset="-120"/>
              </a:rPr>
              <a:t>wasm-bindgen</a:t>
            </a:r>
            <a:endParaRPr lang="en-US" sz="1600" dirty="0"/>
          </a:p>
        </p:txBody>
      </p:sp>
      <p:sp>
        <p:nvSpPr>
          <p:cNvPr id="13" name="Text 9"/>
          <p:cNvSpPr/>
          <p:nvPr/>
        </p:nvSpPr>
        <p:spPr>
          <a:xfrm>
            <a:off x="4556760"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The standard Rust↔JavaScript bridge. This repo keeps the boundary radical: one stateful handle, nothing but JSON strings across the seam — a ~260-line crate any JS host can drive.</a:t>
            </a:r>
            <a:endParaRPr lang="en-US" sz="1150" dirty="0"/>
          </a:p>
        </p:txBody>
      </p:sp>
      <p:sp>
        <p:nvSpPr>
          <p:cNvPr id="14" name="Shape 10"/>
          <p:cNvSpPr/>
          <p:nvPr/>
        </p:nvSpPr>
        <p:spPr>
          <a:xfrm>
            <a:off x="8125968" y="1645920"/>
            <a:ext cx="3514344" cy="3794760"/>
          </a:xfrm>
          <a:prstGeom prst="roundRect">
            <a:avLst>
              <a:gd name="adj" fmla="val 1821"/>
            </a:avLst>
          </a:prstGeom>
          <a:solidFill>
            <a:srgbClr val="221C31"/>
          </a:solidFill>
          <a:ln w="9525">
            <a:solidFill>
              <a:srgbClr val="3A3152"/>
            </a:solidFill>
            <a:prstDash val="solid"/>
          </a:ln>
        </p:spPr>
      </p:sp>
      <p:sp>
        <p:nvSpPr>
          <p:cNvPr id="15" name="Shape 11"/>
          <p:cNvSpPr/>
          <p:nvPr/>
        </p:nvSpPr>
        <p:spPr>
          <a:xfrm>
            <a:off x="9508236"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cpu_gold.png">    </p:cNvPr>
          <p:cNvPicPr>
            <a:picLocks noChangeAspect="1"/>
          </p:cNvPicPr>
          <p:nvPr/>
        </p:nvPicPr>
        <p:blipFill>
          <a:blip r:embed="rId3"/>
          <a:stretch>
            <a:fillRect/>
          </a:stretch>
        </p:blipFill>
        <p:spPr>
          <a:xfrm>
            <a:off x="9688190" y="2136770"/>
            <a:ext cx="389900" cy="389900"/>
          </a:xfrm>
          <a:prstGeom prst="rect">
            <a:avLst/>
          </a:prstGeom>
        </p:spPr>
      </p:pic>
      <p:sp>
        <p:nvSpPr>
          <p:cNvPr id="17" name="Text 12"/>
          <p:cNvSpPr/>
          <p:nvPr/>
        </p:nvSpPr>
        <p:spPr>
          <a:xfrm>
            <a:off x="8327136" y="2880360"/>
            <a:ext cx="3112008" cy="566928"/>
          </a:xfrm>
          <a:prstGeom prst="rect">
            <a:avLst/>
          </a:prstGeom>
          <a:noFill/>
          <a:ln/>
        </p:spPr>
        <p:txBody>
          <a:bodyPr wrap="square" lIns="0" tIns="0" rIns="0" bIns="0" rtlCol="0" anchor="ctr"/>
          <a:lstStyle/>
          <a:p>
            <a:pPr algn="ctr" indent="0" marL="0">
              <a:buNone/>
            </a:pPr>
            <a:r>
              <a:rPr lang="en-US" sz="1600" b="1" dirty="0">
                <a:solidFill>
                  <a:srgbClr val="C9A227"/>
                </a:solidFill>
                <a:latin typeface="Courier New" pitchFamily="34" charset="0"/>
                <a:ea typeface="Courier New" pitchFamily="34" charset="-122"/>
                <a:cs typeface="Courier New" pitchFamily="34" charset="-120"/>
              </a:rPr>
              <a:t>no_std + alloc</a:t>
            </a:r>
            <a:endParaRPr lang="en-US" sz="1600" dirty="0"/>
          </a:p>
        </p:txBody>
      </p:sp>
      <p:sp>
        <p:nvSpPr>
          <p:cNvPr id="18" name="Text 13"/>
          <p:cNvSpPr/>
          <p:nvPr/>
        </p:nvSpPr>
        <p:spPr>
          <a:xfrm>
            <a:off x="8345424" y="3520440"/>
            <a:ext cx="3075432" cy="173736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The core opts out of the standard library (no OS assumptions), keeping only heap allocation. Not embedded-cosplay: it is what lets the identical engine serve the browser and the serial-line hardware controller — and CI builds that configuration on every commit.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4 — ASIDE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Web app vs. native app: one UI, two shells</a:t>
            </a:r>
            <a:endParaRPr lang="en-US" sz="3000" dirty="0"/>
          </a:p>
        </p:txBody>
      </p:sp>
      <p:sp>
        <p:nvSpPr>
          <p:cNvPr id="4" name="Shape 2"/>
          <p:cNvSpPr/>
          <p:nvPr/>
        </p:nvSpPr>
        <p:spPr>
          <a:xfrm>
            <a:off x="548640" y="1554480"/>
            <a:ext cx="5440680" cy="2834640"/>
          </a:xfrm>
          <a:prstGeom prst="roundRect">
            <a:avLst>
              <a:gd name="adj" fmla="val 2258"/>
            </a:avLst>
          </a:prstGeom>
          <a:solidFill>
            <a:srgbClr val="221C31"/>
          </a:solidFill>
          <a:ln w="9525">
            <a:solidFill>
              <a:srgbClr val="3A3152"/>
            </a:solidFill>
            <a:prstDash val="solid"/>
          </a:ln>
        </p:spPr>
      </p:sp>
      <p:sp>
        <p:nvSpPr>
          <p:cNvPr id="5" name="Shape 3"/>
          <p:cNvSpPr/>
          <p:nvPr/>
        </p:nvSpPr>
        <p:spPr>
          <a:xfrm>
            <a:off x="1074420" y="1805940"/>
            <a:ext cx="685800" cy="685800"/>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monitor.png">    </p:cNvPr>
          <p:cNvPicPr>
            <a:picLocks noChangeAspect="1"/>
          </p:cNvPicPr>
          <p:nvPr/>
        </p:nvPicPr>
        <p:blipFill>
          <a:blip r:embed="rId1"/>
          <a:stretch>
            <a:fillRect/>
          </a:stretch>
        </p:blipFill>
        <p:spPr>
          <a:xfrm>
            <a:off x="1239012" y="1970532"/>
            <a:ext cx="356616" cy="356616"/>
          </a:xfrm>
          <a:prstGeom prst="rect">
            <a:avLst/>
          </a:prstGeom>
        </p:spPr>
      </p:pic>
      <p:sp>
        <p:nvSpPr>
          <p:cNvPr id="7" name="Text 4"/>
          <p:cNvSpPr/>
          <p:nvPr/>
        </p:nvSpPr>
        <p:spPr>
          <a:xfrm>
            <a:off x="1920240" y="1920240"/>
            <a:ext cx="3840480" cy="457200"/>
          </a:xfrm>
          <a:prstGeom prst="rect">
            <a:avLst/>
          </a:prstGeom>
          <a:noFill/>
          <a:ln/>
        </p:spPr>
        <p:txBody>
          <a:bodyPr wrap="square" lIns="0" tIns="0" rIns="0" bIns="0" rtlCol="0" anchor="ctr"/>
          <a:lstStyle/>
          <a:p>
            <a:pPr algn="ctr" indent="0" marL="0">
              <a:buNone/>
            </a:pPr>
            <a:r>
              <a:rPr lang="en-US" sz="1300" b="1" spc="200" kern="0" dirty="0">
                <a:solidFill>
                  <a:srgbClr val="C9A227"/>
                </a:solidFill>
                <a:latin typeface="Calibri" pitchFamily="34" charset="0"/>
                <a:ea typeface="Calibri" pitchFamily="34" charset="-122"/>
                <a:cs typeface="Calibri" pitchFamily="34" charset="-120"/>
              </a:rPr>
              <a:t>THE WEB APP</a:t>
            </a:r>
            <a:endParaRPr lang="en-US" sz="1300" dirty="0"/>
          </a:p>
        </p:txBody>
      </p:sp>
      <p:sp>
        <p:nvSpPr>
          <p:cNvPr id="8" name="Text 5"/>
          <p:cNvSpPr/>
          <p:nvPr/>
        </p:nvSpPr>
        <p:spPr>
          <a:xfrm>
            <a:off x="914400" y="2697480"/>
            <a:ext cx="4709160" cy="1463040"/>
          </a:xfrm>
          <a:prstGeom prst="rect">
            <a:avLst/>
          </a:prstGeom>
          <a:noFill/>
          <a:ln/>
        </p:spPr>
        <p:txBody>
          <a:bodyPr wrap="square" lIns="0" tIns="0" rIns="0" bIns="0" rtlCol="0" anchor="t"/>
          <a:lstStyle/>
          <a:p>
            <a:pPr indent="0" marL="0">
              <a:buNone/>
            </a:pPr>
            <a:r>
              <a:rPr lang="en-US" sz="1250" dirty="0">
                <a:solidFill>
                  <a:srgbClr val="9A92A8"/>
                </a:solidFill>
                <a:latin typeface="Calibri" pitchFamily="34" charset="0"/>
                <a:ea typeface="Calibri" pitchFamily="34" charset="-122"/>
                <a:cs typeface="Calibri" pitchFamily="34" charset="-120"/>
              </a:rPr>
              <a:t>The UI crate compiled to wasm; Dioxus renders the components into the browser's own page. Nothing installed — the browser is the runtime.</a:t>
            </a:r>
            <a:endParaRPr lang="en-US" sz="1250" dirty="0"/>
          </a:p>
        </p:txBody>
      </p:sp>
      <p:sp>
        <p:nvSpPr>
          <p:cNvPr id="9" name="Shape 6"/>
          <p:cNvSpPr/>
          <p:nvPr/>
        </p:nvSpPr>
        <p:spPr>
          <a:xfrm>
            <a:off x="6199632" y="1554480"/>
            <a:ext cx="5440680" cy="2834640"/>
          </a:xfrm>
          <a:prstGeom prst="roundRect">
            <a:avLst>
              <a:gd name="adj" fmla="val 2258"/>
            </a:avLst>
          </a:prstGeom>
          <a:solidFill>
            <a:srgbClr val="221C31"/>
          </a:solidFill>
          <a:ln w="9525">
            <a:solidFill>
              <a:srgbClr val="3A3152"/>
            </a:solidFill>
            <a:prstDash val="solid"/>
          </a:ln>
        </p:spPr>
      </p:sp>
      <p:sp>
        <p:nvSpPr>
          <p:cNvPr id="10" name="Shape 7"/>
          <p:cNvSpPr/>
          <p:nvPr/>
        </p:nvSpPr>
        <p:spPr>
          <a:xfrm>
            <a:off x="6725412" y="1805940"/>
            <a:ext cx="685800" cy="685800"/>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harddrive.png">    </p:cNvPr>
          <p:cNvPicPr>
            <a:picLocks noChangeAspect="1"/>
          </p:cNvPicPr>
          <p:nvPr/>
        </p:nvPicPr>
        <p:blipFill>
          <a:blip r:embed="rId2"/>
          <a:stretch>
            <a:fillRect/>
          </a:stretch>
        </p:blipFill>
        <p:spPr>
          <a:xfrm>
            <a:off x="6890004" y="1970532"/>
            <a:ext cx="356616" cy="356616"/>
          </a:xfrm>
          <a:prstGeom prst="rect">
            <a:avLst/>
          </a:prstGeom>
        </p:spPr>
      </p:pic>
      <p:sp>
        <p:nvSpPr>
          <p:cNvPr id="12" name="Text 8"/>
          <p:cNvSpPr/>
          <p:nvPr/>
        </p:nvSpPr>
        <p:spPr>
          <a:xfrm>
            <a:off x="7571232" y="1920240"/>
            <a:ext cx="3840480" cy="457200"/>
          </a:xfrm>
          <a:prstGeom prst="rect">
            <a:avLst/>
          </a:prstGeom>
          <a:noFill/>
          <a:ln/>
        </p:spPr>
        <p:txBody>
          <a:bodyPr wrap="square" lIns="0" tIns="0" rIns="0" bIns="0" rtlCol="0" anchor="ctr"/>
          <a:lstStyle/>
          <a:p>
            <a:pPr algn="ctr" indent="0" marL="0">
              <a:buNone/>
            </a:pPr>
            <a:r>
              <a:rPr lang="en-US" sz="1300" b="1" spc="200" kern="0" dirty="0">
                <a:solidFill>
                  <a:srgbClr val="C9A227"/>
                </a:solidFill>
                <a:latin typeface="Calibri" pitchFamily="34" charset="0"/>
                <a:ea typeface="Calibri" pitchFamily="34" charset="-122"/>
                <a:cs typeface="Calibri" pitchFamily="34" charset="-120"/>
              </a:rPr>
              <a:t>THE NATIVE APP</a:t>
            </a:r>
            <a:endParaRPr lang="en-US" sz="1300" dirty="0"/>
          </a:p>
        </p:txBody>
      </p:sp>
      <p:sp>
        <p:nvSpPr>
          <p:cNvPr id="13" name="Text 9"/>
          <p:cNvSpPr/>
          <p:nvPr/>
        </p:nvSpPr>
        <p:spPr>
          <a:xfrm>
            <a:off x="6565392" y="2697480"/>
            <a:ext cx="4709160" cy="1600200"/>
          </a:xfrm>
          <a:prstGeom prst="rect">
            <a:avLst/>
          </a:prstGeom>
          <a:noFill/>
          <a:ln/>
        </p:spPr>
        <p:txBody>
          <a:bodyPr wrap="square" lIns="0" tIns="0" rIns="0" bIns="0" rtlCol="0" anchor="t"/>
          <a:lstStyle/>
          <a:p>
            <a:pPr indent="0" marL="0">
              <a:buNone/>
            </a:pPr>
            <a:r>
              <a:rPr lang="en-US" sz="1250" dirty="0">
                <a:solidFill>
                  <a:srgbClr val="9A92A8"/>
                </a:solidFill>
                <a:latin typeface="Calibri" pitchFamily="34" charset="0"/>
                <a:ea typeface="Calibri" pitchFamily="34" charset="-122"/>
                <a:cs typeface="Calibri" pitchFamily="34" charset="-120"/>
              </a:rPr>
              <a:t>The SAME crate — same components, same hooks — with Dioxus's desktop renderer: a native window drawing into the OS's built-in webview. Not Electron: no bundled browser, small binary; the trade is linking system GUI libraries (hence the workspace quarantine). Installers via one dx bundle command.</a:t>
            </a:r>
            <a:endParaRPr lang="en-US" sz="1250" dirty="0"/>
          </a:p>
        </p:txBody>
      </p:sp>
      <p:sp>
        <p:nvSpPr>
          <p:cNvPr id="14" name="Shape 10"/>
          <p:cNvSpPr/>
          <p:nvPr/>
        </p:nvSpPr>
        <p:spPr>
          <a:xfrm>
            <a:off x="548640" y="4572000"/>
            <a:ext cx="11091672" cy="960120"/>
          </a:xfrm>
          <a:prstGeom prst="roundRect">
            <a:avLst>
              <a:gd name="adj" fmla="val 6667"/>
            </a:avLst>
          </a:prstGeom>
          <a:solidFill>
            <a:srgbClr val="2B2342"/>
          </a:solidFill>
          <a:ln w="9525">
            <a:solidFill>
              <a:srgbClr val="3A3152"/>
            </a:solidFill>
            <a:prstDash val="solid"/>
          </a:ln>
        </p:spPr>
      </p:sp>
      <p:sp>
        <p:nvSpPr>
          <p:cNvPr id="15" name="Text 11"/>
          <p:cNvSpPr/>
          <p:nvPr/>
        </p:nvSpPr>
        <p:spPr>
          <a:xfrm>
            <a:off x="822960" y="4645152"/>
            <a:ext cx="10543032" cy="822960"/>
          </a:xfrm>
          <a:prstGeom prst="rect">
            <a:avLst/>
          </a:prstGeom>
          <a:noFill/>
          <a:ln/>
        </p:spPr>
        <p:txBody>
          <a:bodyPr wrap="square" lIns="0" tIns="0" rIns="0" bIns="0" rtlCol="0" anchor="ctr"/>
          <a:lstStyle/>
          <a:p>
            <a:pPr algn="ctr" indent="0" marL="0">
              <a:buNone/>
            </a:pPr>
            <a:r>
              <a:rPr lang="en-US" sz="1350" dirty="0">
                <a:solidFill>
                  <a:srgbClr val="E9E2D0"/>
                </a:solidFill>
                <a:latin typeface="Calibri" pitchFamily="34" charset="0"/>
                <a:ea typeface="Calibri" pitchFamily="34" charset="-122"/>
                <a:cs typeface="Calibri" pitchFamily="34" charset="-120"/>
              </a:rPr>
              <a:t>The switch is a feature flag (native-app); the few real platform concerns are injected behind a small hook.</a:t>
            </a:r>
            <a:endParaRPr lang="en-US" sz="1350" dirty="0"/>
          </a:p>
          <a:p>
            <a:pPr algn="ctr" indent="0" marL="0">
              <a:buNone/>
            </a:pPr>
            <a:r>
              <a:rPr lang="en-US" sz="1350" dirty="0">
                <a:solidFill>
                  <a:srgbClr val="E9E2D0"/>
                </a:solidFill>
                <a:latin typeface="Calibri" pitchFamily="34" charset="0"/>
                <a:ea typeface="Calibri" pitchFamily="34" charset="-122"/>
                <a:cs typeface="Calibri" pitchFamily="34" charset="-120"/>
              </a:rPr>
              <a:t>The UI code never asks "am I a desktop app?"</a:t>
            </a:r>
            <a:endParaRPr lang="en-US" sz="1350" dirty="0"/>
          </a:p>
        </p:txBody>
      </p:sp>
      <p:sp>
        <p:nvSpPr>
          <p:cNvPr id="16" name="Text 12"/>
          <p:cNvSpPr/>
          <p:nvPr/>
        </p:nvSpPr>
        <p:spPr>
          <a:xfrm>
            <a:off x="822960" y="5760720"/>
            <a:ext cx="10543032" cy="548640"/>
          </a:xfrm>
          <a:prstGeom prst="rect">
            <a:avLst/>
          </a:prstGeom>
          <a:noFill/>
          <a:ln/>
        </p:spPr>
        <p:txBody>
          <a:bodyPr wrap="square" lIns="0" tIns="0" rIns="0" bIns="0" rtlCol="0" anchor="ctr"/>
          <a:lstStyle/>
          <a:p>
            <a:pPr algn="ctr" indent="0" marL="0">
              <a:buNone/>
            </a:pPr>
            <a:r>
              <a:rPr lang="en-US" sz="1250" i="1" dirty="0">
                <a:solidFill>
                  <a:srgbClr val="9A92A8"/>
                </a:solidFill>
                <a:latin typeface="Calibri" pitchFamily="34" charset="0"/>
                <a:ea typeface="Calibri" pitchFamily="34" charset="-122"/>
                <a:cs typeface="Calibri" pitchFamily="34" charset="-120"/>
              </a:rPr>
              <a:t>Honest asterisks: desktop is single-player-only today, audio pending a native backend. One codebase means the RULES arrive everywhere — not every feature at once.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5 — WHAT RUST BOUGHT THIS PROJECT</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Language features doing architectural work</a:t>
            </a:r>
            <a:endParaRPr lang="en-US" sz="3000" dirty="0"/>
          </a:p>
        </p:txBody>
      </p:sp>
      <p:sp>
        <p:nvSpPr>
          <p:cNvPr id="4" name="Shape 2"/>
          <p:cNvSpPr/>
          <p:nvPr/>
        </p:nvSpPr>
        <p:spPr>
          <a:xfrm>
            <a:off x="548640" y="1572768"/>
            <a:ext cx="11091672" cy="941832"/>
          </a:xfrm>
          <a:prstGeom prst="roundRect">
            <a:avLst>
              <a:gd name="adj" fmla="val 6796"/>
            </a:avLst>
          </a:prstGeom>
          <a:solidFill>
            <a:srgbClr val="221C31"/>
          </a:solidFill>
          <a:ln w="9525">
            <a:solidFill>
              <a:srgbClr val="3A3152"/>
            </a:solidFill>
            <a:prstDash val="solid"/>
          </a:ln>
        </p:spPr>
      </p:sp>
      <p:sp>
        <p:nvSpPr>
          <p:cNvPr id="5" name="Text 3"/>
          <p:cNvSpPr/>
          <p:nvPr/>
        </p:nvSpPr>
        <p:spPr>
          <a:xfrm>
            <a:off x="868680" y="1664208"/>
            <a:ext cx="3566160" cy="77724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Closed enums + exhaustive matching</a:t>
            </a:r>
            <a:endParaRPr lang="en-US" sz="1450" dirty="0"/>
          </a:p>
        </p:txBody>
      </p:sp>
      <p:sp>
        <p:nvSpPr>
          <p:cNvPr id="6" name="Text 4"/>
          <p:cNvSpPr/>
          <p:nvPr/>
        </p:nvSpPr>
        <p:spPr>
          <a:xfrm>
            <a:off x="4572000" y="1645920"/>
            <a:ext cx="6812280" cy="822960"/>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The enum-plus-match from Part 2, at architectural scale: the command set and effect set are enums; match must handle every variant or the build fails. Add a command → the compiler hands you a to-do list.</a:t>
            </a:r>
            <a:endParaRPr lang="en-US" sz="1150" dirty="0"/>
          </a:p>
        </p:txBody>
      </p:sp>
      <p:sp>
        <p:nvSpPr>
          <p:cNvPr id="7" name="Shape 5"/>
          <p:cNvSpPr/>
          <p:nvPr/>
        </p:nvSpPr>
        <p:spPr>
          <a:xfrm>
            <a:off x="548640" y="2651760"/>
            <a:ext cx="11091672" cy="941832"/>
          </a:xfrm>
          <a:prstGeom prst="roundRect">
            <a:avLst>
              <a:gd name="adj" fmla="val 6796"/>
            </a:avLst>
          </a:prstGeom>
          <a:solidFill>
            <a:srgbClr val="221C31"/>
          </a:solidFill>
          <a:ln w="9525">
            <a:solidFill>
              <a:srgbClr val="3A3152"/>
            </a:solidFill>
            <a:prstDash val="solid"/>
          </a:ln>
        </p:spPr>
      </p:sp>
      <p:sp>
        <p:nvSpPr>
          <p:cNvPr id="8" name="Text 6"/>
          <p:cNvSpPr/>
          <p:nvPr/>
        </p:nvSpPr>
        <p:spPr>
          <a:xfrm>
            <a:off x="868680" y="2743200"/>
            <a:ext cx="3566160" cy="77724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Branded id types, zero cost</a:t>
            </a:r>
            <a:endParaRPr lang="en-US" sz="1450" dirty="0"/>
          </a:p>
        </p:txBody>
      </p:sp>
      <p:sp>
        <p:nvSpPr>
          <p:cNvPr id="9" name="Text 7"/>
          <p:cNvSpPr/>
          <p:nvPr/>
        </p:nvSpPr>
        <p:spPr>
          <a:xfrm>
            <a:off x="4572000" y="2724912"/>
            <a:ext cx="6812280" cy="822960"/>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A RoomId and a CharacterId are both strings underneath, but the type system treats them as incompatible — and the wrapper vanishes at runtime. A bug family deleted, for free.</a:t>
            </a:r>
            <a:endParaRPr lang="en-US" sz="1150" dirty="0"/>
          </a:p>
        </p:txBody>
      </p:sp>
      <p:sp>
        <p:nvSpPr>
          <p:cNvPr id="10" name="Shape 8"/>
          <p:cNvSpPr/>
          <p:nvPr/>
        </p:nvSpPr>
        <p:spPr>
          <a:xfrm>
            <a:off x="548640" y="3730752"/>
            <a:ext cx="11091672" cy="941832"/>
          </a:xfrm>
          <a:prstGeom prst="roundRect">
            <a:avLst>
              <a:gd name="adj" fmla="val 6796"/>
            </a:avLst>
          </a:prstGeom>
          <a:solidFill>
            <a:srgbClr val="221C31"/>
          </a:solidFill>
          <a:ln w="9525">
            <a:solidFill>
              <a:srgbClr val="3A3152"/>
            </a:solidFill>
            <a:prstDash val="solid"/>
          </a:ln>
        </p:spPr>
      </p:sp>
      <p:sp>
        <p:nvSpPr>
          <p:cNvPr id="11" name="Text 9"/>
          <p:cNvSpPr/>
          <p:nvPr/>
        </p:nvSpPr>
        <p:spPr>
          <a:xfrm>
            <a:off x="868680" y="3822192"/>
            <a:ext cx="3566160" cy="77724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Traits as the extension idiom</a:t>
            </a:r>
            <a:endParaRPr lang="en-US" sz="1450" dirty="0"/>
          </a:p>
        </p:txBody>
      </p:sp>
      <p:sp>
        <p:nvSpPr>
          <p:cNvPr id="12" name="Text 10"/>
          <p:cNvSpPr/>
          <p:nvPr/>
        </p:nvSpPr>
        <p:spPr>
          <a:xfrm>
            <a:off x="4572000" y="3803904"/>
            <a:ext cx="6812280" cy="822960"/>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Every extensible family — mechanics, doors, scenes, victory, items, encounters — is one trait + a lookup table + a scripted fallback. Six times the same idiom, compiler-enforced each time.</a:t>
            </a:r>
            <a:endParaRPr lang="en-US" sz="1150" dirty="0"/>
          </a:p>
        </p:txBody>
      </p:sp>
      <p:sp>
        <p:nvSpPr>
          <p:cNvPr id="13" name="Shape 11"/>
          <p:cNvSpPr/>
          <p:nvPr/>
        </p:nvSpPr>
        <p:spPr>
          <a:xfrm>
            <a:off x="548640" y="4809744"/>
            <a:ext cx="11091672" cy="941832"/>
          </a:xfrm>
          <a:prstGeom prst="roundRect">
            <a:avLst>
              <a:gd name="adj" fmla="val 6796"/>
            </a:avLst>
          </a:prstGeom>
          <a:solidFill>
            <a:srgbClr val="221C31"/>
          </a:solidFill>
          <a:ln w="9525">
            <a:solidFill>
              <a:srgbClr val="3A3152"/>
            </a:solidFill>
            <a:prstDash val="solid"/>
          </a:ln>
        </p:spPr>
      </p:sp>
      <p:sp>
        <p:nvSpPr>
          <p:cNvPr id="14" name="Text 12"/>
          <p:cNvSpPr/>
          <p:nvPr/>
        </p:nvSpPr>
        <p:spPr>
          <a:xfrm>
            <a:off x="868680" y="4901184"/>
            <a:ext cx="3566160" cy="777240"/>
          </a:xfrm>
          <a:prstGeom prst="rect">
            <a:avLst/>
          </a:prstGeom>
          <a:noFill/>
          <a:ln/>
        </p:spPr>
        <p:txBody>
          <a:bodyPr wrap="square" lIns="0" tIns="0" rIns="0" bIns="0" rtlCol="0" anchor="ctr"/>
          <a:lstStyle/>
          <a:p>
            <a:pPr indent="0" marL="0">
              <a:buNone/>
            </a:pPr>
            <a:r>
              <a:rPr lang="en-US" sz="1450" b="1" dirty="0">
                <a:solidFill>
                  <a:srgbClr val="E9E2D0"/>
                </a:solidFill>
                <a:latin typeface="Cambria" pitchFamily="34" charset="0"/>
                <a:ea typeface="Cambria" pitchFamily="34" charset="-122"/>
                <a:cs typeface="Cambria" pitchFamily="34" charset="-120"/>
              </a:rPr>
              <a:t>Ownership as custody</a:t>
            </a:r>
            <a:endParaRPr lang="en-US" sz="1450" dirty="0"/>
          </a:p>
        </p:txBody>
      </p:sp>
      <p:sp>
        <p:nvSpPr>
          <p:cNvPr id="15" name="Text 13"/>
          <p:cNvSpPr/>
          <p:nvPr/>
        </p:nvSpPr>
        <p:spPr>
          <a:xfrm>
            <a:off x="4572000" y="4882896"/>
            <a:ext cx="6812280" cy="822960"/>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The "no raw setters" rule is not a review convention: accessors are keyed by private types outside code cannot construct, and the ownership system from Part 2 makes that stick.</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5 — WHAT RUST BOUGHT THIS PROJECT</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honest costs</a:t>
            </a:r>
            <a:endParaRPr lang="en-US" sz="3000" dirty="0"/>
          </a:p>
        </p:txBody>
      </p:sp>
      <p:sp>
        <p:nvSpPr>
          <p:cNvPr id="4" name="Shape 2"/>
          <p:cNvSpPr/>
          <p:nvPr/>
        </p:nvSpPr>
        <p:spPr>
          <a:xfrm>
            <a:off x="548640" y="1645920"/>
            <a:ext cx="2567178" cy="3200400"/>
          </a:xfrm>
          <a:prstGeom prst="roundRect">
            <a:avLst>
              <a:gd name="adj" fmla="val 2493"/>
            </a:avLst>
          </a:prstGeom>
          <a:solidFill>
            <a:srgbClr val="221C31"/>
          </a:solidFill>
          <a:ln w="9525">
            <a:solidFill>
              <a:srgbClr val="3A3152"/>
            </a:solidFill>
            <a:prstDash val="solid"/>
          </a:ln>
        </p:spPr>
      </p:sp>
      <p:sp>
        <p:nvSpPr>
          <p:cNvPr id="5" name="Shape 3"/>
          <p:cNvSpPr/>
          <p:nvPr/>
        </p:nvSpPr>
        <p:spPr>
          <a:xfrm>
            <a:off x="1457325"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clock.png">    </p:cNvPr>
          <p:cNvPicPr>
            <a:picLocks noChangeAspect="1"/>
          </p:cNvPicPr>
          <p:nvPr/>
        </p:nvPicPr>
        <p:blipFill>
          <a:blip r:embed="rId1"/>
          <a:stretch>
            <a:fillRect/>
          </a:stretch>
        </p:blipFill>
        <p:spPr>
          <a:xfrm>
            <a:off x="1637279" y="2136770"/>
            <a:ext cx="389900" cy="389900"/>
          </a:xfrm>
          <a:prstGeom prst="rect">
            <a:avLst/>
          </a:prstGeom>
        </p:spPr>
      </p:pic>
      <p:sp>
        <p:nvSpPr>
          <p:cNvPr id="7" name="Text 4"/>
          <p:cNvSpPr/>
          <p:nvPr/>
        </p:nvSpPr>
        <p:spPr>
          <a:xfrm>
            <a:off x="749808" y="2880360"/>
            <a:ext cx="2164842" cy="566928"/>
          </a:xfrm>
          <a:prstGeom prst="rect">
            <a:avLst/>
          </a:prstGeom>
          <a:noFill/>
          <a:ln/>
        </p:spPr>
        <p:txBody>
          <a:bodyPr wrap="square" lIns="0" tIns="0" rIns="0" bIns="0" rtlCol="0" anchor="ctr"/>
          <a:lstStyle/>
          <a:p>
            <a:pPr algn="ctr" indent="0" marL="0">
              <a:buNone/>
            </a:pPr>
            <a:r>
              <a:rPr lang="en-US" sz="1450" b="1" dirty="0">
                <a:solidFill>
                  <a:srgbClr val="E9E2D0"/>
                </a:solidFill>
                <a:latin typeface="Cambria" pitchFamily="34" charset="0"/>
                <a:ea typeface="Cambria" pitchFamily="34" charset="-122"/>
                <a:cs typeface="Cambria" pitchFamily="34" charset="-120"/>
              </a:rPr>
              <a:t>Compile times</a:t>
            </a:r>
            <a:endParaRPr lang="en-US" sz="1450" dirty="0"/>
          </a:p>
        </p:txBody>
      </p:sp>
      <p:sp>
        <p:nvSpPr>
          <p:cNvPr id="8" name="Text 5"/>
          <p:cNvSpPr/>
          <p:nvPr/>
        </p:nvSpPr>
        <p:spPr>
          <a:xfrm>
            <a:off x="768096" y="3566160"/>
            <a:ext cx="2128266" cy="109728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A ten-crate workspace with a wasm UI is not an instant build. Incremental is fine; clean builds cost minutes.</a:t>
            </a:r>
            <a:endParaRPr lang="en-US" sz="1150" dirty="0"/>
          </a:p>
        </p:txBody>
      </p:sp>
      <p:sp>
        <p:nvSpPr>
          <p:cNvPr id="9" name="Shape 6"/>
          <p:cNvSpPr/>
          <p:nvPr/>
        </p:nvSpPr>
        <p:spPr>
          <a:xfrm>
            <a:off x="3390138" y="1645920"/>
            <a:ext cx="2567178" cy="3200400"/>
          </a:xfrm>
          <a:prstGeom prst="roundRect">
            <a:avLst>
              <a:gd name="adj" fmla="val 2493"/>
            </a:avLst>
          </a:prstGeom>
          <a:solidFill>
            <a:srgbClr val="221C31"/>
          </a:solidFill>
          <a:ln w="9525">
            <a:solidFill>
              <a:srgbClr val="3A3152"/>
            </a:solidFill>
            <a:prstDash val="solid"/>
          </a:ln>
        </p:spPr>
      </p:sp>
      <p:sp>
        <p:nvSpPr>
          <p:cNvPr id="10" name="Shape 7"/>
          <p:cNvSpPr/>
          <p:nvPr/>
        </p:nvSpPr>
        <p:spPr>
          <a:xfrm>
            <a:off x="4298823"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alert.png">    </p:cNvPr>
          <p:cNvPicPr>
            <a:picLocks noChangeAspect="1"/>
          </p:cNvPicPr>
          <p:nvPr/>
        </p:nvPicPr>
        <p:blipFill>
          <a:blip r:embed="rId2"/>
          <a:stretch>
            <a:fillRect/>
          </a:stretch>
        </p:blipFill>
        <p:spPr>
          <a:xfrm>
            <a:off x="4478777" y="2136770"/>
            <a:ext cx="389900" cy="389900"/>
          </a:xfrm>
          <a:prstGeom prst="rect">
            <a:avLst/>
          </a:prstGeom>
        </p:spPr>
      </p:pic>
      <p:sp>
        <p:nvSpPr>
          <p:cNvPr id="12" name="Text 8"/>
          <p:cNvSpPr/>
          <p:nvPr/>
        </p:nvSpPr>
        <p:spPr>
          <a:xfrm>
            <a:off x="3591306" y="2880360"/>
            <a:ext cx="2164842" cy="566928"/>
          </a:xfrm>
          <a:prstGeom prst="rect">
            <a:avLst/>
          </a:prstGeom>
          <a:noFill/>
          <a:ln/>
        </p:spPr>
        <p:txBody>
          <a:bodyPr wrap="square" lIns="0" tIns="0" rIns="0" bIns="0" rtlCol="0" anchor="ctr"/>
          <a:lstStyle/>
          <a:p>
            <a:pPr algn="ctr" indent="0" marL="0">
              <a:buNone/>
            </a:pPr>
            <a:r>
              <a:rPr lang="en-US" sz="1450" b="1" dirty="0">
                <a:solidFill>
                  <a:srgbClr val="E9E2D0"/>
                </a:solidFill>
                <a:latin typeface="Cambria" pitchFamily="34" charset="0"/>
                <a:ea typeface="Cambria" pitchFamily="34" charset="-122"/>
                <a:cs typeface="Cambria" pitchFamily="34" charset="-120"/>
              </a:rPr>
              <a:t>The learning curve</a:t>
            </a:r>
            <a:endParaRPr lang="en-US" sz="1450" dirty="0"/>
          </a:p>
        </p:txBody>
      </p:sp>
      <p:sp>
        <p:nvSpPr>
          <p:cNvPr id="13" name="Text 9"/>
          <p:cNvSpPr/>
          <p:nvPr/>
        </p:nvSpPr>
        <p:spPr>
          <a:xfrm>
            <a:off x="3609594" y="3566160"/>
            <a:ext cx="2128266" cy="109728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The borrow checker genuinely fights you for the first weeks. The fight is front-loaded and it ends — but it is real.</a:t>
            </a:r>
            <a:endParaRPr lang="en-US" sz="1150" dirty="0"/>
          </a:p>
        </p:txBody>
      </p:sp>
      <p:sp>
        <p:nvSpPr>
          <p:cNvPr id="14" name="Shape 10"/>
          <p:cNvSpPr/>
          <p:nvPr/>
        </p:nvSpPr>
        <p:spPr>
          <a:xfrm>
            <a:off x="6231636" y="1645920"/>
            <a:ext cx="2567178" cy="3200400"/>
          </a:xfrm>
          <a:prstGeom prst="roundRect">
            <a:avLst>
              <a:gd name="adj" fmla="val 2493"/>
            </a:avLst>
          </a:prstGeom>
          <a:solidFill>
            <a:srgbClr val="221C31"/>
          </a:solidFill>
          <a:ln w="9525">
            <a:solidFill>
              <a:srgbClr val="3A3152"/>
            </a:solidFill>
            <a:prstDash val="solid"/>
          </a:ln>
        </p:spPr>
      </p:sp>
      <p:sp>
        <p:nvSpPr>
          <p:cNvPr id="15" name="Shape 11"/>
          <p:cNvSpPr/>
          <p:nvPr/>
        </p:nvSpPr>
        <p:spPr>
          <a:xfrm>
            <a:off x="7140321"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monitor.png">    </p:cNvPr>
          <p:cNvPicPr>
            <a:picLocks noChangeAspect="1"/>
          </p:cNvPicPr>
          <p:nvPr/>
        </p:nvPicPr>
        <p:blipFill>
          <a:blip r:embed="rId3"/>
          <a:stretch>
            <a:fillRect/>
          </a:stretch>
        </p:blipFill>
        <p:spPr>
          <a:xfrm>
            <a:off x="7320275" y="2136770"/>
            <a:ext cx="389900" cy="389900"/>
          </a:xfrm>
          <a:prstGeom prst="rect">
            <a:avLst/>
          </a:prstGeom>
        </p:spPr>
      </p:pic>
      <p:sp>
        <p:nvSpPr>
          <p:cNvPr id="17" name="Text 12"/>
          <p:cNvSpPr/>
          <p:nvPr/>
        </p:nvSpPr>
        <p:spPr>
          <a:xfrm>
            <a:off x="6432804" y="2880360"/>
            <a:ext cx="2164842" cy="566928"/>
          </a:xfrm>
          <a:prstGeom prst="rect">
            <a:avLst/>
          </a:prstGeom>
          <a:noFill/>
          <a:ln/>
        </p:spPr>
        <p:txBody>
          <a:bodyPr wrap="square" lIns="0" tIns="0" rIns="0" bIns="0" rtlCol="0" anchor="ctr"/>
          <a:lstStyle/>
          <a:p>
            <a:pPr algn="ctr" indent="0" marL="0">
              <a:buNone/>
            </a:pPr>
            <a:r>
              <a:rPr lang="en-US" sz="1450" b="1" dirty="0">
                <a:solidFill>
                  <a:srgbClr val="E9E2D0"/>
                </a:solidFill>
                <a:latin typeface="Cambria" pitchFamily="34" charset="0"/>
                <a:ea typeface="Cambria" pitchFamily="34" charset="-122"/>
                <a:cs typeface="Cambria" pitchFamily="34" charset="-120"/>
              </a:rPr>
              <a:t>GUI ecosystem youth</a:t>
            </a:r>
            <a:endParaRPr lang="en-US" sz="1450" dirty="0"/>
          </a:p>
        </p:txBody>
      </p:sp>
      <p:sp>
        <p:nvSpPr>
          <p:cNvPr id="18" name="Text 13"/>
          <p:cNvSpPr/>
          <p:nvPr/>
        </p:nvSpPr>
        <p:spPr>
          <a:xfrm>
            <a:off x="6451092" y="3566160"/>
            <a:ext cx="2128266" cy="109728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Dioxus moves fast, which cuts both ways — and the desktop shell's system-library linkage hurt enough to be quarantined outside the workspace.</a:t>
            </a:r>
            <a:endParaRPr lang="en-US" sz="1150" dirty="0"/>
          </a:p>
        </p:txBody>
      </p:sp>
      <p:sp>
        <p:nvSpPr>
          <p:cNvPr id="19" name="Shape 14"/>
          <p:cNvSpPr/>
          <p:nvPr/>
        </p:nvSpPr>
        <p:spPr>
          <a:xfrm>
            <a:off x="9073134" y="1645920"/>
            <a:ext cx="2567178" cy="3200400"/>
          </a:xfrm>
          <a:prstGeom prst="roundRect">
            <a:avLst>
              <a:gd name="adj" fmla="val 2493"/>
            </a:avLst>
          </a:prstGeom>
          <a:solidFill>
            <a:srgbClr val="221C31"/>
          </a:solidFill>
          <a:ln w="9525">
            <a:solidFill>
              <a:srgbClr val="3A3152"/>
            </a:solidFill>
            <a:prstDash val="solid"/>
          </a:ln>
        </p:spPr>
      </p:sp>
      <p:sp>
        <p:nvSpPr>
          <p:cNvPr id="20" name="Shape 15"/>
          <p:cNvSpPr/>
          <p:nvPr/>
        </p:nvSpPr>
        <p:spPr>
          <a:xfrm>
            <a:off x="9981819" y="1956816"/>
            <a:ext cx="749808" cy="749808"/>
          </a:xfrm>
          <a:prstGeom prst="ellipse">
            <a:avLst/>
          </a:prstGeom>
          <a:solidFill>
            <a:srgbClr val="2B2342"/>
          </a:solidFill>
          <a:ln w="9525">
            <a:solidFill>
              <a:srgbClr val="3A3152"/>
            </a:solidFill>
            <a:prstDash val="solid"/>
          </a:ln>
        </p:spPr>
      </p:sp>
      <p:pic>
        <p:nvPicPr>
          <p:cNvPr id="21" name="Image 3" descr="/tmp/claude-0/-home-user-WickedWays/bfe20d4f-91dd-58c9-a5c6-92b3d7767e5d/scratchpad/decks/icons/box_bone.png">    </p:cNvPr>
          <p:cNvPicPr>
            <a:picLocks noChangeAspect="1"/>
          </p:cNvPicPr>
          <p:nvPr/>
        </p:nvPicPr>
        <p:blipFill>
          <a:blip r:embed="rId4"/>
          <a:stretch>
            <a:fillRect/>
          </a:stretch>
        </p:blipFill>
        <p:spPr>
          <a:xfrm>
            <a:off x="10161773" y="2136770"/>
            <a:ext cx="389900" cy="389900"/>
          </a:xfrm>
          <a:prstGeom prst="rect">
            <a:avLst/>
          </a:prstGeom>
        </p:spPr>
      </p:pic>
      <p:sp>
        <p:nvSpPr>
          <p:cNvPr id="22" name="Text 16"/>
          <p:cNvSpPr/>
          <p:nvPr/>
        </p:nvSpPr>
        <p:spPr>
          <a:xfrm>
            <a:off x="9274302" y="2880360"/>
            <a:ext cx="2164842" cy="566928"/>
          </a:xfrm>
          <a:prstGeom prst="rect">
            <a:avLst/>
          </a:prstGeom>
          <a:noFill/>
          <a:ln/>
        </p:spPr>
        <p:txBody>
          <a:bodyPr wrap="square" lIns="0" tIns="0" rIns="0" bIns="0" rtlCol="0" anchor="ctr"/>
          <a:lstStyle/>
          <a:p>
            <a:pPr algn="ctr" indent="0" marL="0">
              <a:buNone/>
            </a:pPr>
            <a:r>
              <a:rPr lang="en-US" sz="1450" b="1" dirty="0">
                <a:solidFill>
                  <a:srgbClr val="E9E2D0"/>
                </a:solidFill>
                <a:latin typeface="Cambria" pitchFamily="34" charset="0"/>
                <a:ea typeface="Cambria" pitchFamily="34" charset="-122"/>
                <a:cs typeface="Cambria" pitchFamily="34" charset="-120"/>
              </a:rPr>
              <a:t>Rust is a commitment</a:t>
            </a:r>
            <a:endParaRPr lang="en-US" sz="1450" dirty="0"/>
          </a:p>
        </p:txBody>
      </p:sp>
      <p:sp>
        <p:nvSpPr>
          <p:cNvPr id="23" name="Text 17"/>
          <p:cNvSpPr/>
          <p:nvPr/>
        </p:nvSpPr>
        <p:spPr>
          <a:xfrm>
            <a:off x="9292590" y="3566160"/>
            <a:ext cx="2128266" cy="1097280"/>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Hiring, onboarding, tooling all assume you meant it. This project — determinism, five targets, one codebase — collects the dividends. A CRUD app would not.</a:t>
            </a:r>
            <a:endParaRPr lang="en-US" sz="1150" dirty="0"/>
          </a:p>
        </p:txBody>
      </p:sp>
      <p:sp>
        <p:nvSpPr>
          <p:cNvPr id="24" name="Text 18"/>
          <p:cNvSpPr/>
          <p:nvPr/>
        </p:nvSpPr>
        <p:spPr>
          <a:xfrm>
            <a:off x="822960" y="5257800"/>
            <a:ext cx="10543032" cy="548640"/>
          </a:xfrm>
          <a:prstGeom prst="rect">
            <a:avLst/>
          </a:prstGeom>
          <a:noFill/>
          <a:ln/>
        </p:spPr>
        <p:txBody>
          <a:bodyPr wrap="square" lIns="0" tIns="0" rIns="0" bIns="0" rtlCol="0" anchor="ctr"/>
          <a:lstStyle/>
          <a:p>
            <a:pPr algn="ctr" indent="0" marL="0">
              <a:buNone/>
            </a:pPr>
            <a:r>
              <a:rPr lang="en-US" sz="1300" i="1" dirty="0">
                <a:solidFill>
                  <a:srgbClr val="9A92A8"/>
                </a:solidFill>
                <a:latin typeface="Calibri" pitchFamily="34" charset="0"/>
                <a:ea typeface="Calibri" pitchFamily="34" charset="-122"/>
                <a:cs typeface="Calibri" pitchFamily="34" charset="-120"/>
              </a:rPr>
              <a:t>Never cut this slide — it buys the whole talk its credibility.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PART 6 — GETTING STARTED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on-ramp</a:t>
            </a:r>
            <a:endParaRPr lang="en-US" sz="3000" dirty="0"/>
          </a:p>
        </p:txBody>
      </p:sp>
      <p:sp>
        <p:nvSpPr>
          <p:cNvPr id="4" name="Shape 2"/>
          <p:cNvSpPr/>
          <p:nvPr/>
        </p:nvSpPr>
        <p:spPr>
          <a:xfrm>
            <a:off x="548640" y="1737360"/>
            <a:ext cx="3566160" cy="2286000"/>
          </a:xfrm>
          <a:prstGeom prst="roundRect">
            <a:avLst>
              <a:gd name="adj" fmla="val 2800"/>
            </a:avLst>
          </a:prstGeom>
          <a:solidFill>
            <a:srgbClr val="221C31"/>
          </a:solidFill>
          <a:ln w="9525">
            <a:solidFill>
              <a:srgbClr val="3A3152"/>
            </a:solidFill>
            <a:prstDash val="solid"/>
          </a:ln>
        </p:spPr>
      </p:sp>
      <p:sp>
        <p:nvSpPr>
          <p:cNvPr id="5" name="Text 3"/>
          <p:cNvSpPr/>
          <p:nvPr/>
        </p:nvSpPr>
        <p:spPr>
          <a:xfrm>
            <a:off x="548640" y="1920240"/>
            <a:ext cx="3566160" cy="73152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1</a:t>
            </a:r>
            <a:endParaRPr lang="en-US" sz="4000" dirty="0"/>
          </a:p>
        </p:txBody>
      </p:sp>
      <p:sp>
        <p:nvSpPr>
          <p:cNvPr id="6" name="Text 4"/>
          <p:cNvSpPr/>
          <p:nvPr/>
        </p:nvSpPr>
        <p:spPr>
          <a:xfrm>
            <a:off x="731520" y="2697480"/>
            <a:ext cx="3200400" cy="411480"/>
          </a:xfrm>
          <a:prstGeom prst="rect">
            <a:avLst/>
          </a:prstGeom>
          <a:noFill/>
          <a:ln/>
        </p:spPr>
        <p:txBody>
          <a:bodyPr wrap="square" lIns="0" tIns="0" rIns="0" bIns="0" rtlCol="0" anchor="ctr"/>
          <a:lstStyle/>
          <a:p>
            <a:pPr algn="ctr" indent="0" marL="0">
              <a:buNone/>
            </a:pPr>
            <a:r>
              <a:rPr lang="en-US" sz="1800" b="1" dirty="0">
                <a:solidFill>
                  <a:srgbClr val="E9E2D0"/>
                </a:solidFill>
                <a:latin typeface="Courier New" pitchFamily="34" charset="0"/>
                <a:ea typeface="Courier New" pitchFamily="34" charset="-122"/>
                <a:cs typeface="Courier New" pitchFamily="34" charset="-120"/>
              </a:rPr>
              <a:t>rustup</a:t>
            </a:r>
            <a:endParaRPr lang="en-US" sz="1800" dirty="0"/>
          </a:p>
        </p:txBody>
      </p:sp>
      <p:sp>
        <p:nvSpPr>
          <p:cNvPr id="7" name="Text 5"/>
          <p:cNvSpPr/>
          <p:nvPr/>
        </p:nvSpPr>
        <p:spPr>
          <a:xfrm>
            <a:off x="822960" y="3108960"/>
            <a:ext cx="3017520" cy="54864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one installer, done</a:t>
            </a:r>
            <a:endParaRPr lang="en-US" sz="1250" dirty="0"/>
          </a:p>
        </p:txBody>
      </p:sp>
      <p:sp>
        <p:nvSpPr>
          <p:cNvPr id="8" name="Shape 6"/>
          <p:cNvSpPr/>
          <p:nvPr/>
        </p:nvSpPr>
        <p:spPr>
          <a:xfrm>
            <a:off x="4370832" y="1737360"/>
            <a:ext cx="3566160" cy="2286000"/>
          </a:xfrm>
          <a:prstGeom prst="roundRect">
            <a:avLst>
              <a:gd name="adj" fmla="val 2800"/>
            </a:avLst>
          </a:prstGeom>
          <a:solidFill>
            <a:srgbClr val="221C31"/>
          </a:solidFill>
          <a:ln w="9525">
            <a:solidFill>
              <a:srgbClr val="3A3152"/>
            </a:solidFill>
            <a:prstDash val="solid"/>
          </a:ln>
        </p:spPr>
      </p:sp>
      <p:sp>
        <p:nvSpPr>
          <p:cNvPr id="9" name="Text 7"/>
          <p:cNvSpPr/>
          <p:nvPr/>
        </p:nvSpPr>
        <p:spPr>
          <a:xfrm>
            <a:off x="4370832" y="1920240"/>
            <a:ext cx="3566160" cy="73152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2</a:t>
            </a:r>
            <a:endParaRPr lang="en-US" sz="4000" dirty="0"/>
          </a:p>
        </p:txBody>
      </p:sp>
      <p:sp>
        <p:nvSpPr>
          <p:cNvPr id="10" name="Text 8"/>
          <p:cNvSpPr/>
          <p:nvPr/>
        </p:nvSpPr>
        <p:spPr>
          <a:xfrm>
            <a:off x="4553712" y="2697480"/>
            <a:ext cx="3200400" cy="411480"/>
          </a:xfrm>
          <a:prstGeom prst="rect">
            <a:avLst/>
          </a:prstGeom>
          <a:noFill/>
          <a:ln/>
        </p:spPr>
        <p:txBody>
          <a:bodyPr wrap="square" lIns="0" tIns="0" rIns="0" bIns="0" rtlCol="0" anchor="ctr"/>
          <a:lstStyle/>
          <a:p>
            <a:pPr algn="ctr" indent="0" marL="0">
              <a:buNone/>
            </a:pPr>
            <a:r>
              <a:rPr lang="en-US" sz="1800" b="1" dirty="0">
                <a:solidFill>
                  <a:srgbClr val="E9E2D0"/>
                </a:solidFill>
                <a:latin typeface="Courier New" pitchFamily="34" charset="0"/>
                <a:ea typeface="Courier New" pitchFamily="34" charset="-122"/>
                <a:cs typeface="Courier New" pitchFamily="34" charset="-120"/>
              </a:rPr>
              <a:t>cargo new</a:t>
            </a:r>
            <a:endParaRPr lang="en-US" sz="1800" dirty="0"/>
          </a:p>
        </p:txBody>
      </p:sp>
      <p:sp>
        <p:nvSpPr>
          <p:cNvPr id="11" name="Text 9"/>
          <p:cNvSpPr/>
          <p:nvPr/>
        </p:nvSpPr>
        <p:spPr>
          <a:xfrm>
            <a:off x="4645152" y="3108960"/>
            <a:ext cx="3017520" cy="54864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something small</a:t>
            </a:r>
            <a:endParaRPr lang="en-US" sz="1250" dirty="0"/>
          </a:p>
        </p:txBody>
      </p:sp>
      <p:sp>
        <p:nvSpPr>
          <p:cNvPr id="12" name="Shape 10"/>
          <p:cNvSpPr/>
          <p:nvPr/>
        </p:nvSpPr>
        <p:spPr>
          <a:xfrm>
            <a:off x="8193024" y="1737360"/>
            <a:ext cx="3566160" cy="2286000"/>
          </a:xfrm>
          <a:prstGeom prst="roundRect">
            <a:avLst>
              <a:gd name="adj" fmla="val 2800"/>
            </a:avLst>
          </a:prstGeom>
          <a:solidFill>
            <a:srgbClr val="221C31"/>
          </a:solidFill>
          <a:ln w="9525">
            <a:solidFill>
              <a:srgbClr val="3A3152"/>
            </a:solidFill>
            <a:prstDash val="solid"/>
          </a:ln>
        </p:spPr>
      </p:sp>
      <p:sp>
        <p:nvSpPr>
          <p:cNvPr id="13" name="Text 11"/>
          <p:cNvSpPr/>
          <p:nvPr/>
        </p:nvSpPr>
        <p:spPr>
          <a:xfrm>
            <a:off x="8193024" y="1920240"/>
            <a:ext cx="3566160" cy="73152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8375904" y="2697480"/>
            <a:ext cx="3200400" cy="411480"/>
          </a:xfrm>
          <a:prstGeom prst="rect">
            <a:avLst/>
          </a:prstGeom>
          <a:noFill/>
          <a:ln/>
        </p:spPr>
        <p:txBody>
          <a:bodyPr wrap="square" lIns="0" tIns="0" rIns="0" bIns="0" rtlCol="0" anchor="ctr"/>
          <a:lstStyle/>
          <a:p>
            <a:pPr algn="ctr" indent="0" marL="0">
              <a:buNone/>
            </a:pPr>
            <a:r>
              <a:rPr lang="en-US" sz="1800" b="1" dirty="0">
                <a:solidFill>
                  <a:srgbClr val="E9E2D0"/>
                </a:solidFill>
                <a:latin typeface="Courier New" pitchFamily="34" charset="0"/>
                <a:ea typeface="Courier New" pitchFamily="34" charset="-122"/>
                <a:cs typeface="Courier New" pitchFamily="34" charset="-120"/>
              </a:rPr>
              <a:t>the Book</a:t>
            </a:r>
            <a:endParaRPr lang="en-US" sz="1800" dirty="0"/>
          </a:p>
        </p:txBody>
      </p:sp>
      <p:sp>
        <p:nvSpPr>
          <p:cNvPr id="15" name="Text 13"/>
          <p:cNvSpPr/>
          <p:nvPr/>
        </p:nvSpPr>
        <p:spPr>
          <a:xfrm>
            <a:off x="8467344" y="3108960"/>
            <a:ext cx="3017520" cy="548640"/>
          </a:xfrm>
          <a:prstGeom prst="rect">
            <a:avLst/>
          </a:prstGeom>
          <a:noFill/>
          <a:ln/>
        </p:spPr>
        <p:txBody>
          <a:bodyPr wrap="square" lIns="0" tIns="0" rIns="0" bIns="0" rtlCol="0" anchor="t"/>
          <a:lstStyle/>
          <a:p>
            <a:pPr algn="ctr" indent="0" marL="0">
              <a:buNone/>
            </a:pPr>
            <a:r>
              <a:rPr lang="en-US" sz="1250" dirty="0">
                <a:solidFill>
                  <a:srgbClr val="9A92A8"/>
                </a:solidFill>
                <a:latin typeface="Calibri" pitchFamily="34" charset="0"/>
                <a:ea typeface="Calibri" pitchFamily="34" charset="-122"/>
                <a:cs typeface="Calibri" pitchFamily="34" charset="-120"/>
              </a:rPr>
              <a:t>the official guide — genuinely good</a:t>
            </a:r>
            <a:endParaRPr lang="en-US" sz="1250" dirty="0"/>
          </a:p>
        </p:txBody>
      </p:sp>
      <p:sp>
        <p:nvSpPr>
          <p:cNvPr id="16" name="Shape 14"/>
          <p:cNvSpPr/>
          <p:nvPr/>
        </p:nvSpPr>
        <p:spPr>
          <a:xfrm>
            <a:off x="548640" y="4343400"/>
            <a:ext cx="11091672" cy="1051560"/>
          </a:xfrm>
          <a:prstGeom prst="roundRect">
            <a:avLst>
              <a:gd name="adj" fmla="val 6087"/>
            </a:avLst>
          </a:prstGeom>
          <a:solidFill>
            <a:srgbClr val="2B2342"/>
          </a:solidFill>
          <a:ln w="9525">
            <a:solidFill>
              <a:srgbClr val="3A3152"/>
            </a:solidFill>
            <a:prstDash val="solid"/>
          </a:ln>
        </p:spPr>
      </p:sp>
      <p:sp>
        <p:nvSpPr>
          <p:cNvPr id="17" name="Text 15"/>
          <p:cNvSpPr/>
          <p:nvPr/>
        </p:nvSpPr>
        <p:spPr>
          <a:xfrm>
            <a:off x="822960" y="4434840"/>
            <a:ext cx="10543032" cy="868680"/>
          </a:xfrm>
          <a:prstGeom prst="rect">
            <a:avLst/>
          </a:prstGeom>
          <a:noFill/>
          <a:ln/>
        </p:spPr>
        <p:txBody>
          <a:bodyPr wrap="square" lIns="0" tIns="0" rIns="0" bIns="0" rtlCol="0" anchor="ctr"/>
          <a:lstStyle/>
          <a:p>
            <a:pPr algn="ctr" indent="0" marL="0">
              <a:buNone/>
            </a:pPr>
            <a:r>
              <a:rPr lang="en-US" sz="1350" dirty="0">
                <a:solidFill>
                  <a:srgbClr val="E9E2D0"/>
                </a:solidFill>
                <a:latin typeface="Calibri" pitchFamily="34" charset="0"/>
                <a:ea typeface="Calibri" pitchFamily="34" charset="-122"/>
                <a:cs typeface="Calibri" pitchFamily="34" charset="-120"/>
              </a:rPr>
              <a:t>Best first project: port a small tool you already understand — learn the language, not the problem.</a:t>
            </a:r>
            <a:endParaRPr lang="en-US" sz="1350" dirty="0"/>
          </a:p>
          <a:p>
            <a:pPr algn="ctr" indent="0" marL="0">
              <a:buNone/>
            </a:pPr>
            <a:r>
              <a:rPr lang="en-US" sz="1350" dirty="0">
                <a:solidFill>
                  <a:srgbClr val="E9E2D0"/>
                </a:solidFill>
                <a:latin typeface="Calibri" pitchFamily="34" charset="0"/>
                <a:ea typeface="Calibri" pitchFamily="34" charset="-122"/>
                <a:cs typeface="Calibri" pitchFamily="34" charset="-120"/>
              </a:rPr>
              <a:t>And this repo is public: the README is the architecture document, and cargo test --workspace runs everything you saw today.</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Q&amp;A</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questions that always come</a:t>
            </a:r>
            <a:endParaRPr lang="en-US" sz="3000" dirty="0"/>
          </a:p>
        </p:txBody>
      </p:sp>
      <p:sp>
        <p:nvSpPr>
          <p:cNvPr id="4" name="Shape 2"/>
          <p:cNvSpPr/>
          <p:nvPr/>
        </p:nvSpPr>
        <p:spPr>
          <a:xfrm>
            <a:off x="548640" y="1554480"/>
            <a:ext cx="11091672" cy="749808"/>
          </a:xfrm>
          <a:prstGeom prst="roundRect">
            <a:avLst>
              <a:gd name="adj" fmla="val 8537"/>
            </a:avLst>
          </a:prstGeom>
          <a:solidFill>
            <a:srgbClr val="221C31"/>
          </a:solidFill>
          <a:ln w="9525">
            <a:solidFill>
              <a:srgbClr val="3A3152"/>
            </a:solidFill>
            <a:prstDash val="solid"/>
          </a:ln>
        </p:spPr>
      </p:sp>
      <p:sp>
        <p:nvSpPr>
          <p:cNvPr id="5" name="Text 3"/>
          <p:cNvSpPr/>
          <p:nvPr/>
        </p:nvSpPr>
        <p:spPr>
          <a:xfrm>
            <a:off x="868680" y="1609344"/>
            <a:ext cx="3566160" cy="640080"/>
          </a:xfrm>
          <a:prstGeom prst="rect">
            <a:avLst/>
          </a:prstGeom>
          <a:noFill/>
          <a:ln/>
        </p:spPr>
        <p:txBody>
          <a:bodyPr wrap="square" lIns="0" tIns="0" rIns="0" bIns="0" rtlCol="0" anchor="ctr"/>
          <a:lstStyle/>
          <a:p>
            <a:pPr indent="0" marL="0">
              <a:buNone/>
            </a:pPr>
            <a:r>
              <a:rPr lang="en-US" sz="1300" b="1" dirty="0">
                <a:solidFill>
                  <a:srgbClr val="C9A227"/>
                </a:solidFill>
                <a:latin typeface="Cambria" pitchFamily="34" charset="0"/>
                <a:ea typeface="Cambria" pitchFamily="34" charset="-122"/>
                <a:cs typeface="Cambria" pitchFamily="34" charset="-120"/>
              </a:rPr>
              <a:t>How bad is async, really?</a:t>
            </a:r>
            <a:endParaRPr lang="en-US" sz="1300" dirty="0"/>
          </a:p>
        </p:txBody>
      </p:sp>
      <p:sp>
        <p:nvSpPr>
          <p:cNvPr id="6" name="Text 4"/>
          <p:cNvSpPr/>
          <p:nvPr/>
        </p:nvSpPr>
        <p:spPr>
          <a:xfrm>
            <a:off x="4572000" y="1600200"/>
            <a:ext cx="6812280" cy="658368"/>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The sharpest corner. This repo's answer is representative: async at the edges (the server), the core synchronous and pure.</a:t>
            </a:r>
            <a:endParaRPr lang="en-US" sz="1150" dirty="0"/>
          </a:p>
        </p:txBody>
      </p:sp>
      <p:sp>
        <p:nvSpPr>
          <p:cNvPr id="7" name="Shape 5"/>
          <p:cNvSpPr/>
          <p:nvPr/>
        </p:nvSpPr>
        <p:spPr>
          <a:xfrm>
            <a:off x="548640" y="2423160"/>
            <a:ext cx="11091672" cy="749808"/>
          </a:xfrm>
          <a:prstGeom prst="roundRect">
            <a:avLst>
              <a:gd name="adj" fmla="val 8537"/>
            </a:avLst>
          </a:prstGeom>
          <a:solidFill>
            <a:srgbClr val="221C31"/>
          </a:solidFill>
          <a:ln w="9525">
            <a:solidFill>
              <a:srgbClr val="3A3152"/>
            </a:solidFill>
            <a:prstDash val="solid"/>
          </a:ln>
        </p:spPr>
      </p:sp>
      <p:sp>
        <p:nvSpPr>
          <p:cNvPr id="8" name="Text 6"/>
          <p:cNvSpPr/>
          <p:nvPr/>
        </p:nvSpPr>
        <p:spPr>
          <a:xfrm>
            <a:off x="868680" y="2478024"/>
            <a:ext cx="3566160" cy="640080"/>
          </a:xfrm>
          <a:prstGeom prst="rect">
            <a:avLst/>
          </a:prstGeom>
          <a:noFill/>
          <a:ln/>
        </p:spPr>
        <p:txBody>
          <a:bodyPr wrap="square" lIns="0" tIns="0" rIns="0" bIns="0" rtlCol="0" anchor="ctr"/>
          <a:lstStyle/>
          <a:p>
            <a:pPr indent="0" marL="0">
              <a:buNone/>
            </a:pPr>
            <a:r>
              <a:rPr lang="en-US" sz="1300" b="1" dirty="0">
                <a:solidFill>
                  <a:srgbClr val="C9A227"/>
                </a:solidFill>
                <a:latin typeface="Cambria" pitchFamily="34" charset="0"/>
                <a:ea typeface="Cambria" pitchFamily="34" charset="-122"/>
                <a:cs typeface="Cambria" pitchFamily="34" charset="-120"/>
              </a:rPr>
              <a:t>How long does the borrow checker fight last?</a:t>
            </a:r>
            <a:endParaRPr lang="en-US" sz="1300" dirty="0"/>
          </a:p>
        </p:txBody>
      </p:sp>
      <p:sp>
        <p:nvSpPr>
          <p:cNvPr id="9" name="Text 7"/>
          <p:cNvSpPr/>
          <p:nvPr/>
        </p:nvSpPr>
        <p:spPr>
          <a:xfrm>
            <a:off x="4572000" y="2468880"/>
            <a:ext cx="6812280" cy="658368"/>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Weeks, not months. It is the compiler front-loading the debugging you would do later anyway.</a:t>
            </a:r>
            <a:endParaRPr lang="en-US" sz="1150" dirty="0"/>
          </a:p>
        </p:txBody>
      </p:sp>
      <p:sp>
        <p:nvSpPr>
          <p:cNvPr id="10" name="Shape 8"/>
          <p:cNvSpPr/>
          <p:nvPr/>
        </p:nvSpPr>
        <p:spPr>
          <a:xfrm>
            <a:off x="548640" y="3291840"/>
            <a:ext cx="11091672" cy="749808"/>
          </a:xfrm>
          <a:prstGeom prst="roundRect">
            <a:avLst>
              <a:gd name="adj" fmla="val 8537"/>
            </a:avLst>
          </a:prstGeom>
          <a:solidFill>
            <a:srgbClr val="221C31"/>
          </a:solidFill>
          <a:ln w="9525">
            <a:solidFill>
              <a:srgbClr val="3A3152"/>
            </a:solidFill>
            <a:prstDash val="solid"/>
          </a:ln>
        </p:spPr>
      </p:sp>
      <p:sp>
        <p:nvSpPr>
          <p:cNvPr id="11" name="Text 9"/>
          <p:cNvSpPr/>
          <p:nvPr/>
        </p:nvSpPr>
        <p:spPr>
          <a:xfrm>
            <a:off x="868680" y="3346704"/>
            <a:ext cx="3566160" cy="640080"/>
          </a:xfrm>
          <a:prstGeom prst="rect">
            <a:avLst/>
          </a:prstGeom>
          <a:noFill/>
          <a:ln/>
        </p:spPr>
        <p:txBody>
          <a:bodyPr wrap="square" lIns="0" tIns="0" rIns="0" bIns="0" rtlCol="0" anchor="ctr"/>
          <a:lstStyle/>
          <a:p>
            <a:pPr indent="0" marL="0">
              <a:buNone/>
            </a:pPr>
            <a:r>
              <a:rPr lang="en-US" sz="1300" b="1" dirty="0">
                <a:solidFill>
                  <a:srgbClr val="C9A227"/>
                </a:solidFill>
                <a:latin typeface="Cambria" pitchFamily="34" charset="0"/>
                <a:ea typeface="Cambria" pitchFamily="34" charset="-122"/>
                <a:cs typeface="Cambria" pitchFamily="34" charset="-120"/>
              </a:rPr>
              <a:t>Can we hire for it?</a:t>
            </a:r>
            <a:endParaRPr lang="en-US" sz="1300" dirty="0"/>
          </a:p>
        </p:txBody>
      </p:sp>
      <p:sp>
        <p:nvSpPr>
          <p:cNvPr id="12" name="Text 10"/>
          <p:cNvSpPr/>
          <p:nvPr/>
        </p:nvSpPr>
        <p:spPr>
          <a:xfrm>
            <a:off x="4572000" y="3337560"/>
            <a:ext cx="6812280" cy="658368"/>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Fewer candidates, unusual enthusiasm. Training a strong engineer in: weeks — the Book plus one real project.</a:t>
            </a:r>
            <a:endParaRPr lang="en-US" sz="1150" dirty="0"/>
          </a:p>
        </p:txBody>
      </p:sp>
      <p:sp>
        <p:nvSpPr>
          <p:cNvPr id="13" name="Shape 11"/>
          <p:cNvSpPr/>
          <p:nvPr/>
        </p:nvSpPr>
        <p:spPr>
          <a:xfrm>
            <a:off x="548640" y="4160520"/>
            <a:ext cx="11091672" cy="749808"/>
          </a:xfrm>
          <a:prstGeom prst="roundRect">
            <a:avLst>
              <a:gd name="adj" fmla="val 8537"/>
            </a:avLst>
          </a:prstGeom>
          <a:solidFill>
            <a:srgbClr val="221C31"/>
          </a:solidFill>
          <a:ln w="9525">
            <a:solidFill>
              <a:srgbClr val="3A3152"/>
            </a:solidFill>
            <a:prstDash val="solid"/>
          </a:ln>
        </p:spPr>
      </p:sp>
      <p:sp>
        <p:nvSpPr>
          <p:cNvPr id="14" name="Text 12"/>
          <p:cNvSpPr/>
          <p:nvPr/>
        </p:nvSpPr>
        <p:spPr>
          <a:xfrm>
            <a:off x="868680" y="4215384"/>
            <a:ext cx="3566160" cy="640080"/>
          </a:xfrm>
          <a:prstGeom prst="rect">
            <a:avLst/>
          </a:prstGeom>
          <a:noFill/>
          <a:ln/>
        </p:spPr>
        <p:txBody>
          <a:bodyPr wrap="square" lIns="0" tIns="0" rIns="0" bIns="0" rtlCol="0" anchor="ctr"/>
          <a:lstStyle/>
          <a:p>
            <a:pPr indent="0" marL="0">
              <a:buNone/>
            </a:pPr>
            <a:r>
              <a:rPr lang="en-US" sz="1300" b="1" dirty="0">
                <a:solidFill>
                  <a:srgbClr val="C9A227"/>
                </a:solidFill>
                <a:latin typeface="Cambria" pitchFamily="34" charset="0"/>
                <a:ea typeface="Cambria" pitchFamily="34" charset="-122"/>
                <a:cs typeface="Cambria" pitchFamily="34" charset="-120"/>
              </a:rPr>
              <a:t>When is Rust the wrong choice?</a:t>
            </a:r>
            <a:endParaRPr lang="en-US" sz="1300" dirty="0"/>
          </a:p>
        </p:txBody>
      </p:sp>
      <p:sp>
        <p:nvSpPr>
          <p:cNvPr id="15" name="Text 13"/>
          <p:cNvSpPr/>
          <p:nvPr/>
        </p:nvSpPr>
        <p:spPr>
          <a:xfrm>
            <a:off x="4572000" y="4206240"/>
            <a:ext cx="6812280" cy="658368"/>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Glue, CRUD, scripts — the ceremony buys nothing. It pays when correctness, portability, or performance is the product.</a:t>
            </a:r>
            <a:endParaRPr lang="en-US" sz="1150" dirty="0"/>
          </a:p>
        </p:txBody>
      </p:sp>
      <p:sp>
        <p:nvSpPr>
          <p:cNvPr id="16" name="Shape 14"/>
          <p:cNvSpPr/>
          <p:nvPr/>
        </p:nvSpPr>
        <p:spPr>
          <a:xfrm>
            <a:off x="548640" y="5029200"/>
            <a:ext cx="11091672" cy="749808"/>
          </a:xfrm>
          <a:prstGeom prst="roundRect">
            <a:avLst>
              <a:gd name="adj" fmla="val 8537"/>
            </a:avLst>
          </a:prstGeom>
          <a:solidFill>
            <a:srgbClr val="221C31"/>
          </a:solidFill>
          <a:ln w="9525">
            <a:solidFill>
              <a:srgbClr val="3A3152"/>
            </a:solidFill>
            <a:prstDash val="solid"/>
          </a:ln>
        </p:spPr>
      </p:sp>
      <p:sp>
        <p:nvSpPr>
          <p:cNvPr id="17" name="Text 15"/>
          <p:cNvSpPr/>
          <p:nvPr/>
        </p:nvSpPr>
        <p:spPr>
          <a:xfrm>
            <a:off x="868680" y="5084064"/>
            <a:ext cx="3566160" cy="640080"/>
          </a:xfrm>
          <a:prstGeom prst="rect">
            <a:avLst/>
          </a:prstGeom>
          <a:noFill/>
          <a:ln/>
        </p:spPr>
        <p:txBody>
          <a:bodyPr wrap="square" lIns="0" tIns="0" rIns="0" bIns="0" rtlCol="0" anchor="ctr"/>
          <a:lstStyle/>
          <a:p>
            <a:pPr indent="0" marL="0">
              <a:buNone/>
            </a:pPr>
            <a:r>
              <a:rPr lang="en-US" sz="1300" b="1" dirty="0">
                <a:solidFill>
                  <a:srgbClr val="C9A227"/>
                </a:solidFill>
                <a:latin typeface="Cambria" pitchFamily="34" charset="0"/>
                <a:ea typeface="Cambria" pitchFamily="34" charset="-122"/>
                <a:cs typeface="Cambria" pitchFamily="34" charset="-120"/>
              </a:rPr>
              <a:t>Why not Go / TypeScript / C++?</a:t>
            </a:r>
            <a:endParaRPr lang="en-US" sz="1300" dirty="0"/>
          </a:p>
        </p:txBody>
      </p:sp>
      <p:sp>
        <p:nvSpPr>
          <p:cNvPr id="18" name="Text 16"/>
          <p:cNvSpPr/>
          <p:nvPr/>
        </p:nvSpPr>
        <p:spPr>
          <a:xfrm>
            <a:off x="4572000" y="5074920"/>
            <a:ext cx="6812280" cy="658368"/>
          </a:xfrm>
          <a:prstGeom prst="rect">
            <a:avLst/>
          </a:prstGeom>
          <a:noFill/>
          <a:ln/>
        </p:spPr>
        <p:txBody>
          <a:bodyPr wrap="square" lIns="0" tIns="0" rIns="0" bIns="0" rtlCol="0" anchor="ctr"/>
          <a:lstStyle/>
          <a:p>
            <a:pPr indent="0" marL="0">
              <a:buNone/>
            </a:pPr>
            <a:r>
              <a:rPr lang="en-US" sz="1150" dirty="0">
                <a:solidFill>
                  <a:srgbClr val="9A92A8"/>
                </a:solidFill>
                <a:latin typeface="Calibri" pitchFamily="34" charset="0"/>
                <a:ea typeface="Calibri" pitchFamily="34" charset="-122"/>
                <a:cs typeface="Calibri" pitchFamily="34" charset="-120"/>
              </a:rPr>
              <a:t>This engine WAS TypeScript — rewritten into Rust against its own test corpus, then the TypeScript was deleted. That story is talk 04.</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101B"/>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CLOSE</a:t>
            </a:r>
            <a:endParaRPr lang="en-US" sz="1200" dirty="0"/>
          </a:p>
        </p:txBody>
      </p:sp>
      <p:sp>
        <p:nvSpPr>
          <p:cNvPr id="3" name="Text 1"/>
          <p:cNvSpPr/>
          <p:nvPr/>
        </p:nvSpPr>
        <p:spPr>
          <a:xfrm>
            <a:off x="548640" y="2194560"/>
            <a:ext cx="11091672" cy="822960"/>
          </a:xfrm>
          <a:prstGeom prst="rect">
            <a:avLst/>
          </a:prstGeom>
          <a:noFill/>
          <a:ln/>
        </p:spPr>
        <p:txBody>
          <a:bodyPr wrap="square" lIns="0" tIns="0" rIns="0" bIns="0" rtlCol="0" anchor="ctr"/>
          <a:lstStyle/>
          <a:p>
            <a:pPr algn="ctr" indent="0" marL="0">
              <a:buNone/>
            </a:pPr>
            <a:r>
              <a:rPr lang="en-US" sz="4000" b="1" dirty="0">
                <a:solidFill>
                  <a:srgbClr val="E9E2D0"/>
                </a:solidFill>
                <a:latin typeface="Cambria" pitchFamily="34" charset="0"/>
                <a:ea typeface="Cambria" pitchFamily="34" charset="-122"/>
                <a:cs typeface="Cambria" pitchFamily="34" charset="-120"/>
              </a:rPr>
              <a:t>One language. Five worlds.</a:t>
            </a:r>
            <a:endParaRPr lang="en-US" sz="4000" dirty="0"/>
          </a:p>
        </p:txBody>
      </p:sp>
      <p:sp>
        <p:nvSpPr>
          <p:cNvPr id="4" name="Text 2"/>
          <p:cNvSpPr/>
          <p:nvPr/>
        </p:nvSpPr>
        <p:spPr>
          <a:xfrm>
            <a:off x="548640" y="3200400"/>
            <a:ext cx="11091672" cy="548640"/>
          </a:xfrm>
          <a:prstGeom prst="rect">
            <a:avLst/>
          </a:prstGeom>
          <a:noFill/>
          <a:ln/>
        </p:spPr>
        <p:txBody>
          <a:bodyPr wrap="square" lIns="0" tIns="0" rIns="0" bIns="0" rtlCol="0" anchor="ctr"/>
          <a:lstStyle/>
          <a:p>
            <a:pPr algn="ctr" indent="0" marL="0">
              <a:buNone/>
            </a:pPr>
            <a:r>
              <a:rPr lang="en-US" sz="1600" dirty="0">
                <a:solidFill>
                  <a:srgbClr val="9A92A8"/>
                </a:solidFill>
                <a:latin typeface="Calibri" pitchFamily="34" charset="0"/>
                <a:ea typeface="Calibri" pitchFamily="34" charset="-122"/>
                <a:cs typeface="Calibri" pitchFamily="34" charset="-120"/>
              </a:rPr>
              <a:t>Browser · desktop · server · editor · bare metal — one codebase, and every tool you saw today is why.</a:t>
            </a:r>
            <a:endParaRPr lang="en-US" sz="1600" dirty="0"/>
          </a:p>
        </p:txBody>
      </p:sp>
      <p:sp>
        <p:nvSpPr>
          <p:cNvPr id="5" name="Text 3"/>
          <p:cNvSpPr/>
          <p:nvPr/>
        </p:nvSpPr>
        <p:spPr>
          <a:xfrm>
            <a:off x="548640" y="4206240"/>
            <a:ext cx="11091672" cy="457200"/>
          </a:xfrm>
          <a:prstGeom prst="rect">
            <a:avLst/>
          </a:prstGeom>
          <a:noFill/>
          <a:ln/>
        </p:spPr>
        <p:txBody>
          <a:bodyPr wrap="square" lIns="0" tIns="0" rIns="0" bIns="0" rtlCol="0" anchor="ctr"/>
          <a:lstStyle/>
          <a:p>
            <a:pPr algn="ctr" indent="0" marL="0">
              <a:buNone/>
            </a:pPr>
            <a:r>
              <a:rPr lang="en-US" sz="1300" dirty="0">
                <a:solidFill>
                  <a:srgbClr val="C9A227"/>
                </a:solidFill>
                <a:latin typeface="Courier New" pitchFamily="34" charset="0"/>
                <a:ea typeface="Courier New" pitchFamily="34" charset="-122"/>
                <a:cs typeface="Courier New" pitchFamily="34" charset="-120"/>
              </a:rPr>
              <a:t>rustup · cargo · crates.io · workspaces · features · targets · clippy · serde · tokio · axum · Dioxus · wasm-bindgen · no_std</a:t>
            </a:r>
            <a:endParaRPr lang="en-US" sz="1300" dirty="0"/>
          </a:p>
        </p:txBody>
      </p:sp>
      <p:sp>
        <p:nvSpPr>
          <p:cNvPr id="6" name="Shape 4"/>
          <p:cNvSpPr/>
          <p:nvPr/>
        </p:nvSpPr>
        <p:spPr>
          <a:xfrm>
            <a:off x="2121408" y="5029200"/>
            <a:ext cx="3703320" cy="868680"/>
          </a:xfrm>
          <a:prstGeom prst="roundRect">
            <a:avLst>
              <a:gd name="adj" fmla="val 7368"/>
            </a:avLst>
          </a:prstGeom>
          <a:solidFill>
            <a:srgbClr val="221C31"/>
          </a:solidFill>
          <a:ln w="9525">
            <a:solidFill>
              <a:srgbClr val="3A3152"/>
            </a:solidFill>
            <a:prstDash val="solid"/>
          </a:ln>
        </p:spPr>
      </p:sp>
      <p:sp>
        <p:nvSpPr>
          <p:cNvPr id="7" name="Text 5"/>
          <p:cNvSpPr/>
          <p:nvPr/>
        </p:nvSpPr>
        <p:spPr>
          <a:xfrm>
            <a:off x="2121408" y="5029200"/>
            <a:ext cx="3703320" cy="868680"/>
          </a:xfrm>
          <a:prstGeom prst="rect">
            <a:avLst/>
          </a:prstGeom>
          <a:noFill/>
          <a:ln/>
        </p:spPr>
        <p:txBody>
          <a:bodyPr wrap="square" lIns="0" tIns="0" rIns="0" bIns="0" rtlCol="0" anchor="ctr"/>
          <a:lstStyle/>
          <a:p>
            <a:pPr algn="ctr" indent="0" marL="0">
              <a:buNone/>
            </a:pPr>
            <a:r>
              <a:rPr lang="en-US" sz="1050" b="1" spc="200" kern="0" dirty="0">
                <a:solidFill>
                  <a:srgbClr val="C9A227"/>
                </a:solidFill>
                <a:latin typeface="Calibri" pitchFamily="34" charset="0"/>
                <a:ea typeface="Calibri" pitchFamily="34" charset="-122"/>
                <a:cs typeface="Calibri" pitchFamily="34" charset="-120"/>
              </a:rPr>
              <a:t>THE CODE</a:t>
            </a:r>
            <a:endParaRPr lang="en-US" sz="1050" dirty="0"/>
          </a:p>
          <a:p>
            <a:pPr algn="ctr" indent="0" marL="0">
              <a:buNone/>
            </a:pPr>
            <a:r>
              <a:rPr lang="en-US" sz="1150" u="sng" dirty="0">
                <a:solidFill>
                  <a:srgbClr val="E9E2D0"/>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github.com/daniel0mullins/WickedWays</a:t>
            </a:r>
            <a:endParaRPr lang="en-US" sz="1050" dirty="0"/>
          </a:p>
        </p:txBody>
      </p:sp>
      <p:sp>
        <p:nvSpPr>
          <p:cNvPr id="8" name="Shape 6"/>
          <p:cNvSpPr/>
          <p:nvPr/>
        </p:nvSpPr>
        <p:spPr>
          <a:xfrm>
            <a:off x="6373368" y="5029200"/>
            <a:ext cx="3703320" cy="868680"/>
          </a:xfrm>
          <a:prstGeom prst="roundRect">
            <a:avLst>
              <a:gd name="adj" fmla="val 7368"/>
            </a:avLst>
          </a:prstGeom>
          <a:solidFill>
            <a:srgbClr val="221C31"/>
          </a:solidFill>
          <a:ln w="9525">
            <a:solidFill>
              <a:srgbClr val="3A3152"/>
            </a:solidFill>
            <a:prstDash val="solid"/>
          </a:ln>
        </p:spPr>
      </p:sp>
      <p:sp>
        <p:nvSpPr>
          <p:cNvPr id="9" name="Text 7"/>
          <p:cNvSpPr/>
          <p:nvPr/>
        </p:nvSpPr>
        <p:spPr>
          <a:xfrm>
            <a:off x="6373368" y="5029200"/>
            <a:ext cx="3703320" cy="868680"/>
          </a:xfrm>
          <a:prstGeom prst="rect">
            <a:avLst/>
          </a:prstGeom>
          <a:noFill/>
          <a:ln/>
        </p:spPr>
        <p:txBody>
          <a:bodyPr wrap="square" lIns="0" tIns="0" rIns="0" bIns="0" rtlCol="0" anchor="ctr"/>
          <a:lstStyle/>
          <a:p>
            <a:pPr algn="ctr" indent="0" marL="0">
              <a:buNone/>
            </a:pPr>
            <a:r>
              <a:rPr lang="en-US" sz="1050" b="1" spc="200" kern="0" dirty="0">
                <a:solidFill>
                  <a:srgbClr val="C9A227"/>
                </a:solidFill>
                <a:latin typeface="Calibri" pitchFamily="34" charset="0"/>
                <a:ea typeface="Calibri" pitchFamily="34" charset="-122"/>
                <a:cs typeface="Calibri" pitchFamily="34" charset="-120"/>
              </a:rPr>
              <a:t>PLAY HOLLOW HOUSE</a:t>
            </a:r>
            <a:endParaRPr lang="en-US" sz="1050" dirty="0"/>
          </a:p>
          <a:p>
            <a:pPr algn="ctr" indent="0" marL="0">
              <a:buNone/>
            </a:pPr>
            <a:r>
              <a:rPr lang="en-US" sz="1150" u="sng" dirty="0">
                <a:solidFill>
                  <a:srgbClr val="E9E2D0"/>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hollow.wickedways.online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Engine, Written in Rust — ecosystem tour</dc:title>
  <dc:subject>PptxGenJS Presentation</dc:subject>
  <dc:creator>Wicked Ways</dc:creator>
  <cp:lastModifiedBy>Wicked Ways</cp:lastModifiedBy>
  <cp:revision>1</cp:revision>
  <dcterms:created xsi:type="dcterms:W3CDTF">2026-08-24T17:49:29Z</dcterms:created>
  <dcterms:modified xsi:type="dcterms:W3CDTF">2026-08-24T17:49:29Z</dcterms:modified>
</cp:coreProperties>
</file>