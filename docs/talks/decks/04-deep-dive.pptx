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Budget ~34 minutes of talk + 5 for questions. Seven acts: the bet, determinism, the core, closed vocabularies, sync, the faces, golden pinning + costs.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disease everyone has had. Any interactive system on multiple surfaces grows multiple implementations of its own domain logic. In games it is vivid: the server owns the real rules; the client predicts each outcome so play feels instant and must undo and re-simulate when the server disagrees ('prediction' and 'rollback' — both bug factories); tutorials go stale; ports diverge.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bet: wickedways-core (~24k lines) is the only code that knows the rules; browser, desktop, room server, JS embedding, and the physical e-ink tabletop are projections. Preview the receipts so the audience knows where we are going.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Determinism here is load-bearing. Three rules, enforced, not aspirational. The dice wrinkle proves the rule: a table-supplied die is a recorded command — a literal value on the log — so real dice never break replay.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Consequence one: a game is a command log. Consequence two — distributed-systems folks will recognize it — replication becomes trivial. Consequence three: determinism has to survive content, not just engine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 story beat, cuttable. The exit-id sort order: UTF-16 code units vs UTF-8 bytes agree on ASCII, diverge above the BMP. Goldens pinned the old order, so room names are ASCII forever, documented.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engine concrete. Every attack first rolls a d20 to-hit — natural 20 crits for 1.5x, natural 1 stumbles into self-damage, 2-5 miss — then damage that lands runs the formula. Health guarded by Sanity, Sanity by Energy, Energy by Health. Mechanics interlock — which is exactly why they must not be re-implemented per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Exhibit 2: guards. The engine refuses illegal states rather than returning best-effort results; the type system and runtime guards are the same idea at two layers. Exhibit 3: within the crate, each invariant has one custodian. "One place" is not just one crate.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extensible family follows the same pattern. Native-first resolution; unknown keys fail fast at load. Serialization stores { key, state } only; behavior re-binds on hydrate.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dread mechanic, verbatim from the authoring surface: a turn-start sanity drain gated on carrying a lantern, plus a damage-cap transform. The DSL is a closed AST — no loops, restricted arithmetic, pinned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Hooks come in two shapes: reducers (react to events, return requested effects) and one damage transformer. Neither mutates — the engine applies every effect itself, clamped. The letters are the guardrails' fixed names; walk them by priority (that is why D comes before C). A, B, D are walls; C — Balance, limits on how strong content effects may be — is a sign; get the laugh. Then the stance: every "just this once" escape hatch is a second rules implementation wearing a trench coat.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of expressiveness. Hollow House is one TOML file whose compilation reproduces the committed artifacts byte-for-byte. Not a demo — the shipped campaign.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 act. Multiplayer in most games is its own discipline: prediction, rollback, reconciliation. Here it is a command log with a single resolver, and it falls out of Acts II–IV almost mechanically.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refusals carry the design. The reject/fizzle distinction is part of the wire contract and it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 paying compound interest. Cuttable nuance: even client-side conveniences are disciplined — keyed doors gate in the UI via the pure exit_block_reason query; the surface narrates the fail message and issues no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surfaces as receipts, cheapest story last. Presentation is a subscriber: cues carry pre-resolved sounds; the visibility cue drives reveal/conceal while the data model stays intact.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headline receipt and the emotional peak. The dice are the poetic part: roll a real d20 and the value reaches the engine as a recorded SupplyDice command through the same seam all randomness flows through — a physical die becomes engine randomness without breaking replay. Skip the roll and the house rolls for you. Land the point and pause.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256 fixtures pin observable behavior end to end. The workflow is the point: pins move, they just cannot move silently. The assembler-gate scoping shows the corpus is curated, not hoarded.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receipt of receipts, then the bill. One minute on costs: determinism tax, saying no, reviewable diffs, ASCII forever. Then the buys.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beat. Q&amp;A prep lives in the talk doc: latency (turn-based spends latency tolerance to buy zero reconciliation), cheating (authority resolves everything; info leakage is the remaining surface), DSL deliberately not Turing-complete, goldens move deliberately, why Rust (wasm+native+no_std, closed enums, branded types), and what is not unified (the network protocol reserves message types for chat and audio/video but the server does not implement them yet; desktop is single-player-only; Balance is advisory).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2170786"/>
            <a:ext cx="0" cy="1349654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45864" y="3103374"/>
            <a:ext cx="1989576" cy="417066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9235440" y="3103374"/>
            <a:ext cx="1989576" cy="417066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7245864" y="3520440"/>
            <a:ext cx="1989576" cy="417066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5440" y="3520440"/>
            <a:ext cx="1989576" cy="417066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27694" y="2812694"/>
            <a:ext cx="1415491" cy="1415491"/>
          </a:xfrm>
          <a:prstGeom prst="ellipse">
            <a:avLst/>
          </a:prstGeom>
          <a:solidFill>
            <a:srgbClr val="8E2F2F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27694" y="3283428"/>
            <a:ext cx="1415491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wickedways-core</a:t>
            </a:r>
            <a:endParaRPr lang="en-US" sz="864" dirty="0"/>
          </a:p>
        </p:txBody>
      </p:sp>
      <p:sp>
        <p:nvSpPr>
          <p:cNvPr id="9" name="Text 7"/>
          <p:cNvSpPr/>
          <p:nvPr/>
        </p:nvSpPr>
        <p:spPr>
          <a:xfrm>
            <a:off x="8344814" y="3533607"/>
            <a:ext cx="1781251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4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~24k lines · no_std Rust</a:t>
            </a:r>
            <a:endParaRPr lang="en-US" sz="684" dirty="0"/>
          </a:p>
        </p:txBody>
      </p:sp>
      <p:sp>
        <p:nvSpPr>
          <p:cNvPr id="10" name="Shape 8"/>
          <p:cNvSpPr/>
          <p:nvPr/>
        </p:nvSpPr>
        <p:spPr>
          <a:xfrm>
            <a:off x="8978676" y="1914022"/>
            <a:ext cx="513527" cy="513527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0" descr="/tmp/claude-0/-home-user-WickedWays/bfe20d4f-91dd-58c9-a5c6-92b3d7767e5d/scratchpad/decks/icons/mon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1923" y="2037269"/>
            <a:ext cx="267034" cy="26703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366760" y="154826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(wasm)</a:t>
            </a:r>
            <a:endParaRPr lang="en-US" sz="792" dirty="0"/>
          </a:p>
        </p:txBody>
      </p:sp>
      <p:sp>
        <p:nvSpPr>
          <p:cNvPr id="13" name="Shape 10"/>
          <p:cNvSpPr/>
          <p:nvPr/>
        </p:nvSpPr>
        <p:spPr>
          <a:xfrm>
            <a:off x="6989100" y="2846610"/>
            <a:ext cx="513527" cy="513527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4" name="Image 1" descr="/tmp/claude-0/-home-user-WickedWays/bfe20d4f-91dd-58c9-a5c6-92b3d7767e5d/scratchpad/decks/icons/harddri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347" y="2969857"/>
            <a:ext cx="267034" cy="26703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377184" y="248085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shell</a:t>
            </a:r>
            <a:endParaRPr lang="en-US" sz="792" dirty="0"/>
          </a:p>
        </p:txBody>
      </p:sp>
      <p:sp>
        <p:nvSpPr>
          <p:cNvPr id="16" name="Shape 12"/>
          <p:cNvSpPr/>
          <p:nvPr/>
        </p:nvSpPr>
        <p:spPr>
          <a:xfrm>
            <a:off x="10968253" y="2846610"/>
            <a:ext cx="513527" cy="513527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7" name="Image 2" descr="/tmp/claude-0/-home-user-WickedWays/bfe20d4f-91dd-58c9-a5c6-92b3d7767e5d/scratchpad/decks/icons/ser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499" y="2969857"/>
            <a:ext cx="267034" cy="26703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356336" y="248085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server</a:t>
            </a:r>
            <a:endParaRPr lang="en-US" sz="792" dirty="0"/>
          </a:p>
        </p:txBody>
      </p:sp>
      <p:sp>
        <p:nvSpPr>
          <p:cNvPr id="19" name="Shape 14"/>
          <p:cNvSpPr/>
          <p:nvPr/>
        </p:nvSpPr>
        <p:spPr>
          <a:xfrm>
            <a:off x="6989100" y="3680743"/>
            <a:ext cx="513527" cy="513527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20" name="Image 3" descr="/tmp/claude-0/-home-user-WickedWays/bfe20d4f-91dd-58c9-a5c6-92b3d7767e5d/scratchpad/decks/icons/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347" y="3803989"/>
            <a:ext cx="267034" cy="26703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377184" y="423999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embedding</a:t>
            </a:r>
            <a:endParaRPr lang="en-US" sz="792" dirty="0"/>
          </a:p>
        </p:txBody>
      </p:sp>
      <p:sp>
        <p:nvSpPr>
          <p:cNvPr id="22" name="Shape 16"/>
          <p:cNvSpPr/>
          <p:nvPr/>
        </p:nvSpPr>
        <p:spPr>
          <a:xfrm>
            <a:off x="10968253" y="3680743"/>
            <a:ext cx="513527" cy="513527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23" name="Image 4" descr="/tmp/claude-0/-home-user-WickedWays/bfe20d4f-91dd-58c9-a5c6-92b3d7767e5d/scratchpad/decks/icons/cpu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499" y="3803989"/>
            <a:ext cx="267034" cy="26703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0356336" y="423999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board</a:t>
            </a:r>
            <a:endParaRPr lang="en-US" sz="792" dirty="0"/>
          </a:p>
        </p:txBody>
      </p:sp>
      <p:sp>
        <p:nvSpPr>
          <p:cNvPr id="25" name="Text 18"/>
          <p:cNvSpPr/>
          <p:nvPr/>
        </p:nvSpPr>
        <p:spPr>
          <a:xfrm>
            <a:off x="685800" y="1417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WICKED WAYS · DEEP DIVE · 30–40 MIN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685800" y="173736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Engine to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Them All</a:t>
            </a:r>
            <a:endParaRPr lang="en-US" sz="4800" dirty="0"/>
          </a:p>
        </p:txBody>
      </p:sp>
      <p:sp>
        <p:nvSpPr>
          <p:cNvPr id="27" name="Text 20"/>
          <p:cNvSpPr/>
          <p:nvPr/>
        </p:nvSpPr>
        <p:spPr>
          <a:xfrm>
            <a:off x="685800" y="3886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Determinism, closed vocabularies, and golden pins</a:t>
            </a:r>
            <a:endParaRPr lang="en-US" sz="1900" dirty="0"/>
          </a:p>
          <a:p>
            <a:pPr indent="0" marL="0">
              <a:buNone/>
            </a:pPr>
            <a:r>
              <a:rPr lang="en-US" sz="1900" i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an architecture</a:t>
            </a:r>
            <a:endParaRPr lang="en-US" sz="1900" dirty="0"/>
          </a:p>
        </p:txBody>
      </p:sp>
      <p:sp>
        <p:nvSpPr>
          <p:cNvPr id="28" name="Text 21"/>
          <p:cNvSpPr/>
          <p:nvPr/>
        </p:nvSpPr>
        <p:spPr>
          <a:xfrm>
            <a:off x="685800" y="6126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acts · a turn-based horror-RPG engine in Rust · Q&amp;A at the end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 — THE DISEASE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logic forks, then disagrees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64608" y="1600200"/>
            <a:ext cx="2468880" cy="640080"/>
          </a:xfrm>
          <a:prstGeom prst="roundRect">
            <a:avLst>
              <a:gd name="adj" fmla="val 10000"/>
            </a:avLst>
          </a:prstGeom>
          <a:solidFill>
            <a:srgbClr val="8E2F2F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64608" y="16002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2606040" cy="1234440"/>
          </a:xfrm>
          <a:prstGeom prst="roundRect">
            <a:avLst>
              <a:gd name="adj" fmla="val 5185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2826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server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rules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0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real ones"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 flipH="1">
            <a:off x="1851660" y="2240280"/>
            <a:ext cx="4247388" cy="868680"/>
          </a:xfrm>
          <a:prstGeom prst="line">
            <a:avLst/>
          </a:prstGeom>
          <a:noFill/>
          <a:ln w="19050">
            <a:solidFill>
              <a:srgbClr val="D0606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74136" y="3154680"/>
            <a:ext cx="2606040" cy="1234440"/>
          </a:xfrm>
          <a:prstGeom prst="roundRect">
            <a:avLst>
              <a:gd name="adj" fmla="val 5185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5576" y="32826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65576" y="36576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 approximation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65576" y="4526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0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+ rollback drift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flipH="1">
            <a:off x="4677156" y="2240280"/>
            <a:ext cx="1421892" cy="868680"/>
          </a:xfrm>
          <a:prstGeom prst="line">
            <a:avLst/>
          </a:prstGeom>
          <a:noFill/>
          <a:ln w="19050">
            <a:solidFill>
              <a:srgbClr val="D0606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99632" y="3154680"/>
            <a:ext cx="2606040" cy="1234440"/>
          </a:xfrm>
          <a:prstGeom prst="roundRect">
            <a:avLst>
              <a:gd name="adj" fmla="val 5185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32826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tutorial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91072" y="36576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scripted fake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91072" y="4526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0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stale, then lies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099048" y="2240280"/>
            <a:ext cx="1403604" cy="868680"/>
          </a:xfrm>
          <a:prstGeom prst="line">
            <a:avLst/>
          </a:prstGeom>
          <a:noFill/>
          <a:ln w="19050">
            <a:solidFill>
              <a:srgbClr val="D0606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025128" y="3154680"/>
            <a:ext cx="2606040" cy="1234440"/>
          </a:xfrm>
          <a:prstGeom prst="roundRect">
            <a:avLst>
              <a:gd name="adj" fmla="val 5185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16568" y="32826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port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16568" y="36576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product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116568" y="4526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0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diverges forever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099048" y="2240280"/>
            <a:ext cx="4229100" cy="868680"/>
          </a:xfrm>
          <a:prstGeom prst="line">
            <a:avLst/>
          </a:prstGeom>
          <a:noFill/>
          <a:ln w="19050">
            <a:solidFill>
              <a:srgbClr val="D06060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822960" y="52578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copy is a place for the rules to disagree — and they will.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" y="580644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worst bugs live in the disagreement — the ones that only reproduce on one surface.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 — THE BET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rules exist in exactly one place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9048" y="1795882"/>
            <a:ext cx="0" cy="1724558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56812" y="2987522"/>
            <a:ext cx="2542236" cy="532918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>
            <a:off x="6099048" y="2987522"/>
            <a:ext cx="2542236" cy="532918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3556812" y="3520440"/>
            <a:ext cx="2542236" cy="532918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3520440"/>
            <a:ext cx="2542236" cy="532918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94706" y="2616098"/>
            <a:ext cx="1808683" cy="1808683"/>
          </a:xfrm>
          <a:prstGeom prst="ellipse">
            <a:avLst/>
          </a:prstGeom>
          <a:solidFill>
            <a:srgbClr val="8E2F2F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94706" y="3217591"/>
            <a:ext cx="1808683" cy="336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4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wickedways-core</a:t>
            </a:r>
            <a:endParaRPr lang="en-US" sz="1104" dirty="0"/>
          </a:p>
        </p:txBody>
      </p:sp>
      <p:sp>
        <p:nvSpPr>
          <p:cNvPr id="11" name="Text 9"/>
          <p:cNvSpPr/>
          <p:nvPr/>
        </p:nvSpPr>
        <p:spPr>
          <a:xfrm>
            <a:off x="5011826" y="3537265"/>
            <a:ext cx="2174443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4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~24k lines · no_std Rust</a:t>
            </a:r>
            <a:endParaRPr lang="en-US" sz="874" dirty="0"/>
          </a:p>
        </p:txBody>
      </p:sp>
      <p:sp>
        <p:nvSpPr>
          <p:cNvPr id="12" name="Shape 10"/>
          <p:cNvSpPr/>
          <p:nvPr/>
        </p:nvSpPr>
        <p:spPr>
          <a:xfrm>
            <a:off x="5770961" y="1467795"/>
            <a:ext cx="656173" cy="656173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3" name="Image 0" descr="/tmp/claude-0/-home-user-WickedWays/bfe20d4f-91dd-58c9-a5c6-92b3d7767e5d/scratchpad/decks/icons/mon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8443" y="1625277"/>
            <a:ext cx="341210" cy="34121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230368" y="1102035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(wasm)</a:t>
            </a:r>
            <a:endParaRPr lang="en-US" sz="1012" dirty="0"/>
          </a:p>
        </p:txBody>
      </p:sp>
      <p:sp>
        <p:nvSpPr>
          <p:cNvPr id="15" name="Shape 12"/>
          <p:cNvSpPr/>
          <p:nvPr/>
        </p:nvSpPr>
        <p:spPr>
          <a:xfrm>
            <a:off x="3228725" y="2659435"/>
            <a:ext cx="656173" cy="656173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6" name="Image 1" descr="/tmp/claude-0/-home-user-WickedWays/bfe20d4f-91dd-58c9-a5c6-92b3d7767e5d/scratchpad/decks/icons/harddri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207" y="2816917"/>
            <a:ext cx="341210" cy="34121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688132" y="2293675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shell</a:t>
            </a:r>
            <a:endParaRPr lang="en-US" sz="1012" dirty="0"/>
          </a:p>
        </p:txBody>
      </p:sp>
      <p:sp>
        <p:nvSpPr>
          <p:cNvPr id="18" name="Shape 14"/>
          <p:cNvSpPr/>
          <p:nvPr/>
        </p:nvSpPr>
        <p:spPr>
          <a:xfrm>
            <a:off x="8313198" y="2659435"/>
            <a:ext cx="656173" cy="656173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9" name="Image 2" descr="/tmp/claude-0/-home-user-WickedWays/bfe20d4f-91dd-58c9-a5c6-92b3d7767e5d/scratchpad/decks/icons/ser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679" y="2816917"/>
            <a:ext cx="341210" cy="34121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772604" y="2293675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server</a:t>
            </a:r>
            <a:endParaRPr lang="en-US" sz="1012" dirty="0"/>
          </a:p>
        </p:txBody>
      </p:sp>
      <p:sp>
        <p:nvSpPr>
          <p:cNvPr id="21" name="Shape 16"/>
          <p:cNvSpPr/>
          <p:nvPr/>
        </p:nvSpPr>
        <p:spPr>
          <a:xfrm>
            <a:off x="3228725" y="3725271"/>
            <a:ext cx="656173" cy="656173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22" name="Image 3" descr="/tmp/claude-0/-home-user-WickedWays/bfe20d4f-91dd-58c9-a5c6-92b3d7767e5d/scratchpad/decks/icons/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6207" y="3882753"/>
            <a:ext cx="341210" cy="34121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688132" y="4427165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embedding</a:t>
            </a:r>
            <a:endParaRPr lang="en-US" sz="1012" dirty="0"/>
          </a:p>
        </p:txBody>
      </p:sp>
      <p:sp>
        <p:nvSpPr>
          <p:cNvPr id="24" name="Shape 18"/>
          <p:cNvSpPr/>
          <p:nvPr/>
        </p:nvSpPr>
        <p:spPr>
          <a:xfrm>
            <a:off x="8313198" y="3725271"/>
            <a:ext cx="656173" cy="656173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25" name="Image 4" descr="/tmp/claude-0/-home-user-WickedWays/bfe20d4f-91dd-58c9-a5c6-92b3d7767e5d/scratchpad/decks/icons/cpu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0679" y="3882753"/>
            <a:ext cx="341210" cy="34121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772604" y="4427165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board</a:t>
            </a:r>
            <a:endParaRPr lang="en-US" sz="1012" dirty="0"/>
          </a:p>
        </p:txBody>
      </p:sp>
      <p:sp>
        <p:nvSpPr>
          <p:cNvPr id="27" name="Shape 20"/>
          <p:cNvSpPr/>
          <p:nvPr/>
        </p:nvSpPr>
        <p:spPr>
          <a:xfrm>
            <a:off x="548640" y="5486400"/>
            <a:ext cx="11091672" cy="868680"/>
          </a:xfrm>
          <a:prstGeom prst="roundRect">
            <a:avLst>
              <a:gd name="adj" fmla="val 7368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8" name="Text 21"/>
          <p:cNvSpPr/>
          <p:nvPr/>
        </p:nvSpPr>
        <p:spPr>
          <a:xfrm>
            <a:off x="822960" y="548640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Receipts ahead:  zero client-side game logic  ·  ports priced in hundreds of lines  ·  a rewrite executed against the tests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 — DETERMINISM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rules, mechanically enforced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14344" cy="3200400"/>
          </a:xfrm>
          <a:prstGeom prst="roundRect">
            <a:avLst>
              <a:gd name="adj" fmla="val 200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30908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d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0862" y="2136770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RNG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68096" y="3657600"/>
            <a:ext cx="30754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randomness flows through World.rng — a seeded mulberry32. Every to-hit d20, every shake-off d100, every encounter roll draws from it; its state rides in the snapshot. Even a real die rolled at the table enters as a recorded command — replays stay exact.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37304" y="1645920"/>
            <a:ext cx="3514344" cy="3200400"/>
          </a:xfrm>
          <a:prstGeom prst="roundRect">
            <a:avLst>
              <a:gd name="adj" fmla="val 200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19572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526" y="2136770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38472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clock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556760" y="3657600"/>
            <a:ext cx="30754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Wall-time access does not exist in the engine. There is nothing to mock, because there is nothing there.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25968" y="1645920"/>
            <a:ext cx="3514344" cy="3200400"/>
          </a:xfrm>
          <a:prstGeom prst="roundRect">
            <a:avLst>
              <a:gd name="adj" fmla="val 200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508236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6" name="Image 2" descr="/tmp/claude-0/-home-user-WickedWays/bfe20d4f-91dd-58c9-a5c6-92b3d7767e5d/scratchpad/decks/icons/xcircle_b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8190" y="2136770"/>
            <a:ext cx="389900" cy="389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7136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IO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345424" y="3657600"/>
            <a:ext cx="30754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is a pure state machine: commands in, state + cues out. Presentation subscribes to the cue stream; subscriber errors are isolated so a faulty renderer cannot disrupt the turn loop.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822960" y="52578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testing nicety — the foundation the other two disciplines stand 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 — DETERMINISM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falls out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14344" cy="3291840"/>
          </a:xfrm>
          <a:prstGeom prst="roundRect">
            <a:avLst>
              <a:gd name="adj" fmla="val 1944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30908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scro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0862" y="2136770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game is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command log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8096" y="3840480"/>
            <a:ext cx="3075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genesis, same log, same world — on any machine, in any decade. Saves are snapshots; replays are logs; bug reports are reproducible by construction.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37304" y="1645920"/>
            <a:ext cx="3514344" cy="3291840"/>
          </a:xfrm>
          <a:prstGeom prst="roundRect">
            <a:avLst>
              <a:gd name="adj" fmla="val 1944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19572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526" y="2136770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38472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Replication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becomes trivial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56760" y="3840480"/>
            <a:ext cx="3075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resolution is deterministic and centralized, replicas never need to resolve anything. Hold that thought for Act V.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25968" y="1645920"/>
            <a:ext cx="3514344" cy="3291840"/>
          </a:xfrm>
          <a:prstGeom prst="roundRect">
            <a:avLst>
              <a:gd name="adj" fmla="val 1944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508236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6" name="Image 2" descr="/tmp/claude-0/-home-user-WickedWays/bfe20d4f-91dd-58c9-a5c6-92b3d7767e5d/scratchpad/decks/icons/fil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8190" y="2136770"/>
            <a:ext cx="389900" cy="389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7136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must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comply too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45424" y="3840480"/>
            <a:ext cx="3075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User-authored behaviors run inside the engine, so the scripting surface itself is deterministic: no loops, ordered iteration, restricted arithmetic, rng injected only. Act IV.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 — WAR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Determinism is fragile in dumb 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2286000"/>
          </a:xfrm>
          <a:prstGeom prst="roundRect">
            <a:avLst>
              <a:gd name="adj" fmla="val 280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ids are minted by sorting the two room names: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exit:{a}|{b}    —  a, b sorted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TypeScript engine sorted UTF-16 code units. Rust sorts UTF-8 bytes.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agree on ASCII — and diverge above the basic multilingual plane. The committed goldens were minted under the old order.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5408676" cy="1417320"/>
          </a:xfrm>
          <a:prstGeom prst="roundRect">
            <a:avLst>
              <a:gd name="adj" fmla="val 4516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4416552"/>
            <a:ext cx="50063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68096" y="4873752"/>
            <a:ext cx="49697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names are constrained to ASCII — and the constraint is documented as a constraint, not silently patched.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1636" y="4160520"/>
            <a:ext cx="5408676" cy="1417320"/>
          </a:xfrm>
          <a:prstGeom prst="roundRect">
            <a:avLst>
              <a:gd name="adj" fmla="val 4516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2804" y="4416552"/>
            <a:ext cx="50063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moral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51092" y="4873752"/>
            <a:ext cx="49697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 across a rewrite means inheriting your past self's sorting quirks. Write them down.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589788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 seconds — cut this slide first if running long.)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 — THE CORE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Exhibit 1 · the stat triangle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206240"/>
          </a:xfrm>
          <a:prstGeom prst="roundRect">
            <a:avLst>
              <a:gd name="adj" fmla="val 152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14016" y="1865376"/>
            <a:ext cx="1207008" cy="1207008"/>
          </a:xfrm>
          <a:prstGeom prst="ellipse">
            <a:avLst/>
          </a:prstGeom>
          <a:solidFill>
            <a:srgbClr val="2B2342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414016" y="1865376"/>
            <a:ext cx="120700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79576" y="3785616"/>
            <a:ext cx="1207008" cy="1207008"/>
          </a:xfrm>
          <a:prstGeom prst="ellipse">
            <a:avLst/>
          </a:prstGeom>
          <a:solidFill>
            <a:srgbClr val="2B2342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9576" y="3785616"/>
            <a:ext cx="120700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Sanity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48456" y="3785616"/>
            <a:ext cx="1207008" cy="1207008"/>
          </a:xfrm>
          <a:prstGeom prst="ellipse">
            <a:avLst/>
          </a:prstGeom>
          <a:solidFill>
            <a:srgbClr val="2B2342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48456" y="3785616"/>
            <a:ext cx="120700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 flipH="1">
            <a:off x="2103120" y="2944368"/>
            <a:ext cx="457200" cy="758952"/>
          </a:xfrm>
          <a:prstGeom prst="line">
            <a:avLst/>
          </a:prstGeom>
          <a:noFill/>
          <a:ln w="1905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423160" y="4407408"/>
            <a:ext cx="1188720" cy="0"/>
          </a:xfrm>
          <a:prstGeom prst="line">
            <a:avLst/>
          </a:prstGeom>
          <a:noFill/>
          <a:ln w="1905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 flipV="1">
            <a:off x="3474720" y="2926080"/>
            <a:ext cx="502920" cy="841248"/>
          </a:xfrm>
          <a:prstGeom prst="line">
            <a:avLst/>
          </a:prstGeom>
          <a:noFill/>
          <a:ln w="1905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731520" y="5349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stat is mitigated by the next in the cycle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760720" y="1554480"/>
            <a:ext cx="5879592" cy="2103120"/>
          </a:xfrm>
          <a:prstGeom prst="roundRect">
            <a:avLst>
              <a:gd name="adj" fmla="val 3043"/>
            </a:avLst>
          </a:prstGeom>
          <a:solidFill>
            <a:srgbClr val="13101B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755648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to-hit    = d20  (20 crit ×1.5 · 1 stumble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· 2–5 miss · 6–19 hit)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mitigated = max(0, attack − armor)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    = mitigated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× max(0, 10 − mitigator)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× 0.2 × lightMultiplier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760720" y="3886200"/>
            <a:ext cx="5879592" cy="1874520"/>
          </a:xfrm>
          <a:prstGeom prst="roundRect">
            <a:avLst>
              <a:gd name="adj" fmla="val 3415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4114800"/>
            <a:ext cx="5257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fully-rested mitigator absorbs everything; a depleted one doubles damage.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lightMultiplier: light-averse monsters take 1.5x damage in a lit room. Afflictions — KO, Panic, Fear, Confused — trigger at thresholds and stick, gating which actions you may attempt.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603504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stance: mechanics interlock through shared state — fork one and you fork a system, not a function.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 — THE CORE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Exhibits 2 &amp; 3 · refusal and custody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08676" cy="3246120"/>
          </a:xfrm>
          <a:prstGeom prst="roundRect">
            <a:avLst>
              <a:gd name="adj" fmla="val 197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78074" y="191109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8028" y="2091050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834640"/>
            <a:ext cx="50063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guards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API contract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8096" y="3794760"/>
            <a:ext cx="4969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Illegal operations — acting before begin_campaign, a GM leaving, equipping past slot capacity — throw ProceduralViolation. Refusal strings are replay-observable and pinned. Branded id types (RoomId ≠ CharacterId) make wrong-id bugs unrepresentable, at zero runtime cost.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31636" y="1600200"/>
            <a:ext cx="5408676" cy="3246120"/>
          </a:xfrm>
          <a:prstGeom prst="roundRect">
            <a:avLst>
              <a:gd name="adj" fmla="val 197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61070" y="191109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1024" y="2091050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32804" y="2834640"/>
            <a:ext cx="50063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Hidden state behind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symbol seams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51092" y="3794760"/>
            <a:ext cx="4969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Ownership, durability, equip state, the material pool, codex recording — written only through symbol-keyed accessors: HELD_BY, SET_DURABILITY, EQUIP, DEPOSIT_MATERIALS, RECORD_ENCOUNTER. External code cannot re-point a holder or refill durability. One custodian per invariant.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5120640"/>
            <a:ext cx="11091672" cy="914400"/>
          </a:xfrm>
          <a:prstGeom prst="roundRect">
            <a:avLst>
              <a:gd name="adj" fmla="val 7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512064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portability stance: no_std-capable, alloc-only, CI-gated — the identical crate compiles to wasm for the browser and native for a serial-port controller.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 — CLOSED VOCABULARIES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idiom, six families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361944" cy="1280160"/>
          </a:xfrm>
          <a:prstGeom prst="roundRect">
            <a:avLst>
              <a:gd name="adj" fmla="val 5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901952"/>
            <a:ext cx="3215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behavior_key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" y="2494483"/>
            <a:ext cx="321564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stable string,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the snapshot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83736" y="246888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247644" y="31455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first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13504" y="1828800"/>
            <a:ext cx="3361944" cy="1280160"/>
          </a:xfrm>
          <a:prstGeom prst="roundRect">
            <a:avLst>
              <a:gd name="adj" fmla="val 5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6656" y="1901952"/>
            <a:ext cx="3215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native registry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86656" y="2494483"/>
            <a:ext cx="321564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lookup table: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→ compiled-in code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848600" y="246888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7112508" y="31455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 fall back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78368" y="1828800"/>
            <a:ext cx="3361944" cy="1280160"/>
          </a:xfrm>
          <a:prstGeom prst="roundRect">
            <a:avLst>
              <a:gd name="adj" fmla="val 5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1901952"/>
            <a:ext cx="3215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 script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51520" y="2494483"/>
            <a:ext cx="321564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TOML-authored script,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as data — no loops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329184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0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key → ProceduralViolation at load — not a surprise at hour three of a session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8368" y="3931920"/>
            <a:ext cx="1014984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931920"/>
            <a:ext cx="1014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MechanicOp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37944" y="3931920"/>
            <a:ext cx="1170432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37944" y="393192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ExitBehavior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72968" y="3931920"/>
            <a:ext cx="1248156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72968" y="3931920"/>
            <a:ext cx="12481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SceneBehavior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85716" y="3931920"/>
            <a:ext cx="1481328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5716" y="3931920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VictoryCondition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31636" y="3931920"/>
            <a:ext cx="1170432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31636" y="393192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ItemBehavior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566660" y="3931920"/>
            <a:ext cx="1559052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66660" y="3931920"/>
            <a:ext cx="15590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FormationBehavior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4709160"/>
            <a:ext cx="11091672" cy="1234440"/>
          </a:xfrm>
          <a:prstGeom prst="roundRect">
            <a:avLst>
              <a:gd name="adj" fmla="val 518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48006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 engine" dies the day someone needs a doom counter and patches the core to get it.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trait / registry / scripted-fallback pattern serves all six families — extend the pattern, never inline-match new behavior.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 — CLOSED VOCABULARIES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scripts are data, not a language runtime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217920" cy="4160520"/>
          </a:xfrm>
          <a:prstGeom prst="roundRect">
            <a:avLst>
              <a:gd name="adj" fmla="val 1538"/>
            </a:avLst>
          </a:prstGeom>
          <a:solidFill>
            <a:srgbClr val="13101B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28800"/>
            <a:ext cx="5669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[behaviors.mechanic.dread]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= {}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onTurnStart = '''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guard !hasEquipped(actor, 'lantern')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emit adjustStat(actor, sanity, -1)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modifyDamage =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"damage.amount &gt; 3 ? final 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: damage.amount"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040880" y="1554480"/>
            <a:ext cx="4599432" cy="4160520"/>
          </a:xfrm>
          <a:prstGeom prst="roundRect">
            <a:avLst>
              <a:gd name="adj" fmla="val 1538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60920" y="182880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user code executes — </a:t>
            </a:r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structure is evaluated.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Loop-free by grammar — </a:t>
            </a:r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is a property of the AST, not a runtime watchdog.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by construction — </a:t>
            </a:r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iteration; float math restricted to + − × ÷ and comparisons; number-to-string pinned byte-for-byte; randomness only via the injected rng.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from TOML — </a:t>
            </a:r>
            <a:pPr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/ when / set state.x / emit …, lowered to the closed Expr + Stmt AST the core interprets.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59436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 survives content because the content cannot express nondeterminism.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 — CLOSED VOCABULARIES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Effects out, guardrails around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CLOSED EFFECT UNION — EIGHT VARIANTS, NOTHING ELSE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325880" y="1828800"/>
            <a:ext cx="704088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25880" y="1828800"/>
            <a:ext cx="704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194560" y="1828800"/>
            <a:ext cx="548640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94560" y="1828800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907792" y="1828800"/>
            <a:ext cx="1014984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7792" y="1828800"/>
            <a:ext cx="1014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adjustStat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87368" y="1828800"/>
            <a:ext cx="1248156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87368" y="1828800"/>
            <a:ext cx="12481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grantImmunity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500116" y="1828800"/>
            <a:ext cx="470916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00116" y="1828800"/>
            <a:ext cx="4709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35624" y="1828800"/>
            <a:ext cx="704088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35624" y="1828800"/>
            <a:ext cx="704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004304" y="1828800"/>
            <a:ext cx="859536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04304" y="1828800"/>
            <a:ext cx="859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giveItem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28432" y="1828800"/>
            <a:ext cx="1014984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28432" y="1828800"/>
            <a:ext cx="1014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setVisible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2514600"/>
            <a:ext cx="11091672" cy="594360"/>
          </a:xfrm>
          <a:prstGeom prst="roundRect">
            <a:avLst>
              <a:gd name="adj" fmla="val 1076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2587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417320" y="25146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Integrity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3200400" y="2514600"/>
            <a:ext cx="8183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effect menu; the engine applies each one itself, clamped — no raw setters reachable, ever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11091672" cy="594360"/>
          </a:xfrm>
          <a:prstGeom prst="roundRect">
            <a:avLst>
              <a:gd name="adj" fmla="val 1076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3300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417320" y="3227832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Determinism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3200400" y="3227832"/>
            <a:ext cx="8183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receive a read-only CampaignView projection — no engine handles, no clock, no IO; rng()/roll(n) injected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3941064"/>
            <a:ext cx="11091672" cy="594360"/>
          </a:xfrm>
          <a:prstGeom prst="roundRect">
            <a:avLst>
              <a:gd name="adj" fmla="val 1076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014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417320" y="3941064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Termination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3200400" y="3941064"/>
            <a:ext cx="8183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collect-then-apply (no reducer observes another mid-event) · MAX_EFFECTS_PER_EVENT = 64 · no re-entrancy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4654296"/>
            <a:ext cx="11091672" cy="594360"/>
          </a:xfrm>
          <a:prstGeom prst="roundRect">
            <a:avLst>
              <a:gd name="adj" fmla="val 10769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4727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06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417320" y="4654296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3200400" y="4654296"/>
            <a:ext cx="8183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advisory. Three guardrails are walls; one is a sign.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discipline is part of the vocabulary: v1 deliberately excludes spawning mobs, ending the campaign, forging ownership. A closed vocabulary is only closed if you can say no.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 — THE RECEIPT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Hollow House, byte-for-byte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998878" cy="1645920"/>
          </a:xfrm>
          <a:prstGeom prst="roundRect">
            <a:avLst>
              <a:gd name="adj" fmla="val 388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37944"/>
            <a:ext cx="1815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85800" y="2679192"/>
            <a:ext cx="1724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21838" y="1691640"/>
            <a:ext cx="1998878" cy="1645920"/>
          </a:xfrm>
          <a:prstGeom prst="roundRect">
            <a:avLst>
              <a:gd name="adj" fmla="val 388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13278" y="1837944"/>
            <a:ext cx="1815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958998" y="2679192"/>
            <a:ext cx="1724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exits — 3 of them keyed doors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95037" y="1691640"/>
            <a:ext cx="1998878" cy="1645920"/>
          </a:xfrm>
          <a:prstGeom prst="roundRect">
            <a:avLst>
              <a:gd name="adj" fmla="val 388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86477" y="1837944"/>
            <a:ext cx="1815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232197" y="2679192"/>
            <a:ext cx="1724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mechanics, incl. the full storyteller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68235" y="1691640"/>
            <a:ext cx="1998878" cy="1645920"/>
          </a:xfrm>
          <a:prstGeom prst="roundRect">
            <a:avLst>
              <a:gd name="adj" fmla="val 388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9675" y="1837944"/>
            <a:ext cx="1815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7505395" y="2679192"/>
            <a:ext cx="1724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victory conditions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41434" y="1691640"/>
            <a:ext cx="1998878" cy="1645920"/>
          </a:xfrm>
          <a:prstGeom prst="roundRect">
            <a:avLst>
              <a:gd name="adj" fmla="val 388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32874" y="1837944"/>
            <a:ext cx="1815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9778594" y="2679192"/>
            <a:ext cx="1724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TOML file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11091672" cy="1371600"/>
          </a:xfrm>
          <a:prstGeom prst="roundRect">
            <a:avLst>
              <a:gd name="adj" fmla="val 4667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84048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shipped campaign — an NPC dialogue tree with a once-latched key hand-off, the dread meter,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roving rats, the attic win — compiles to the committed description + catalog JSON byte-for-byte.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2960" y="557784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 to closed vocabularies is "you can't write real content in that." This is the answer: the DSL is the production authoring surface.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 — SYNC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command log with a single resolver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852574" cy="914400"/>
          </a:xfrm>
          <a:prstGeom prst="roundRect">
            <a:avLst>
              <a:gd name="adj" fmla="val 7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828800"/>
            <a:ext cx="17062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submit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474366" y="2286000"/>
            <a:ext cx="31089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58414" y="1828800"/>
            <a:ext cx="1852574" cy="914400"/>
          </a:xfrm>
          <a:prstGeom prst="roundRect">
            <a:avLst>
              <a:gd name="adj" fmla="val 7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31566" y="1828800"/>
            <a:ext cx="17062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84141" y="2286000"/>
            <a:ext cx="31089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68189" y="1828800"/>
            <a:ext cx="1852574" cy="914400"/>
          </a:xfrm>
          <a:prstGeom prst="roundRect">
            <a:avLst>
              <a:gd name="adj" fmla="val 7000"/>
            </a:avLst>
          </a:prstGeom>
          <a:solidFill>
            <a:srgbClr val="8E2F2F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41341" y="1901952"/>
            <a:ext cx="17062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41341" y="2304288"/>
            <a:ext cx="17062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engine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93915" y="2286000"/>
            <a:ext cx="31089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477963" y="1828800"/>
            <a:ext cx="1852574" cy="914400"/>
          </a:xfrm>
          <a:prstGeom prst="roundRect">
            <a:avLst>
              <a:gd name="adj" fmla="val 7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51115" y="1828800"/>
            <a:ext cx="17062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 diff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03690" y="2286000"/>
            <a:ext cx="31089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787738" y="1828800"/>
            <a:ext cx="1852574" cy="914400"/>
          </a:xfrm>
          <a:prstGeom prst="roundRect">
            <a:avLst>
              <a:gd name="adj" fmla="val 7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60890" y="1828800"/>
            <a:ext cx="17062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seq, delta } log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011680" y="4206240"/>
            <a:ext cx="1737360" cy="777240"/>
          </a:xfrm>
          <a:prstGeom prst="roundRect">
            <a:avLst>
              <a:gd name="adj" fmla="val 823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11680" y="4206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 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 flipH="1">
            <a:off x="2880360" y="2834640"/>
            <a:ext cx="7178040" cy="1325880"/>
          </a:xfrm>
          <a:prstGeom prst="line">
            <a:avLst/>
          </a:prstGeom>
          <a:noFill/>
          <a:ln w="15875">
            <a:solidFill>
              <a:srgbClr val="3A3152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50408" y="4206240"/>
            <a:ext cx="1737360" cy="777240"/>
          </a:xfrm>
          <a:prstGeom prst="roundRect">
            <a:avLst>
              <a:gd name="adj" fmla="val 823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50408" y="4206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 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 flipH="1">
            <a:off x="6419088" y="2834640"/>
            <a:ext cx="3639312" cy="1325880"/>
          </a:xfrm>
          <a:prstGeom prst="line">
            <a:avLst/>
          </a:prstGeom>
          <a:noFill/>
          <a:ln w="15875">
            <a:solidFill>
              <a:srgbClr val="3A315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052560" y="4206240"/>
            <a:ext cx="1737360" cy="777240"/>
          </a:xfrm>
          <a:prstGeom prst="roundRect">
            <a:avLst>
              <a:gd name="adj" fmla="val 823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52560" y="4206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 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 flipH="1">
            <a:off x="9921240" y="2834640"/>
            <a:ext cx="137160" cy="1325880"/>
          </a:xfrm>
          <a:prstGeom prst="line">
            <a:avLst/>
          </a:prstGeom>
          <a:noFill/>
          <a:ln w="15875">
            <a:solidFill>
              <a:srgbClr val="3A315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548640" y="51663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DeltaApplier — patches state, never runs game logic, never draws RNG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" y="57150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own a SyncCoordinator holding a local replica; gaps heal via entriesSince; late joiners hydrate from checkpoint + tail.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 — SYNC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no's do the heavy lifting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14344" cy="3657600"/>
          </a:xfrm>
          <a:prstGeom prst="roundRect">
            <a:avLst>
              <a:gd name="adj" fmla="val 1821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30908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x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0862" y="2136770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optimistic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mutation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8096" y="3840480"/>
            <a:ext cx="3075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changes only when an authoritative delta arrives. No rollback exists because nothing is ever ahead of the log.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37304" y="1645920"/>
            <a:ext cx="3514344" cy="3657600"/>
          </a:xfrm>
          <a:prstGeom prst="roundRect">
            <a:avLst>
              <a:gd name="adj" fmla="val 1821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19572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x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526" y="2136770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38472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replica-side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56760" y="3840480"/>
            <a:ext cx="3075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DeltaApplier patches state and never draws RNG or runs rules. Convergence is not tested into existence — it is true by construction.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25968" y="1645920"/>
            <a:ext cx="3514344" cy="3657600"/>
          </a:xfrm>
          <a:prstGeom prst="roundRect">
            <a:avLst>
              <a:gd name="adj" fmla="val 1821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508236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6" name="Image 2" descr="/tmp/claude-0/-home-user-WickedWays/bfe20d4f-91dd-58c9-a5c6-92b3d7767e5d/scratchpad/decks/icons/x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8190" y="2136770"/>
            <a:ext cx="389900" cy="389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7136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ambiguity: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 ≠ fizzle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45424" y="3840480"/>
            <a:ext cx="3075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rejection (wrong turn, seat auth, ProceduralViolation) never commits. A fizzle — legal but ineffective, like a fully-mitigated attack — commits, produces a delta, and propagates. Replicas must agree on history, including the boring parts.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 — SYNC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authority, every topology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08676" cy="3017520"/>
          </a:xfrm>
          <a:prstGeom prst="roundRect">
            <a:avLst>
              <a:gd name="adj" fmla="val 2121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78074" y="191109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mon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8028" y="2091050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834640"/>
            <a:ext cx="50063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Single-player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68096" y="3566160"/>
            <a:ext cx="4969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Authority behind an InProcessTransport, with solo on — the engine itself drives the per-turn machinery: budget-driven turns, affliction ticks, light-tied mob reactions, round advance.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31636" y="1600200"/>
            <a:ext cx="5408676" cy="3017520"/>
          </a:xfrm>
          <a:prstGeom prst="roundRect">
            <a:avLst>
              <a:gd name="adj" fmla="val 2121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61070" y="191109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1024" y="2091050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32804" y="2834640"/>
            <a:ext cx="50063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Multiplayer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451092" y="3566160"/>
            <a:ext cx="4969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Authority hosted per campaign by the axum room server, behind a tokio actor — submit → persist (SQLite) → ack, flush-before-ack — with seat-ownership auth and manage_turns on: a spent budget is refused at submit.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846320"/>
            <a:ext cx="11091672" cy="960120"/>
          </a:xfrm>
          <a:prstGeom prst="roundRect">
            <a:avLst>
              <a:gd name="adj" fmla="val 6667"/>
            </a:avLst>
          </a:prstGeom>
          <a:solidFill>
            <a:srgbClr val="8E2F2F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484632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boolean options and a transport choice. There is no multiplayer fork of the rules, because there is nothing to fork.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822960" y="598932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seams stay honest: the sync gate pins the authority with both flags off — options layer around the core, not through it.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 — THE FACES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a surface in lines of code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7178" cy="3657600"/>
          </a:xfrm>
          <a:prstGeom prst="roundRect">
            <a:avLst>
              <a:gd name="adj" fmla="val 249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57325" y="191109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mon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7279" y="2091050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83464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~10,000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68096" y="3493008"/>
            <a:ext cx="212826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— Dioxus → wasm, core linked as an ordinary library. Every line is presentation: a type-your-commands terminal UI, point-and-click affordances, a procedural audio engine riding the cue stream.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90138" y="1600200"/>
            <a:ext cx="2567178" cy="3657600"/>
          </a:xfrm>
          <a:prstGeom prst="roundRect">
            <a:avLst>
              <a:gd name="adj" fmla="val 249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98823" y="191109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harddri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8777" y="2091050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91306" y="283464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shell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3609594" y="3493008"/>
            <a:ext cx="212826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— the same client code in a webview shell, kept out of the main build so its OS-level GUI libraries never touch the gates. Ships .deb / .dmg / .msi via dx bundle.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31636" y="1600200"/>
            <a:ext cx="2567178" cy="3657600"/>
          </a:xfrm>
          <a:prstGeom prst="roundRect">
            <a:avLst>
              <a:gd name="adj" fmla="val 249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40321" y="191109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6" name="Image 2" descr="/tmp/claude-0/-home-user-WickedWays/bfe20d4f-91dd-58c9-a5c6-92b3d7767e5d/scratchpad/decks/icons/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0275" y="2091050"/>
            <a:ext cx="389900" cy="389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32804" y="283464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~260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451092" y="3493008"/>
            <a:ext cx="212826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embedding — a stateful Authority handle; nothing but JSON strings crosses the boundary. A command in; cues, view model, snapshot out. Undo is host-side snapshot/restore.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073134" y="1600200"/>
            <a:ext cx="2567178" cy="3657600"/>
          </a:xfrm>
          <a:prstGeom prst="roundRect">
            <a:avLst>
              <a:gd name="adj" fmla="val 249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981819" y="191109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21" name="Image 3" descr="/tmp/claude-0/-home-user-WickedWays/bfe20d4f-91dd-58c9-a5c6-92b3d7767e5d/scratchpad/decks/icons/cpu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1773" y="2091050"/>
            <a:ext cx="389900" cy="3899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74302" y="283464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~1,400 + 400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292590" y="3493008"/>
            <a:ext cx="212826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board — the tabletop bridge plus the host controller. ViewModel → e-ink paint + pieces; NFC events → character-tagged commands; framed serial protocol.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never changed for any of them.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 — SPOTLIGHT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physical 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395728" cy="1234440"/>
          </a:xfrm>
          <a:prstGeom prst="roundRect">
            <a:avLst>
              <a:gd name="adj" fmla="val 518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856232"/>
            <a:ext cx="224942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ViewModel + roster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fog-of-war 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21792" y="2424989"/>
            <a:ext cx="2249424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engine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17520" y="240030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447288" y="1783080"/>
            <a:ext cx="2395728" cy="1234440"/>
          </a:xfrm>
          <a:prstGeom prst="roundRect">
            <a:avLst>
              <a:gd name="adj" fmla="val 5185"/>
            </a:avLst>
          </a:prstGeom>
          <a:solidFill>
            <a:srgbClr val="8E2F2F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856232"/>
            <a:ext cx="224942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bridge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20440" y="2424989"/>
            <a:ext cx="2249424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wickedways-tabletop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16168" y="240030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45936" y="1783080"/>
            <a:ext cx="2395728" cy="1234440"/>
          </a:xfrm>
          <a:prstGeom prst="roundRect">
            <a:avLst>
              <a:gd name="adj" fmla="val 518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1856232"/>
            <a:ext cx="224942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DeviceCommands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9088" y="2424989"/>
            <a:ext cx="2249424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e-ink tiles ·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pieces · dashboards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814816" y="240030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244584" y="1783080"/>
            <a:ext cx="2395728" cy="1234440"/>
          </a:xfrm>
          <a:prstGeom prst="roundRect">
            <a:avLst>
              <a:gd name="adj" fmla="val 518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17736" y="1856232"/>
            <a:ext cx="224942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hardware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317736" y="2424989"/>
            <a:ext cx="2249424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COBS-framed JSON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 serial line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320040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DeviceEvents flow back: an NFC piece set down — or real dice, entering as recorded roll commands — resolve into character-tagged engine Commands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3514344" cy="1783080"/>
          </a:xfrm>
          <a:prstGeom prst="roundRect">
            <a:avLst>
              <a:gd name="adj" fmla="val 359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4050792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bridge, two targets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68096" y="4526280"/>
            <a:ext cx="3075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only on core + serde, so it compiles native for the controller AND to wasm — the web client renders an on-screen simulator through the same bridge code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37304" y="3794760"/>
            <a:ext cx="3514344" cy="1783080"/>
          </a:xfrm>
          <a:prstGeom prst="roundRect">
            <a:avLst>
              <a:gd name="adj" fmla="val 359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38472" y="4050792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seam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56760" y="4526280"/>
            <a:ext cx="3075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DeviceTransport trait is the only thing that differs between the simulator and real firmware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125968" y="3794760"/>
            <a:ext cx="3514344" cy="1783080"/>
          </a:xfrm>
          <a:prstGeom prst="roundRect">
            <a:avLst>
              <a:gd name="adj" fmla="val 359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27136" y="4050792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Testable without hardware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345424" y="4526280"/>
            <a:ext cx="3075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controller's --dry-run exercises the whole engine → bridge → codec path in CI, no device attached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2960" y="580644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physical board game, added to a video game, for the price of a protocol adapter — and the rules never knew.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 — GOLDEN PINNING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gates under plain cargo test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567178" cy="2103120"/>
          </a:xfrm>
          <a:prstGeom prst="roundRect">
            <a:avLst>
              <a:gd name="adj" fmla="val 304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2880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8096" y="2304288"/>
            <a:ext cx="21282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TOML → description + catalog, canonical-JSON compare, determinism-checked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90138" y="1572768"/>
            <a:ext cx="2567178" cy="2103120"/>
          </a:xfrm>
          <a:prstGeom prst="roundRect">
            <a:avLst>
              <a:gd name="adj" fmla="val 304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91306" y="182880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09594" y="2304288"/>
            <a:ext cx="21282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+ seats → genesis. Gated on pre-begin goldens ONLY — assembler correctness never conflates with engine correctness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572768"/>
            <a:ext cx="2567178" cy="2103120"/>
          </a:xfrm>
          <a:prstGeom prst="roundRect">
            <a:avLst>
              <a:gd name="adj" fmla="val 304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2804" y="182880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51092" y="2304288"/>
            <a:ext cx="21282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committed recording stepped command-by-command, diffing result + snapshot + view per step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73134" y="1572768"/>
            <a:ext cx="2567178" cy="2103120"/>
          </a:xfrm>
          <a:prstGeom prst="roundRect">
            <a:avLst>
              <a:gd name="adj" fmla="val 304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74302" y="182880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sync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292590" y="2304288"/>
            <a:ext cx="21282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logs → { seq, delta } streams, byte-for-byte against the authority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3361944" cy="777240"/>
          </a:xfrm>
          <a:prstGeom prst="roundRect">
            <a:avLst>
              <a:gd name="adj" fmla="val 823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3977640"/>
            <a:ext cx="3215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UPDATE_GOLDENS=1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983736" y="436626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13504" y="3977640"/>
            <a:ext cx="3361944" cy="777240"/>
          </a:xfrm>
          <a:prstGeom prst="roundRect">
            <a:avLst>
              <a:gd name="adj" fmla="val 823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6656" y="3977640"/>
            <a:ext cx="3215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diff like code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848600" y="436626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278368" y="3977640"/>
            <a:ext cx="3361944" cy="777240"/>
          </a:xfrm>
          <a:prstGeom prst="roundRect">
            <a:avLst>
              <a:gd name="adj" fmla="val 823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51520" y="3977640"/>
            <a:ext cx="3215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it with the change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2960" y="49834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Regeneration is deterministic — a second run must produce a zero git diff. Never hand-edit a golden.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Serialization is behavior: a serde-attribute change on a snapshot type is a golden diff, reviewed as one.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 — THE REWRITE, AND THE BILL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tests outlived the language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395728" cy="914400"/>
          </a:xfrm>
          <a:prstGeom prst="roundRect">
            <a:avLst>
              <a:gd name="adj" fmla="val 7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673352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engine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21792" y="2075688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began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17520" y="205740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447288" y="1600200"/>
            <a:ext cx="2395728" cy="914400"/>
          </a:xfrm>
          <a:prstGeom prst="roundRect">
            <a:avLst>
              <a:gd name="adj" fmla="val 7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673352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goldens minted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520440" y="2075688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pinned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16168" y="205740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45936" y="1600200"/>
            <a:ext cx="2395728" cy="914400"/>
          </a:xfrm>
          <a:prstGeom prst="roundRect">
            <a:avLst>
              <a:gd name="adj" fmla="val 7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1673352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matches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19088" y="2075688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byte-for-byte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814816" y="205740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244584" y="1600200"/>
            <a:ext cx="2395728" cy="914400"/>
          </a:xfrm>
          <a:prstGeom prst="roundRect">
            <a:avLst>
              <a:gd name="adj" fmla="val 7000"/>
            </a:avLst>
          </a:prstGeom>
          <a:solidFill>
            <a:srgbClr val="8E2F2F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17736" y="1673352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deleted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317736" y="2075688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remains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834640"/>
            <a:ext cx="5440680" cy="2926080"/>
          </a:xfrm>
          <a:prstGeom prst="roundRect">
            <a:avLst>
              <a:gd name="adj" fmla="val 2188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98094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D0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" y="3310128"/>
            <a:ext cx="4892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 taxes every feature — no ambient randomness, RNG threading, replay tests. Paid daily.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vocabularies tax expressiveness — real features wait for the vocabulary to grow deliberately.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pinning taxes velocity — every observable change is a diff someone must actually read.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ASCII room names forever — the old TypeScript engine's sort order is baked into the fixtures.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9632" y="2834640"/>
            <a:ext cx="5440680" cy="2926080"/>
          </a:xfrm>
          <a:prstGeom prst="roundRect">
            <a:avLst>
              <a:gd name="adj" fmla="val 2188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99632" y="298094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BUYS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19672" y="3310128"/>
            <a:ext cx="4892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rules disagreement between surfaces, ever — one implementation cannot disagree with itself.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Multiplayer without a netcode team.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 priced in bridge-lines, not rewrites.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Rewrites that are merely work, not risk.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98932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honest — the toll is real, and it is worth it.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1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decisions, compounding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377440"/>
          </a:xfrm>
          <a:prstGeom prst="roundRect">
            <a:avLst>
              <a:gd name="adj" fmla="val 269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202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deterministic core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in exactly one place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0832" y="1737360"/>
            <a:ext cx="3566160" cy="2377440"/>
          </a:xfrm>
          <a:prstGeom prst="roundRect">
            <a:avLst>
              <a:gd name="adj" fmla="val 269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70832" y="19202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53712" y="27889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vocabularies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45152" y="3200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every boundary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93024" y="1737360"/>
            <a:ext cx="3566160" cy="2377440"/>
          </a:xfrm>
          <a:prstGeom prst="roundRect">
            <a:avLst>
              <a:gd name="adj" fmla="val 269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93024" y="19202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375904" y="27889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Goldens on everything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467344" y="3200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6177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them early — they don't retrofit.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48640" y="5623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—  latency vs prediction? cheating? Turing-completeness? ossification? why Rust? what's not unified?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61722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github.com/daniel0mullins/WickedWays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Engine to Rule Them All — deep dive</dc:title>
  <dc:subject>PptxGenJS Presentation</dc:subject>
  <dc:creator>Wicked Ways</dc:creator>
  <cp:lastModifiedBy>Wicked Ways</cp:lastModifiedBy>
  <cp:revision>1</cp:revision>
  <dcterms:created xsi:type="dcterms:W3CDTF">2026-08-04T18:12:07Z</dcterms:created>
  <dcterms:modified xsi:type="dcterms:W3CDTF">2026-08-04T18:12:07Z</dcterms:modified>
</cp:coreProperties>
</file>