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of setup: the rules exist in exactly one place — wickedways-core — with every surface a projection. This talk walks the pipeline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workspace at a glance. Only core knows the rules; everything else compiles, assembles, transports, hosts, bridges, or renders. Desktop is deliberately kept out of the main build so its Linux GUI system libraries never have to be installed to build or test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campaign is authored in TOML with behavior bodies in a small expression/statement language (guard, when, set state.x, emit cue, emit adjustStat). wickedways-author compiles to description + catalog; wickedways-assemble folds in a seated party and emits genesis. Ids are derived from names, never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~24k lines, no_std-capable. Health mitigated by Sanity, Sanity by Energy, Energy by Health — a full mitigator absorbs everything, a depleted one doubles damage. Mechanics interlock through shared state, which is exactly why they must not be re-implemented per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extensible family: a trait (Rust's interface), a built-in name-to-implementation lookup, a scripted fallback from the catalog. Effects are a fixed menu of requests the engine applies itself, clamped to legal ranges. Guardrails: Integrity, Determinism, Termination are walls; Balance (limits on how strong content effects may be) is advisory — label it honestly and get the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Multiplayer is a command log with a single resolver. Coordinator submits; authority authorizes, applies, diffs a delta, appends, returns. Gaps heal by requesting missing entries; a late joiner loads a recent snapshot then replays the deltas after it. Single-player vs multiplayer is two flags and a transport — there is no multiplayer mode in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is a subscriber, never a participant — cues carry pre-resolved sounds; the visibility cue drives reveal/conceal while the data model stays intact. The controller has --dry-run: the whole engine→bridge→codec path with no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golden gates under plain cargo test — 256 fixture files. Goldens are regression pins of the engine's own output. The corpus was strong enough to serve as the oracle for a complete rewrite in Rust; then the TypeScript tree was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half a minute: three decisions, compounding. Put the rules in one deterministic core; make every boundary a closed vocabulary; pin observable behavior in goldens.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01B"/>
        </a:solidFill>
      </p:bgPr>
    </p:bg>
    <p:spTree>
      <p:nvGrpSpPr>
        <p:cNvPr id="1" name=""/>
        <p:cNvGrpSpPr/>
        <p:nvPr/>
      </p:nvGrpSpPr>
      <p:grpSpPr>
        <a:xfrm>
          <a:off x="0" y="0"/>
          <a:ext cx="0" cy="0"/>
          <a:chOff x="0" y="0"/>
          <a:chExt cx="0" cy="0"/>
        </a:xfrm>
      </p:grpSpPr>
      <p:sp>
        <p:nvSpPr>
          <p:cNvPr id="2" name="Shape 0"/>
          <p:cNvSpPr/>
          <p:nvPr/>
        </p:nvSpPr>
        <p:spPr>
          <a:xfrm>
            <a:off x="9235440" y="2170786"/>
            <a:ext cx="0" cy="1349654"/>
          </a:xfrm>
          <a:prstGeom prst="line">
            <a:avLst/>
          </a:prstGeom>
          <a:noFill/>
          <a:ln w="19050">
            <a:solidFill>
              <a:srgbClr val="3A3152"/>
            </a:solidFill>
            <a:prstDash val="solid"/>
          </a:ln>
        </p:spPr>
      </p:sp>
      <p:sp>
        <p:nvSpPr>
          <p:cNvPr id="3" name="Shape 1"/>
          <p:cNvSpPr/>
          <p:nvPr/>
        </p:nvSpPr>
        <p:spPr>
          <a:xfrm>
            <a:off x="7245864" y="3103374"/>
            <a:ext cx="1989576" cy="417066"/>
          </a:xfrm>
          <a:prstGeom prst="line">
            <a:avLst/>
          </a:prstGeom>
          <a:noFill/>
          <a:ln w="19050">
            <a:solidFill>
              <a:srgbClr val="3A3152"/>
            </a:solidFill>
            <a:prstDash val="solid"/>
          </a:ln>
        </p:spPr>
      </p:sp>
      <p:sp>
        <p:nvSpPr>
          <p:cNvPr id="4" name="Shape 2"/>
          <p:cNvSpPr/>
          <p:nvPr/>
        </p:nvSpPr>
        <p:spPr>
          <a:xfrm flipH="1">
            <a:off x="9235440" y="3103374"/>
            <a:ext cx="1989576" cy="417066"/>
          </a:xfrm>
          <a:prstGeom prst="line">
            <a:avLst/>
          </a:prstGeom>
          <a:noFill/>
          <a:ln w="19050">
            <a:solidFill>
              <a:srgbClr val="3A3152"/>
            </a:solidFill>
            <a:prstDash val="solid"/>
          </a:ln>
        </p:spPr>
      </p:sp>
      <p:sp>
        <p:nvSpPr>
          <p:cNvPr id="5" name="Shape 3"/>
          <p:cNvSpPr/>
          <p:nvPr/>
        </p:nvSpPr>
        <p:spPr>
          <a:xfrm flipH="1">
            <a:off x="7245864" y="3520440"/>
            <a:ext cx="1989576" cy="417066"/>
          </a:xfrm>
          <a:prstGeom prst="line">
            <a:avLst/>
          </a:prstGeom>
          <a:noFill/>
          <a:ln w="19050">
            <a:solidFill>
              <a:srgbClr val="3A3152"/>
            </a:solidFill>
            <a:prstDash val="solid"/>
          </a:ln>
        </p:spPr>
      </p:sp>
      <p:sp>
        <p:nvSpPr>
          <p:cNvPr id="6" name="Shape 4"/>
          <p:cNvSpPr/>
          <p:nvPr/>
        </p:nvSpPr>
        <p:spPr>
          <a:xfrm>
            <a:off x="9235440" y="3520440"/>
            <a:ext cx="1989576" cy="417066"/>
          </a:xfrm>
          <a:prstGeom prst="line">
            <a:avLst/>
          </a:prstGeom>
          <a:noFill/>
          <a:ln w="19050">
            <a:solidFill>
              <a:srgbClr val="3A3152"/>
            </a:solidFill>
            <a:prstDash val="solid"/>
          </a:ln>
        </p:spPr>
      </p:sp>
      <p:sp>
        <p:nvSpPr>
          <p:cNvPr id="7" name="Shape 5"/>
          <p:cNvSpPr/>
          <p:nvPr/>
        </p:nvSpPr>
        <p:spPr>
          <a:xfrm>
            <a:off x="8527694" y="2812694"/>
            <a:ext cx="1415491" cy="1415491"/>
          </a:xfrm>
          <a:prstGeom prst="ellipse">
            <a:avLst/>
          </a:prstGeom>
          <a:solidFill>
            <a:srgbClr val="8E2F2F"/>
          </a:solidFill>
          <a:ln w="19050">
            <a:solidFill>
              <a:srgbClr val="C9A227"/>
            </a:solidFill>
            <a:prstDash val="solid"/>
          </a:ln>
        </p:spPr>
      </p:sp>
      <p:sp>
        <p:nvSpPr>
          <p:cNvPr id="8" name="Text 6"/>
          <p:cNvSpPr/>
          <p:nvPr/>
        </p:nvSpPr>
        <p:spPr>
          <a:xfrm>
            <a:off x="8527694" y="3283428"/>
            <a:ext cx="1415491" cy="263347"/>
          </a:xfrm>
          <a:prstGeom prst="rect">
            <a:avLst/>
          </a:prstGeom>
          <a:noFill/>
          <a:ln/>
        </p:spPr>
        <p:txBody>
          <a:bodyPr wrap="square" lIns="0" tIns="0" rIns="0" bIns="0" rtlCol="0" anchor="ctr"/>
          <a:lstStyle/>
          <a:p>
            <a:pPr algn="ctr" indent="0" marL="0">
              <a:buNone/>
            </a:pPr>
            <a:r>
              <a:rPr lang="en-US" sz="864" b="1" dirty="0">
                <a:solidFill>
                  <a:srgbClr val="E9E2D0"/>
                </a:solidFill>
                <a:latin typeface="Courier New" pitchFamily="34" charset="0"/>
                <a:ea typeface="Courier New" pitchFamily="34" charset="-122"/>
                <a:cs typeface="Courier New" pitchFamily="34" charset="-120"/>
              </a:rPr>
              <a:t>wickedways-core</a:t>
            </a:r>
            <a:endParaRPr lang="en-US" sz="864" dirty="0"/>
          </a:p>
        </p:txBody>
      </p:sp>
      <p:sp>
        <p:nvSpPr>
          <p:cNvPr id="9" name="Text 7"/>
          <p:cNvSpPr/>
          <p:nvPr/>
        </p:nvSpPr>
        <p:spPr>
          <a:xfrm>
            <a:off x="8344814" y="3533607"/>
            <a:ext cx="1781251" cy="230429"/>
          </a:xfrm>
          <a:prstGeom prst="rect">
            <a:avLst/>
          </a:prstGeom>
          <a:noFill/>
          <a:ln/>
        </p:spPr>
        <p:txBody>
          <a:bodyPr wrap="square" lIns="0" tIns="0" rIns="0" bIns="0" rtlCol="0" anchor="ctr"/>
          <a:lstStyle/>
          <a:p>
            <a:pPr algn="ctr" indent="0" marL="0">
              <a:buNone/>
            </a:pPr>
            <a:r>
              <a:rPr lang="en-US" sz="684" i="1" dirty="0">
                <a:solidFill>
                  <a:srgbClr val="E9E2D0"/>
                </a:solidFill>
                <a:latin typeface="Calibri" pitchFamily="34" charset="0"/>
                <a:ea typeface="Calibri" pitchFamily="34" charset="-122"/>
                <a:cs typeface="Calibri" pitchFamily="34" charset="-120"/>
              </a:rPr>
              <a:t>~24k lines · no_std Rust</a:t>
            </a:r>
            <a:endParaRPr lang="en-US" sz="684" dirty="0"/>
          </a:p>
        </p:txBody>
      </p:sp>
      <p:sp>
        <p:nvSpPr>
          <p:cNvPr id="10" name="Shape 8"/>
          <p:cNvSpPr/>
          <p:nvPr/>
        </p:nvSpPr>
        <p:spPr>
          <a:xfrm>
            <a:off x="8978676" y="1914022"/>
            <a:ext cx="513527" cy="513527"/>
          </a:xfrm>
          <a:prstGeom prst="ellipse">
            <a:avLst/>
          </a:prstGeom>
          <a:solidFill>
            <a:srgbClr val="2B2342"/>
          </a:solidFill>
          <a:ln w="9525">
            <a:solidFill>
              <a:srgbClr val="3A3152"/>
            </a:solidFill>
            <a:prstDash val="solid"/>
          </a:ln>
        </p:spPr>
      </p:sp>
      <p:pic>
        <p:nvPicPr>
          <p:cNvPr id="11" name="Image 0" descr="/tmp/claude-0/-home-user-WickedWays/bfe20d4f-91dd-58c9-a5c6-92b3d7767e5d/scratchpad/decks/icons/monitor.png">    </p:cNvPr>
          <p:cNvPicPr>
            <a:picLocks noChangeAspect="1"/>
          </p:cNvPicPr>
          <p:nvPr/>
        </p:nvPicPr>
        <p:blipFill>
          <a:blip r:embed="rId1"/>
          <a:stretch>
            <a:fillRect/>
          </a:stretch>
        </p:blipFill>
        <p:spPr>
          <a:xfrm>
            <a:off x="9101923" y="2037269"/>
            <a:ext cx="267034" cy="267034"/>
          </a:xfrm>
          <a:prstGeom prst="rect">
            <a:avLst/>
          </a:prstGeom>
        </p:spPr>
      </p:pic>
      <p:sp>
        <p:nvSpPr>
          <p:cNvPr id="12" name="Text 9"/>
          <p:cNvSpPr/>
          <p:nvPr/>
        </p:nvSpPr>
        <p:spPr>
          <a:xfrm>
            <a:off x="8366760" y="1548262"/>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Browser (wasm)</a:t>
            </a:r>
            <a:endParaRPr lang="en-US" sz="792" dirty="0"/>
          </a:p>
        </p:txBody>
      </p:sp>
      <p:sp>
        <p:nvSpPr>
          <p:cNvPr id="13" name="Shape 10"/>
          <p:cNvSpPr/>
          <p:nvPr/>
        </p:nvSpPr>
        <p:spPr>
          <a:xfrm>
            <a:off x="6989100" y="2846610"/>
            <a:ext cx="513527" cy="513527"/>
          </a:xfrm>
          <a:prstGeom prst="ellipse">
            <a:avLst/>
          </a:prstGeom>
          <a:solidFill>
            <a:srgbClr val="2B2342"/>
          </a:solidFill>
          <a:ln w="9525">
            <a:solidFill>
              <a:srgbClr val="3A3152"/>
            </a:solidFill>
            <a:prstDash val="solid"/>
          </a:ln>
        </p:spPr>
      </p:sp>
      <p:pic>
        <p:nvPicPr>
          <p:cNvPr id="14" name="Image 1" descr="/tmp/claude-0/-home-user-WickedWays/bfe20d4f-91dd-58c9-a5c6-92b3d7767e5d/scratchpad/decks/icons/harddrive.png">    </p:cNvPr>
          <p:cNvPicPr>
            <a:picLocks noChangeAspect="1"/>
          </p:cNvPicPr>
          <p:nvPr/>
        </p:nvPicPr>
        <p:blipFill>
          <a:blip r:embed="rId2"/>
          <a:stretch>
            <a:fillRect/>
          </a:stretch>
        </p:blipFill>
        <p:spPr>
          <a:xfrm>
            <a:off x="7112347" y="2969857"/>
            <a:ext cx="267034" cy="267034"/>
          </a:xfrm>
          <a:prstGeom prst="rect">
            <a:avLst/>
          </a:prstGeom>
        </p:spPr>
      </p:pic>
      <p:sp>
        <p:nvSpPr>
          <p:cNvPr id="15" name="Text 11"/>
          <p:cNvSpPr/>
          <p:nvPr/>
        </p:nvSpPr>
        <p:spPr>
          <a:xfrm>
            <a:off x="6377184" y="248085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Desktop shell</a:t>
            </a:r>
            <a:endParaRPr lang="en-US" sz="792" dirty="0"/>
          </a:p>
        </p:txBody>
      </p:sp>
      <p:sp>
        <p:nvSpPr>
          <p:cNvPr id="16" name="Shape 12"/>
          <p:cNvSpPr/>
          <p:nvPr/>
        </p:nvSpPr>
        <p:spPr>
          <a:xfrm>
            <a:off x="10968253" y="2846610"/>
            <a:ext cx="513527" cy="513527"/>
          </a:xfrm>
          <a:prstGeom prst="ellipse">
            <a:avLst/>
          </a:prstGeom>
          <a:solidFill>
            <a:srgbClr val="2B2342"/>
          </a:solidFill>
          <a:ln w="9525">
            <a:solidFill>
              <a:srgbClr val="3A3152"/>
            </a:solidFill>
            <a:prstDash val="solid"/>
          </a:ln>
        </p:spPr>
      </p:sp>
      <p:pic>
        <p:nvPicPr>
          <p:cNvPr id="17" name="Image 2" descr="/tmp/claude-0/-home-user-WickedWays/bfe20d4f-91dd-58c9-a5c6-92b3d7767e5d/scratchpad/decks/icons/server.png">    </p:cNvPr>
          <p:cNvPicPr>
            <a:picLocks noChangeAspect="1"/>
          </p:cNvPicPr>
          <p:nvPr/>
        </p:nvPicPr>
        <p:blipFill>
          <a:blip r:embed="rId3"/>
          <a:stretch>
            <a:fillRect/>
          </a:stretch>
        </p:blipFill>
        <p:spPr>
          <a:xfrm>
            <a:off x="11091499" y="2969857"/>
            <a:ext cx="267034" cy="267034"/>
          </a:xfrm>
          <a:prstGeom prst="rect">
            <a:avLst/>
          </a:prstGeom>
        </p:spPr>
      </p:pic>
      <p:sp>
        <p:nvSpPr>
          <p:cNvPr id="18" name="Text 13"/>
          <p:cNvSpPr/>
          <p:nvPr/>
        </p:nvSpPr>
        <p:spPr>
          <a:xfrm>
            <a:off x="10356336" y="248085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Room server</a:t>
            </a:r>
            <a:endParaRPr lang="en-US" sz="792" dirty="0"/>
          </a:p>
        </p:txBody>
      </p:sp>
      <p:sp>
        <p:nvSpPr>
          <p:cNvPr id="19" name="Shape 14"/>
          <p:cNvSpPr/>
          <p:nvPr/>
        </p:nvSpPr>
        <p:spPr>
          <a:xfrm>
            <a:off x="6989100" y="3680743"/>
            <a:ext cx="513527" cy="513527"/>
          </a:xfrm>
          <a:prstGeom prst="ellipse">
            <a:avLst/>
          </a:prstGeom>
          <a:solidFill>
            <a:srgbClr val="2B2342"/>
          </a:solidFill>
          <a:ln w="9525">
            <a:solidFill>
              <a:srgbClr val="3A3152"/>
            </a:solidFill>
            <a:prstDash val="solid"/>
          </a:ln>
        </p:spPr>
      </p:sp>
      <p:pic>
        <p:nvPicPr>
          <p:cNvPr id="20" name="Image 3" descr="/tmp/claude-0/-home-user-WickedWays/bfe20d4f-91dd-58c9-a5c6-92b3d7767e5d/scratchpad/decks/icons/code.png">    </p:cNvPr>
          <p:cNvPicPr>
            <a:picLocks noChangeAspect="1"/>
          </p:cNvPicPr>
          <p:nvPr/>
        </p:nvPicPr>
        <p:blipFill>
          <a:blip r:embed="rId4"/>
          <a:stretch>
            <a:fillRect/>
          </a:stretch>
        </p:blipFill>
        <p:spPr>
          <a:xfrm>
            <a:off x="7112347" y="3803989"/>
            <a:ext cx="267034" cy="267034"/>
          </a:xfrm>
          <a:prstGeom prst="rect">
            <a:avLst/>
          </a:prstGeom>
        </p:spPr>
      </p:pic>
      <p:sp>
        <p:nvSpPr>
          <p:cNvPr id="21" name="Text 15"/>
          <p:cNvSpPr/>
          <p:nvPr/>
        </p:nvSpPr>
        <p:spPr>
          <a:xfrm>
            <a:off x="6377184" y="423999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JS embedding</a:t>
            </a:r>
            <a:endParaRPr lang="en-US" sz="792" dirty="0"/>
          </a:p>
        </p:txBody>
      </p:sp>
      <p:sp>
        <p:nvSpPr>
          <p:cNvPr id="22" name="Shape 16"/>
          <p:cNvSpPr/>
          <p:nvPr/>
        </p:nvSpPr>
        <p:spPr>
          <a:xfrm>
            <a:off x="10968253" y="3680743"/>
            <a:ext cx="513527" cy="513527"/>
          </a:xfrm>
          <a:prstGeom prst="ellipse">
            <a:avLst/>
          </a:prstGeom>
          <a:solidFill>
            <a:srgbClr val="2B2342"/>
          </a:solidFill>
          <a:ln w="9525">
            <a:solidFill>
              <a:srgbClr val="3A3152"/>
            </a:solidFill>
            <a:prstDash val="solid"/>
          </a:ln>
        </p:spPr>
      </p:sp>
      <p:pic>
        <p:nvPicPr>
          <p:cNvPr id="23" name="Image 4" descr="/tmp/claude-0/-home-user-WickedWays/bfe20d4f-91dd-58c9-a5c6-92b3d7767e5d/scratchpad/decks/icons/cpu_gold.png">    </p:cNvPr>
          <p:cNvPicPr>
            <a:picLocks noChangeAspect="1"/>
          </p:cNvPicPr>
          <p:nvPr/>
        </p:nvPicPr>
        <p:blipFill>
          <a:blip r:embed="rId5"/>
          <a:stretch>
            <a:fillRect/>
          </a:stretch>
        </p:blipFill>
        <p:spPr>
          <a:xfrm>
            <a:off x="11091499" y="3803989"/>
            <a:ext cx="267034" cy="267034"/>
          </a:xfrm>
          <a:prstGeom prst="rect">
            <a:avLst/>
          </a:prstGeom>
        </p:spPr>
      </p:pic>
      <p:sp>
        <p:nvSpPr>
          <p:cNvPr id="24" name="Text 17"/>
          <p:cNvSpPr/>
          <p:nvPr/>
        </p:nvSpPr>
        <p:spPr>
          <a:xfrm>
            <a:off x="10356336" y="423999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Physical board</a:t>
            </a:r>
            <a:endParaRPr lang="en-US" sz="792" dirty="0"/>
          </a:p>
        </p:txBody>
      </p:sp>
      <p:sp>
        <p:nvSpPr>
          <p:cNvPr id="25" name="Text 18"/>
          <p:cNvSpPr/>
          <p:nvPr/>
        </p:nvSpPr>
        <p:spPr>
          <a:xfrm>
            <a:off x="685800" y="1600200"/>
            <a:ext cx="6400800" cy="274320"/>
          </a:xfrm>
          <a:prstGeom prst="rect">
            <a:avLst/>
          </a:prstGeom>
          <a:noFill/>
          <a:ln/>
        </p:spPr>
        <p:txBody>
          <a:bodyPr wrap="square" lIns="0" tIns="0" rIns="0" bIns="0" rtlCol="0" anchor="ctr"/>
          <a:lstStyle/>
          <a:p>
            <a:pPr indent="0" marL="0">
              <a:buNone/>
            </a:pPr>
            <a:r>
              <a:rPr lang="en-US" sz="1250" b="1" spc="300" kern="0" dirty="0">
                <a:solidFill>
                  <a:srgbClr val="C9A227"/>
                </a:solidFill>
                <a:latin typeface="Calibri" pitchFamily="34" charset="0"/>
                <a:ea typeface="Calibri" pitchFamily="34" charset="-122"/>
                <a:cs typeface="Calibri" pitchFamily="34" charset="-120"/>
              </a:rPr>
              <a:t>WICKED WAYS · SYSTEMS TOUR · 10–15 MIN</a:t>
            </a:r>
            <a:endParaRPr lang="en-US" sz="1250" dirty="0"/>
          </a:p>
        </p:txBody>
      </p:sp>
      <p:sp>
        <p:nvSpPr>
          <p:cNvPr id="26" name="Text 19"/>
          <p:cNvSpPr/>
          <p:nvPr/>
        </p:nvSpPr>
        <p:spPr>
          <a:xfrm>
            <a:off x="685800" y="1920240"/>
            <a:ext cx="6766560" cy="2011680"/>
          </a:xfrm>
          <a:prstGeom prst="rect">
            <a:avLst/>
          </a:prstGeom>
          <a:noFill/>
          <a:ln/>
        </p:spPr>
        <p:txBody>
          <a:bodyPr wrap="square" lIns="0" tIns="0" rIns="0" bIns="0" rtlCol="0" anchor="ctr"/>
          <a:lstStyle/>
          <a:p>
            <a:pPr indent="0" marL="0">
              <a:buNone/>
            </a:pPr>
            <a:r>
              <a:rPr lang="en-US" sz="4800" b="1" dirty="0">
                <a:solidFill>
                  <a:srgbClr val="E9E2D0"/>
                </a:solidFill>
                <a:latin typeface="Cambria" pitchFamily="34" charset="0"/>
                <a:ea typeface="Cambria" pitchFamily="34" charset="-122"/>
                <a:cs typeface="Cambria" pitchFamily="34" charset="-120"/>
              </a:rPr>
              <a:t>One Engine,</a:t>
            </a:r>
            <a:endParaRPr lang="en-US" sz="4800" dirty="0"/>
          </a:p>
          <a:p>
            <a:pPr indent="0" marL="0">
              <a:buNone/>
            </a:pPr>
            <a:r>
              <a:rPr lang="en-US" sz="4800" b="1" dirty="0">
                <a:solidFill>
                  <a:srgbClr val="E9E2D0"/>
                </a:solidFill>
                <a:latin typeface="Cambria" pitchFamily="34" charset="0"/>
                <a:ea typeface="Cambria" pitchFamily="34" charset="-122"/>
                <a:cs typeface="Cambria" pitchFamily="34" charset="-120"/>
              </a:rPr>
              <a:t>Many Faces</a:t>
            </a:r>
            <a:endParaRPr lang="en-US" sz="4800" dirty="0"/>
          </a:p>
        </p:txBody>
      </p:sp>
      <p:sp>
        <p:nvSpPr>
          <p:cNvPr id="27" name="Text 20"/>
          <p:cNvSpPr/>
          <p:nvPr/>
        </p:nvSpPr>
        <p:spPr>
          <a:xfrm>
            <a:off x="685800" y="4069080"/>
            <a:ext cx="6583680" cy="457200"/>
          </a:xfrm>
          <a:prstGeom prst="rect">
            <a:avLst/>
          </a:prstGeom>
          <a:noFill/>
          <a:ln/>
        </p:spPr>
        <p:txBody>
          <a:bodyPr wrap="square" lIns="0" tIns="0" rIns="0" bIns="0" rtlCol="0" anchor="ctr"/>
          <a:lstStyle/>
          <a:p>
            <a:pPr indent="0" marL="0">
              <a:buNone/>
            </a:pPr>
            <a:r>
              <a:rPr lang="en-US" sz="2000" i="1" dirty="0">
                <a:solidFill>
                  <a:srgbClr val="C9A227"/>
                </a:solidFill>
                <a:latin typeface="Cambria" pitchFamily="34" charset="0"/>
                <a:ea typeface="Cambria" pitchFamily="34" charset="-122"/>
                <a:cs typeface="Cambria" pitchFamily="34" charset="-120"/>
              </a:rPr>
              <a:t>A tour of the Wicked Ways architecture</a:t>
            </a:r>
            <a:endParaRPr lang="en-US" sz="2000" dirty="0"/>
          </a:p>
        </p:txBody>
      </p:sp>
      <p:sp>
        <p:nvSpPr>
          <p:cNvPr id="28" name="Text 21"/>
          <p:cNvSpPr/>
          <p:nvPr/>
        </p:nvSpPr>
        <p:spPr>
          <a:xfrm>
            <a:off x="685800" y="6126480"/>
            <a:ext cx="9144000" cy="320040"/>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content → engine → extensions → sync → surfaces → the gates that pin it all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FRAME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Nine crates, one place for the rules</a:t>
            </a:r>
            <a:endParaRPr lang="en-US" sz="3000" dirty="0"/>
          </a:p>
        </p:txBody>
      </p:sp>
      <p:sp>
        <p:nvSpPr>
          <p:cNvPr id="4" name="Shape 2"/>
          <p:cNvSpPr/>
          <p:nvPr/>
        </p:nvSpPr>
        <p:spPr>
          <a:xfrm>
            <a:off x="548640" y="1481328"/>
            <a:ext cx="11091672" cy="438912"/>
          </a:xfrm>
          <a:prstGeom prst="roundRect">
            <a:avLst>
              <a:gd name="adj" fmla="val 14583"/>
            </a:avLst>
          </a:prstGeom>
          <a:solidFill>
            <a:srgbClr val="8E2F2F"/>
          </a:solidFill>
          <a:ln w="9525">
            <a:solidFill>
              <a:srgbClr val="C9A227"/>
            </a:solidFill>
            <a:prstDash val="solid"/>
          </a:ln>
        </p:spPr>
      </p:sp>
      <p:sp>
        <p:nvSpPr>
          <p:cNvPr id="5" name="Text 3"/>
          <p:cNvSpPr/>
          <p:nvPr/>
        </p:nvSpPr>
        <p:spPr>
          <a:xfrm>
            <a:off x="822960" y="1481328"/>
            <a:ext cx="3017520" cy="438912"/>
          </a:xfrm>
          <a:prstGeom prst="rect">
            <a:avLst/>
          </a:prstGeom>
          <a:noFill/>
          <a:ln/>
        </p:spPr>
        <p:txBody>
          <a:bodyPr wrap="square" lIns="0" tIns="0" rIns="0" bIns="0" rtlCol="0" anchor="ctr"/>
          <a:lstStyle/>
          <a:p>
            <a:pPr indent="0" marL="0">
              <a:buNone/>
            </a:pPr>
            <a:r>
              <a:rPr lang="en-US" sz="1250" b="1" dirty="0">
                <a:solidFill>
                  <a:srgbClr val="E9E2D0"/>
                </a:solidFill>
                <a:latin typeface="Courier New" pitchFamily="34" charset="0"/>
                <a:ea typeface="Courier New" pitchFamily="34" charset="-122"/>
                <a:cs typeface="Courier New" pitchFamily="34" charset="-120"/>
              </a:rPr>
              <a:t>wickedways-core</a:t>
            </a:r>
            <a:endParaRPr lang="en-US" sz="1250" dirty="0"/>
          </a:p>
        </p:txBody>
      </p:sp>
      <p:sp>
        <p:nvSpPr>
          <p:cNvPr id="6" name="Text 4"/>
          <p:cNvSpPr/>
          <p:nvPr/>
        </p:nvSpPr>
        <p:spPr>
          <a:xfrm>
            <a:off x="3931920" y="1481328"/>
            <a:ext cx="7498080" cy="438912"/>
          </a:xfrm>
          <a:prstGeom prst="rect">
            <a:avLst/>
          </a:prstGeom>
          <a:noFill/>
          <a:ln/>
        </p:spPr>
        <p:txBody>
          <a:bodyPr wrap="square" lIns="0" tIns="0" rIns="0" bIns="0" rtlCol="0" anchor="ctr"/>
          <a:lstStyle/>
          <a:p>
            <a:pPr indent="0" marL="0">
              <a:buNone/>
            </a:pPr>
            <a:r>
              <a:rPr lang="en-US" sz="1200" dirty="0">
                <a:solidFill>
                  <a:srgbClr val="E9E2D0"/>
                </a:solidFill>
                <a:latin typeface="Calibri" pitchFamily="34" charset="0"/>
                <a:ea typeface="Calibri" pitchFamily="34" charset="-122"/>
                <a:cs typeface="Calibri" pitchFamily="34" charset="-120"/>
              </a:rPr>
              <a:t>the engine — world state, turn loop, combat, mechanics, ops DSL, sync · no_std-capable</a:t>
            </a:r>
            <a:endParaRPr lang="en-US" sz="1200" dirty="0"/>
          </a:p>
        </p:txBody>
      </p:sp>
      <p:sp>
        <p:nvSpPr>
          <p:cNvPr id="7" name="Shape 5"/>
          <p:cNvSpPr/>
          <p:nvPr/>
        </p:nvSpPr>
        <p:spPr>
          <a:xfrm>
            <a:off x="548640" y="1993392"/>
            <a:ext cx="11091672" cy="438912"/>
          </a:xfrm>
          <a:prstGeom prst="roundRect">
            <a:avLst>
              <a:gd name="adj" fmla="val 14583"/>
            </a:avLst>
          </a:prstGeom>
          <a:solidFill>
            <a:srgbClr val="221C31"/>
          </a:solidFill>
          <a:ln w="9525">
            <a:solidFill>
              <a:srgbClr val="3A3152"/>
            </a:solidFill>
            <a:prstDash val="solid"/>
          </a:ln>
        </p:spPr>
      </p:sp>
      <p:sp>
        <p:nvSpPr>
          <p:cNvPr id="8" name="Text 6"/>
          <p:cNvSpPr/>
          <p:nvPr/>
        </p:nvSpPr>
        <p:spPr>
          <a:xfrm>
            <a:off x="822960" y="1993392"/>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wickedways-author</a:t>
            </a:r>
            <a:endParaRPr lang="en-US" sz="1250" dirty="0"/>
          </a:p>
        </p:txBody>
      </p:sp>
      <p:sp>
        <p:nvSpPr>
          <p:cNvPr id="9" name="Text 7"/>
          <p:cNvSpPr/>
          <p:nvPr/>
        </p:nvSpPr>
        <p:spPr>
          <a:xfrm>
            <a:off x="3931920" y="1993392"/>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compiles the TOML campaign format into a description + behavior catalog</a:t>
            </a:r>
            <a:endParaRPr lang="en-US" sz="1200" dirty="0"/>
          </a:p>
        </p:txBody>
      </p:sp>
      <p:sp>
        <p:nvSpPr>
          <p:cNvPr id="10" name="Shape 8"/>
          <p:cNvSpPr/>
          <p:nvPr/>
        </p:nvSpPr>
        <p:spPr>
          <a:xfrm>
            <a:off x="548640" y="2505456"/>
            <a:ext cx="11091672" cy="438912"/>
          </a:xfrm>
          <a:prstGeom prst="roundRect">
            <a:avLst>
              <a:gd name="adj" fmla="val 14583"/>
            </a:avLst>
          </a:prstGeom>
          <a:solidFill>
            <a:srgbClr val="221C31"/>
          </a:solidFill>
          <a:ln w="9525">
            <a:solidFill>
              <a:srgbClr val="3A3152"/>
            </a:solidFill>
            <a:prstDash val="solid"/>
          </a:ln>
        </p:spPr>
      </p:sp>
      <p:sp>
        <p:nvSpPr>
          <p:cNvPr id="11" name="Text 9"/>
          <p:cNvSpPr/>
          <p:nvPr/>
        </p:nvSpPr>
        <p:spPr>
          <a:xfrm>
            <a:off x="822960" y="2505456"/>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wickedways-assemble</a:t>
            </a:r>
            <a:endParaRPr lang="en-US" sz="1250" dirty="0"/>
          </a:p>
        </p:txBody>
      </p:sp>
      <p:sp>
        <p:nvSpPr>
          <p:cNvPr id="12" name="Text 10"/>
          <p:cNvSpPr/>
          <p:nvPr/>
        </p:nvSpPr>
        <p:spPr>
          <a:xfrm>
            <a:off x="3931920" y="2505456"/>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description + catalog + seated party → a genesis snapshot</a:t>
            </a:r>
            <a:endParaRPr lang="en-US" sz="1200" dirty="0"/>
          </a:p>
        </p:txBody>
      </p:sp>
      <p:sp>
        <p:nvSpPr>
          <p:cNvPr id="13" name="Shape 11"/>
          <p:cNvSpPr/>
          <p:nvPr/>
        </p:nvSpPr>
        <p:spPr>
          <a:xfrm>
            <a:off x="548640" y="3017520"/>
            <a:ext cx="11091672" cy="438912"/>
          </a:xfrm>
          <a:prstGeom prst="roundRect">
            <a:avLst>
              <a:gd name="adj" fmla="val 14583"/>
            </a:avLst>
          </a:prstGeom>
          <a:solidFill>
            <a:srgbClr val="221C31"/>
          </a:solidFill>
          <a:ln w="9525">
            <a:solidFill>
              <a:srgbClr val="3A3152"/>
            </a:solidFill>
            <a:prstDash val="solid"/>
          </a:ln>
        </p:spPr>
      </p:sp>
      <p:sp>
        <p:nvSpPr>
          <p:cNvPr id="14" name="Text 12"/>
          <p:cNvSpPr/>
          <p:nvPr/>
        </p:nvSpPr>
        <p:spPr>
          <a:xfrm>
            <a:off x="822960" y="3017520"/>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wickedways-wasm</a:t>
            </a:r>
            <a:endParaRPr lang="en-US" sz="1250" dirty="0"/>
          </a:p>
        </p:txBody>
      </p:sp>
      <p:sp>
        <p:nvSpPr>
          <p:cNvPr id="15" name="Text 13"/>
          <p:cNvSpPr/>
          <p:nvPr/>
        </p:nvSpPr>
        <p:spPr>
          <a:xfrm>
            <a:off x="3931920" y="3017520"/>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the JS embedding boundary — only JSON strings cross the seam</a:t>
            </a:r>
            <a:endParaRPr lang="en-US" sz="1200" dirty="0"/>
          </a:p>
        </p:txBody>
      </p:sp>
      <p:sp>
        <p:nvSpPr>
          <p:cNvPr id="16" name="Shape 14"/>
          <p:cNvSpPr/>
          <p:nvPr/>
        </p:nvSpPr>
        <p:spPr>
          <a:xfrm>
            <a:off x="548640" y="3529584"/>
            <a:ext cx="11091672" cy="438912"/>
          </a:xfrm>
          <a:prstGeom prst="roundRect">
            <a:avLst>
              <a:gd name="adj" fmla="val 14583"/>
            </a:avLst>
          </a:prstGeom>
          <a:solidFill>
            <a:srgbClr val="221C31"/>
          </a:solidFill>
          <a:ln w="9525">
            <a:solidFill>
              <a:srgbClr val="3A3152"/>
            </a:solidFill>
            <a:prstDash val="solid"/>
          </a:ln>
        </p:spPr>
      </p:sp>
      <p:sp>
        <p:nvSpPr>
          <p:cNvPr id="17" name="Text 15"/>
          <p:cNvSpPr/>
          <p:nvPr/>
        </p:nvSpPr>
        <p:spPr>
          <a:xfrm>
            <a:off x="822960" y="3529584"/>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wickedways-transport</a:t>
            </a:r>
            <a:endParaRPr lang="en-US" sz="1250" dirty="0"/>
          </a:p>
        </p:txBody>
      </p:sp>
      <p:sp>
        <p:nvSpPr>
          <p:cNvPr id="18" name="Text 16"/>
          <p:cNvSpPr/>
          <p:nvPr/>
        </p:nvSpPr>
        <p:spPr>
          <a:xfrm>
            <a:off x="3931920" y="3529584"/>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the multiplayer wire protocol — serde only, engine-free</a:t>
            </a:r>
            <a:endParaRPr lang="en-US" sz="1200" dirty="0"/>
          </a:p>
        </p:txBody>
      </p:sp>
      <p:sp>
        <p:nvSpPr>
          <p:cNvPr id="19" name="Shape 17"/>
          <p:cNvSpPr/>
          <p:nvPr/>
        </p:nvSpPr>
        <p:spPr>
          <a:xfrm>
            <a:off x="548640" y="4041648"/>
            <a:ext cx="11091672" cy="438912"/>
          </a:xfrm>
          <a:prstGeom prst="roundRect">
            <a:avLst>
              <a:gd name="adj" fmla="val 14583"/>
            </a:avLst>
          </a:prstGeom>
          <a:solidFill>
            <a:srgbClr val="221C31"/>
          </a:solidFill>
          <a:ln w="9525">
            <a:solidFill>
              <a:srgbClr val="3A3152"/>
            </a:solidFill>
            <a:prstDash val="solid"/>
          </a:ln>
        </p:spPr>
      </p:sp>
      <p:sp>
        <p:nvSpPr>
          <p:cNvPr id="20" name="Text 18"/>
          <p:cNvSpPr/>
          <p:nvPr/>
        </p:nvSpPr>
        <p:spPr>
          <a:xfrm>
            <a:off x="822960" y="4041648"/>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wickedways-server</a:t>
            </a:r>
            <a:endParaRPr lang="en-US" sz="1250" dirty="0"/>
          </a:p>
        </p:txBody>
      </p:sp>
      <p:sp>
        <p:nvSpPr>
          <p:cNvPr id="21" name="Text 19"/>
          <p:cNvSpPr/>
          <p:nvPr/>
        </p:nvSpPr>
        <p:spPr>
          <a:xfrm>
            <a:off x="3931920" y="4041648"/>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axum room server — per-campaign table actors, seat auth, SQLite</a:t>
            </a:r>
            <a:endParaRPr lang="en-US" sz="1200" dirty="0"/>
          </a:p>
        </p:txBody>
      </p:sp>
      <p:sp>
        <p:nvSpPr>
          <p:cNvPr id="22" name="Shape 20"/>
          <p:cNvSpPr/>
          <p:nvPr/>
        </p:nvSpPr>
        <p:spPr>
          <a:xfrm>
            <a:off x="548640" y="4553712"/>
            <a:ext cx="11091672" cy="438912"/>
          </a:xfrm>
          <a:prstGeom prst="roundRect">
            <a:avLst>
              <a:gd name="adj" fmla="val 14583"/>
            </a:avLst>
          </a:prstGeom>
          <a:solidFill>
            <a:srgbClr val="221C31"/>
          </a:solidFill>
          <a:ln w="9525">
            <a:solidFill>
              <a:srgbClr val="3A3152"/>
            </a:solidFill>
            <a:prstDash val="solid"/>
          </a:ln>
        </p:spPr>
      </p:sp>
      <p:sp>
        <p:nvSpPr>
          <p:cNvPr id="23" name="Text 21"/>
          <p:cNvSpPr/>
          <p:nvPr/>
        </p:nvSpPr>
        <p:spPr>
          <a:xfrm>
            <a:off x="822960" y="4553712"/>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wickedways-tabletop</a:t>
            </a:r>
            <a:endParaRPr lang="en-US" sz="1250" dirty="0"/>
          </a:p>
        </p:txBody>
      </p:sp>
      <p:sp>
        <p:nvSpPr>
          <p:cNvPr id="24" name="Text 22"/>
          <p:cNvSpPr/>
          <p:nvPr/>
        </p:nvSpPr>
        <p:spPr>
          <a:xfrm>
            <a:off x="3931920" y="4553712"/>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engine ↔ physical-board bridge — COBS-framed serial codec</a:t>
            </a:r>
            <a:endParaRPr lang="en-US" sz="1200" dirty="0"/>
          </a:p>
        </p:txBody>
      </p:sp>
      <p:sp>
        <p:nvSpPr>
          <p:cNvPr id="25" name="Shape 23"/>
          <p:cNvSpPr/>
          <p:nvPr/>
        </p:nvSpPr>
        <p:spPr>
          <a:xfrm>
            <a:off x="548640" y="5065776"/>
            <a:ext cx="11091672" cy="438912"/>
          </a:xfrm>
          <a:prstGeom prst="roundRect">
            <a:avLst>
              <a:gd name="adj" fmla="val 14583"/>
            </a:avLst>
          </a:prstGeom>
          <a:solidFill>
            <a:srgbClr val="221C31"/>
          </a:solidFill>
          <a:ln w="9525">
            <a:solidFill>
              <a:srgbClr val="3A3152"/>
            </a:solidFill>
            <a:prstDash val="solid"/>
          </a:ln>
        </p:spPr>
      </p:sp>
      <p:sp>
        <p:nvSpPr>
          <p:cNvPr id="26" name="Text 24"/>
          <p:cNvSpPr/>
          <p:nvPr/>
        </p:nvSpPr>
        <p:spPr>
          <a:xfrm>
            <a:off x="822960" y="5065776"/>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wickedways-controller</a:t>
            </a:r>
            <a:endParaRPr lang="en-US" sz="1250" dirty="0"/>
          </a:p>
        </p:txBody>
      </p:sp>
      <p:sp>
        <p:nvSpPr>
          <p:cNvPr id="27" name="Text 25"/>
          <p:cNvSpPr/>
          <p:nvPr/>
        </p:nvSpPr>
        <p:spPr>
          <a:xfrm>
            <a:off x="3931920" y="5065776"/>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host controller for real e-ink / NFC hardware</a:t>
            </a:r>
            <a:endParaRPr lang="en-US" sz="1200" dirty="0"/>
          </a:p>
        </p:txBody>
      </p:sp>
      <p:sp>
        <p:nvSpPr>
          <p:cNvPr id="28" name="Shape 26"/>
          <p:cNvSpPr/>
          <p:nvPr/>
        </p:nvSpPr>
        <p:spPr>
          <a:xfrm>
            <a:off x="548640" y="5577840"/>
            <a:ext cx="11091672" cy="438912"/>
          </a:xfrm>
          <a:prstGeom prst="roundRect">
            <a:avLst>
              <a:gd name="adj" fmla="val 14583"/>
            </a:avLst>
          </a:prstGeom>
          <a:solidFill>
            <a:srgbClr val="221C31"/>
          </a:solidFill>
          <a:ln w="9525">
            <a:solidFill>
              <a:srgbClr val="3A3152"/>
            </a:solidFill>
            <a:prstDash val="solid"/>
          </a:ln>
        </p:spPr>
      </p:sp>
      <p:sp>
        <p:nvSpPr>
          <p:cNvPr id="29" name="Text 27"/>
          <p:cNvSpPr/>
          <p:nvPr/>
        </p:nvSpPr>
        <p:spPr>
          <a:xfrm>
            <a:off x="822960" y="5577840"/>
            <a:ext cx="3017520" cy="438912"/>
          </a:xfrm>
          <a:prstGeom prst="rect">
            <a:avLst/>
          </a:prstGeom>
          <a:noFill/>
          <a:ln/>
        </p:spPr>
        <p:txBody>
          <a:bodyPr wrap="square" lIns="0" tIns="0" rIns="0" bIns="0" rtlCol="0" anchor="ctr"/>
          <a:lstStyle/>
          <a:p>
            <a:pPr indent="0" marL="0">
              <a:buNone/>
            </a:pPr>
            <a:r>
              <a:rPr lang="en-US" sz="1250" b="1" dirty="0">
                <a:solidFill>
                  <a:srgbClr val="C9A227"/>
                </a:solidFill>
                <a:latin typeface="Courier New" pitchFamily="34" charset="0"/>
                <a:ea typeface="Courier New" pitchFamily="34" charset="-122"/>
                <a:cs typeface="Courier New" pitchFamily="34" charset="-120"/>
              </a:rPr>
              <a:t>wickedways-web</a:t>
            </a:r>
            <a:endParaRPr lang="en-US" sz="1250" dirty="0"/>
          </a:p>
        </p:txBody>
      </p:sp>
      <p:sp>
        <p:nvSpPr>
          <p:cNvPr id="30" name="Text 28"/>
          <p:cNvSpPr/>
          <p:nvPr/>
        </p:nvSpPr>
        <p:spPr>
          <a:xfrm>
            <a:off x="3931920" y="5577840"/>
            <a:ext cx="7498080" cy="438912"/>
          </a:xfrm>
          <a:prstGeom prst="rect">
            <a:avLst/>
          </a:prstGeom>
          <a:noFill/>
          <a:ln/>
        </p:spPr>
        <p:txBody>
          <a:bodyPr wrap="square" lIns="0" tIns="0" rIns="0" bIns="0" rtlCol="0" anchor="ctr"/>
          <a:lstStyle/>
          <a:p>
            <a:pPr indent="0" marL="0">
              <a:buNone/>
            </a:pPr>
            <a:r>
              <a:rPr lang="en-US" sz="1200" dirty="0">
                <a:solidFill>
                  <a:srgbClr val="9A92A8"/>
                </a:solidFill>
                <a:latin typeface="Calibri" pitchFamily="34" charset="0"/>
                <a:ea typeface="Calibri" pitchFamily="34" charset="-122"/>
                <a:cs typeface="Calibri" pitchFamily="34" charset="-120"/>
              </a:rPr>
              <a:t>the Dioxus web client — the shipped product</a:t>
            </a:r>
            <a:endParaRPr lang="en-US" sz="1200" dirty="0"/>
          </a:p>
        </p:txBody>
      </p:sp>
      <p:sp>
        <p:nvSpPr>
          <p:cNvPr id="31" name="Text 29"/>
          <p:cNvSpPr/>
          <p:nvPr/>
        </p:nvSpPr>
        <p:spPr>
          <a:xfrm>
            <a:off x="822960" y="6263640"/>
            <a:ext cx="10543032" cy="548640"/>
          </a:xfrm>
          <a:prstGeom prst="rect">
            <a:avLst/>
          </a:prstGeom>
          <a:noFill/>
          <a:ln/>
        </p:spPr>
        <p:txBody>
          <a:bodyPr wrap="square" lIns="0" tIns="0" rIns="0" bIns="0" rtlCol="0" anchor="ctr"/>
          <a:lstStyle/>
          <a:p>
            <a:pPr algn="ctr" indent="0" marL="0">
              <a:buNone/>
            </a:pPr>
            <a:r>
              <a:rPr lang="en-US" sz="1200" i="1" dirty="0">
                <a:solidFill>
                  <a:srgbClr val="9A92A8"/>
                </a:solidFill>
                <a:latin typeface="Calibri" pitchFamily="34" charset="0"/>
                <a:ea typeface="Calibri" pitchFamily="34" charset="-122"/>
                <a:cs typeface="Calibri" pitchFamily="34" charset="-120"/>
              </a:rPr>
              <a:t>Plus desktop/ — a native shell around wickedways-web, kept outside the main build.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1 — THE CONTENT PIPELINE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TOML in, a playable world out</a:t>
            </a:r>
            <a:endParaRPr lang="en-US" sz="3000" dirty="0"/>
          </a:p>
        </p:txBody>
      </p:sp>
      <p:sp>
        <p:nvSpPr>
          <p:cNvPr id="4" name="Shape 2"/>
          <p:cNvSpPr/>
          <p:nvPr/>
        </p:nvSpPr>
        <p:spPr>
          <a:xfrm>
            <a:off x="548640" y="1828800"/>
            <a:ext cx="2395728" cy="1371600"/>
          </a:xfrm>
          <a:prstGeom prst="roundRect">
            <a:avLst>
              <a:gd name="adj" fmla="val 4667"/>
            </a:avLst>
          </a:prstGeom>
          <a:solidFill>
            <a:srgbClr val="2B2342"/>
          </a:solidFill>
          <a:ln w="9525">
            <a:solidFill>
              <a:srgbClr val="3A3152"/>
            </a:solidFill>
            <a:prstDash val="solid"/>
          </a:ln>
        </p:spPr>
      </p:sp>
      <p:sp>
        <p:nvSpPr>
          <p:cNvPr id="5" name="Text 3"/>
          <p:cNvSpPr/>
          <p:nvPr/>
        </p:nvSpPr>
        <p:spPr>
          <a:xfrm>
            <a:off x="621792" y="1901952"/>
            <a:ext cx="2249424" cy="754380"/>
          </a:xfrm>
          <a:prstGeom prst="rect">
            <a:avLst/>
          </a:prstGeom>
          <a:noFill/>
          <a:ln/>
        </p:spPr>
        <p:txBody>
          <a:bodyPr wrap="square" lIns="0" tIns="0" rIns="0" bIns="0" rtlCol="0" anchor="ctr"/>
          <a:lstStyle/>
          <a:p>
            <a:pPr algn="ctr" indent="0" marL="0">
              <a:buNone/>
            </a:pPr>
            <a:r>
              <a:rPr lang="en-US" sz="1250" b="1" dirty="0">
                <a:solidFill>
                  <a:srgbClr val="E9E2D0"/>
                </a:solidFill>
                <a:latin typeface="Courier New" pitchFamily="34" charset="0"/>
                <a:ea typeface="Courier New" pitchFamily="34" charset="-122"/>
                <a:cs typeface="Courier New" pitchFamily="34" charset="-120"/>
              </a:rPr>
              <a:t>campaign.toml</a:t>
            </a:r>
            <a:endParaRPr lang="en-US" sz="1250" dirty="0"/>
          </a:p>
        </p:txBody>
      </p:sp>
      <p:sp>
        <p:nvSpPr>
          <p:cNvPr id="6" name="Text 4"/>
          <p:cNvSpPr/>
          <p:nvPr/>
        </p:nvSpPr>
        <p:spPr>
          <a:xfrm>
            <a:off x="621792" y="2542032"/>
            <a:ext cx="2249424" cy="576072"/>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rooms · exits · mobs · NPCs</a:t>
            </a:r>
            <a:endParaRPr lang="en-US" sz="1000" dirty="0"/>
          </a:p>
          <a:p>
            <a:pPr algn="ctr" indent="0" marL="0">
              <a:buNone/>
            </a:pPr>
            <a:r>
              <a:rPr lang="en-US" sz="1000" dirty="0">
                <a:solidFill>
                  <a:srgbClr val="9A92A8"/>
                </a:solidFill>
                <a:latin typeface="Calibri" pitchFamily="34" charset="0"/>
                <a:ea typeface="Calibri" pitchFamily="34" charset="-122"/>
                <a:cs typeface="Calibri" pitchFamily="34" charset="-120"/>
              </a:rPr>
              <a:t>behavior bodies in a small DSL</a:t>
            </a:r>
            <a:endParaRPr lang="en-US" sz="1000" dirty="0"/>
          </a:p>
        </p:txBody>
      </p:sp>
      <p:sp>
        <p:nvSpPr>
          <p:cNvPr id="7" name="Shape 5"/>
          <p:cNvSpPr/>
          <p:nvPr/>
        </p:nvSpPr>
        <p:spPr>
          <a:xfrm>
            <a:off x="3017520" y="2514600"/>
            <a:ext cx="356616" cy="0"/>
          </a:xfrm>
          <a:prstGeom prst="line">
            <a:avLst/>
          </a:prstGeom>
          <a:noFill/>
          <a:ln w="25400">
            <a:solidFill>
              <a:srgbClr val="C9A227"/>
            </a:solidFill>
            <a:prstDash val="solid"/>
            <a:tailEnd type="triangle"/>
          </a:ln>
        </p:spPr>
      </p:sp>
      <p:sp>
        <p:nvSpPr>
          <p:cNvPr id="8" name="Text 6"/>
          <p:cNvSpPr/>
          <p:nvPr/>
        </p:nvSpPr>
        <p:spPr>
          <a:xfrm>
            <a:off x="2281428" y="3236976"/>
            <a:ext cx="1828800" cy="274320"/>
          </a:xfrm>
          <a:prstGeom prst="rect">
            <a:avLst/>
          </a:prstGeom>
          <a:noFill/>
          <a:ln/>
        </p:spPr>
        <p:txBody>
          <a:bodyPr wrap="square" lIns="0" tIns="0" rIns="0" bIns="0" rtlCol="0" anchor="ctr"/>
          <a:lstStyle/>
          <a:p>
            <a:pPr algn="ctr" indent="0" marL="0">
              <a:buNone/>
            </a:pPr>
            <a:r>
              <a:rPr lang="en-US" sz="1000" i="1" dirty="0">
                <a:solidFill>
                  <a:srgbClr val="C9A227"/>
                </a:solidFill>
                <a:latin typeface="Calibri" pitchFamily="34" charset="0"/>
                <a:ea typeface="Calibri" pitchFamily="34" charset="-122"/>
                <a:cs typeface="Calibri" pitchFamily="34" charset="-120"/>
              </a:rPr>
              <a:t>wwauthor compiles</a:t>
            </a:r>
            <a:endParaRPr lang="en-US" sz="1000" dirty="0"/>
          </a:p>
        </p:txBody>
      </p:sp>
      <p:sp>
        <p:nvSpPr>
          <p:cNvPr id="9" name="Shape 7"/>
          <p:cNvSpPr/>
          <p:nvPr/>
        </p:nvSpPr>
        <p:spPr>
          <a:xfrm>
            <a:off x="3447288" y="1828800"/>
            <a:ext cx="2395728" cy="1371600"/>
          </a:xfrm>
          <a:prstGeom prst="roundRect">
            <a:avLst>
              <a:gd name="adj" fmla="val 4667"/>
            </a:avLst>
          </a:prstGeom>
          <a:solidFill>
            <a:srgbClr val="2B2342"/>
          </a:solidFill>
          <a:ln w="9525">
            <a:solidFill>
              <a:srgbClr val="3A3152"/>
            </a:solidFill>
            <a:prstDash val="solid"/>
          </a:ln>
        </p:spPr>
      </p:sp>
      <p:sp>
        <p:nvSpPr>
          <p:cNvPr id="10" name="Text 8"/>
          <p:cNvSpPr/>
          <p:nvPr/>
        </p:nvSpPr>
        <p:spPr>
          <a:xfrm>
            <a:off x="3520440" y="1901952"/>
            <a:ext cx="2249424" cy="754380"/>
          </a:xfrm>
          <a:prstGeom prst="rect">
            <a:avLst/>
          </a:prstGeom>
          <a:noFill/>
          <a:ln/>
        </p:spPr>
        <p:txBody>
          <a:bodyPr wrap="square" lIns="0" tIns="0" rIns="0" bIns="0" rtlCol="0" anchor="ctr"/>
          <a:lstStyle/>
          <a:p>
            <a:pPr algn="ctr" indent="0" marL="0">
              <a:buNone/>
            </a:pPr>
            <a:r>
              <a:rPr lang="en-US" sz="1250" b="1" dirty="0">
                <a:solidFill>
                  <a:srgbClr val="E9E2D0"/>
                </a:solidFill>
                <a:latin typeface="Courier New" pitchFamily="34" charset="0"/>
                <a:ea typeface="Courier New" pitchFamily="34" charset="-122"/>
                <a:cs typeface="Courier New" pitchFamily="34" charset="-120"/>
              </a:rPr>
              <a:t>description + catalog</a:t>
            </a:r>
            <a:endParaRPr lang="en-US" sz="1250" dirty="0"/>
          </a:p>
        </p:txBody>
      </p:sp>
      <p:sp>
        <p:nvSpPr>
          <p:cNvPr id="11" name="Text 9"/>
          <p:cNvSpPr/>
          <p:nvPr/>
        </p:nvSpPr>
        <p:spPr>
          <a:xfrm>
            <a:off x="3520440" y="2542032"/>
            <a:ext cx="2249424" cy="576072"/>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what was declared +</a:t>
            </a:r>
            <a:endParaRPr lang="en-US" sz="1000" dirty="0"/>
          </a:p>
          <a:p>
            <a:pPr algn="ctr" indent="0" marL="0">
              <a:buNone/>
            </a:pPr>
            <a:r>
              <a:rPr lang="en-US" sz="1000" dirty="0">
                <a:solidFill>
                  <a:srgbClr val="9A92A8"/>
                </a:solidFill>
                <a:latin typeface="Calibri" pitchFamily="34" charset="0"/>
                <a:ea typeface="Calibri" pitchFamily="34" charset="-122"/>
                <a:cs typeface="Calibri" pitchFamily="34" charset="-120"/>
              </a:rPr>
              <a:t>the behavior registry</a:t>
            </a:r>
            <a:endParaRPr lang="en-US" sz="1000" dirty="0"/>
          </a:p>
        </p:txBody>
      </p:sp>
      <p:sp>
        <p:nvSpPr>
          <p:cNvPr id="12" name="Shape 10"/>
          <p:cNvSpPr/>
          <p:nvPr/>
        </p:nvSpPr>
        <p:spPr>
          <a:xfrm>
            <a:off x="5916168" y="2514600"/>
            <a:ext cx="356616" cy="0"/>
          </a:xfrm>
          <a:prstGeom prst="line">
            <a:avLst/>
          </a:prstGeom>
          <a:noFill/>
          <a:ln w="25400">
            <a:solidFill>
              <a:srgbClr val="C9A227"/>
            </a:solidFill>
            <a:prstDash val="solid"/>
            <a:tailEnd type="triangle"/>
          </a:ln>
        </p:spPr>
      </p:sp>
      <p:sp>
        <p:nvSpPr>
          <p:cNvPr id="13" name="Text 11"/>
          <p:cNvSpPr/>
          <p:nvPr/>
        </p:nvSpPr>
        <p:spPr>
          <a:xfrm>
            <a:off x="5180076" y="3236976"/>
            <a:ext cx="1828800" cy="274320"/>
          </a:xfrm>
          <a:prstGeom prst="rect">
            <a:avLst/>
          </a:prstGeom>
          <a:noFill/>
          <a:ln/>
        </p:spPr>
        <p:txBody>
          <a:bodyPr wrap="square" lIns="0" tIns="0" rIns="0" bIns="0" rtlCol="0" anchor="ctr"/>
          <a:lstStyle/>
          <a:p>
            <a:pPr algn="ctr" indent="0" marL="0">
              <a:buNone/>
            </a:pPr>
            <a:r>
              <a:rPr lang="en-US" sz="1000" i="1" dirty="0">
                <a:solidFill>
                  <a:srgbClr val="C9A227"/>
                </a:solidFill>
                <a:latin typeface="Calibri" pitchFamily="34" charset="0"/>
                <a:ea typeface="Calibri" pitchFamily="34" charset="-122"/>
                <a:cs typeface="Calibri" pitchFamily="34" charset="-120"/>
              </a:rPr>
              <a:t>assemble + seats</a:t>
            </a:r>
            <a:endParaRPr lang="en-US" sz="1000" dirty="0"/>
          </a:p>
        </p:txBody>
      </p:sp>
      <p:sp>
        <p:nvSpPr>
          <p:cNvPr id="14" name="Shape 12"/>
          <p:cNvSpPr/>
          <p:nvPr/>
        </p:nvSpPr>
        <p:spPr>
          <a:xfrm>
            <a:off x="6345936" y="1828800"/>
            <a:ext cx="2395728" cy="1371600"/>
          </a:xfrm>
          <a:prstGeom prst="roundRect">
            <a:avLst>
              <a:gd name="adj" fmla="val 4667"/>
            </a:avLst>
          </a:prstGeom>
          <a:solidFill>
            <a:srgbClr val="2B2342"/>
          </a:solidFill>
          <a:ln w="9525">
            <a:solidFill>
              <a:srgbClr val="3A3152"/>
            </a:solidFill>
            <a:prstDash val="solid"/>
          </a:ln>
        </p:spPr>
      </p:sp>
      <p:sp>
        <p:nvSpPr>
          <p:cNvPr id="15" name="Text 13"/>
          <p:cNvSpPr/>
          <p:nvPr/>
        </p:nvSpPr>
        <p:spPr>
          <a:xfrm>
            <a:off x="6419088" y="1901952"/>
            <a:ext cx="2249424" cy="754380"/>
          </a:xfrm>
          <a:prstGeom prst="rect">
            <a:avLst/>
          </a:prstGeom>
          <a:noFill/>
          <a:ln/>
        </p:spPr>
        <p:txBody>
          <a:bodyPr wrap="square" lIns="0" tIns="0" rIns="0" bIns="0" rtlCol="0" anchor="ctr"/>
          <a:lstStyle/>
          <a:p>
            <a:pPr algn="ctr" indent="0" marL="0">
              <a:buNone/>
            </a:pPr>
            <a:r>
              <a:rPr lang="en-US" sz="1250" b="1" dirty="0">
                <a:solidFill>
                  <a:srgbClr val="E9E2D0"/>
                </a:solidFill>
                <a:latin typeface="Courier New" pitchFamily="34" charset="0"/>
                <a:ea typeface="Courier New" pitchFamily="34" charset="-122"/>
                <a:cs typeface="Courier New" pitchFamily="34" charset="-120"/>
              </a:rPr>
              <a:t>genesis.json</a:t>
            </a:r>
            <a:endParaRPr lang="en-US" sz="1250" dirty="0"/>
          </a:p>
        </p:txBody>
      </p:sp>
      <p:sp>
        <p:nvSpPr>
          <p:cNvPr id="16" name="Text 14"/>
          <p:cNvSpPr/>
          <p:nvPr/>
        </p:nvSpPr>
        <p:spPr>
          <a:xfrm>
            <a:off x="6419088" y="2542032"/>
            <a:ext cx="2249424" cy="576072"/>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a pre-begin snapshot,</a:t>
            </a:r>
            <a:endParaRPr lang="en-US" sz="1000" dirty="0"/>
          </a:p>
          <a:p>
            <a:pPr algn="ctr" indent="0" marL="0">
              <a:buNone/>
            </a:pPr>
            <a:r>
              <a:rPr lang="en-US" sz="1000" dirty="0">
                <a:solidFill>
                  <a:srgbClr val="9A92A8"/>
                </a:solidFill>
                <a:latin typeface="Calibri" pitchFamily="34" charset="0"/>
                <a:ea typeface="Calibri" pitchFamily="34" charset="-122"/>
                <a:cs typeface="Calibri" pitchFamily="34" charset="-120"/>
              </a:rPr>
              <a:t>seated and playable</a:t>
            </a:r>
            <a:endParaRPr lang="en-US" sz="1000" dirty="0"/>
          </a:p>
        </p:txBody>
      </p:sp>
      <p:sp>
        <p:nvSpPr>
          <p:cNvPr id="17" name="Shape 15"/>
          <p:cNvSpPr/>
          <p:nvPr/>
        </p:nvSpPr>
        <p:spPr>
          <a:xfrm>
            <a:off x="8814816" y="2514600"/>
            <a:ext cx="356616" cy="0"/>
          </a:xfrm>
          <a:prstGeom prst="line">
            <a:avLst/>
          </a:prstGeom>
          <a:noFill/>
          <a:ln w="25400">
            <a:solidFill>
              <a:srgbClr val="C9A227"/>
            </a:solidFill>
            <a:prstDash val="solid"/>
            <a:tailEnd type="triangle"/>
          </a:ln>
        </p:spPr>
      </p:sp>
      <p:sp>
        <p:nvSpPr>
          <p:cNvPr id="18" name="Text 16"/>
          <p:cNvSpPr/>
          <p:nvPr/>
        </p:nvSpPr>
        <p:spPr>
          <a:xfrm>
            <a:off x="8078724" y="3236976"/>
            <a:ext cx="1828800" cy="274320"/>
          </a:xfrm>
          <a:prstGeom prst="rect">
            <a:avLst/>
          </a:prstGeom>
          <a:noFill/>
          <a:ln/>
        </p:spPr>
        <p:txBody>
          <a:bodyPr wrap="square" lIns="0" tIns="0" rIns="0" bIns="0" rtlCol="0" anchor="ctr"/>
          <a:lstStyle/>
          <a:p>
            <a:pPr algn="ctr" indent="0" marL="0">
              <a:buNone/>
            </a:pPr>
            <a:r>
              <a:rPr lang="en-US" sz="1000" i="1" dirty="0">
                <a:solidFill>
                  <a:srgbClr val="C9A227"/>
                </a:solidFill>
                <a:latin typeface="Calibri" pitchFamily="34" charset="0"/>
                <a:ea typeface="Calibri" pitchFamily="34" charset="-122"/>
                <a:cs typeface="Calibri" pitchFamily="34" charset="-120"/>
              </a:rPr>
              <a:t>core drives</a:t>
            </a:r>
            <a:endParaRPr lang="en-US" sz="1000" dirty="0"/>
          </a:p>
        </p:txBody>
      </p:sp>
      <p:sp>
        <p:nvSpPr>
          <p:cNvPr id="19" name="Shape 17"/>
          <p:cNvSpPr/>
          <p:nvPr/>
        </p:nvSpPr>
        <p:spPr>
          <a:xfrm>
            <a:off x="9244584" y="1828800"/>
            <a:ext cx="2395728" cy="1371600"/>
          </a:xfrm>
          <a:prstGeom prst="roundRect">
            <a:avLst>
              <a:gd name="adj" fmla="val 4667"/>
            </a:avLst>
          </a:prstGeom>
          <a:solidFill>
            <a:srgbClr val="8E2F2F"/>
          </a:solidFill>
          <a:ln w="9525">
            <a:solidFill>
              <a:srgbClr val="3A3152"/>
            </a:solidFill>
            <a:prstDash val="solid"/>
          </a:ln>
        </p:spPr>
      </p:sp>
      <p:sp>
        <p:nvSpPr>
          <p:cNvPr id="20" name="Text 18"/>
          <p:cNvSpPr/>
          <p:nvPr/>
        </p:nvSpPr>
        <p:spPr>
          <a:xfrm>
            <a:off x="9317736" y="1901952"/>
            <a:ext cx="2249424" cy="754380"/>
          </a:xfrm>
          <a:prstGeom prst="rect">
            <a:avLst/>
          </a:prstGeom>
          <a:noFill/>
          <a:ln/>
        </p:spPr>
        <p:txBody>
          <a:bodyPr wrap="square" lIns="0" tIns="0" rIns="0" bIns="0" rtlCol="0" anchor="ctr"/>
          <a:lstStyle/>
          <a:p>
            <a:pPr algn="ctr" indent="0" marL="0">
              <a:buNone/>
            </a:pPr>
            <a:r>
              <a:rPr lang="en-US" sz="1250" b="1" dirty="0">
                <a:solidFill>
                  <a:srgbClr val="E9E2D0"/>
                </a:solidFill>
                <a:latin typeface="Courier New" pitchFamily="34" charset="0"/>
                <a:ea typeface="Courier New" pitchFamily="34" charset="-122"/>
                <a:cs typeface="Courier New" pitchFamily="34" charset="-120"/>
              </a:rPr>
              <a:t>the world</a:t>
            </a:r>
            <a:endParaRPr lang="en-US" sz="1250" dirty="0"/>
          </a:p>
        </p:txBody>
      </p:sp>
      <p:sp>
        <p:nvSpPr>
          <p:cNvPr id="21" name="Text 19"/>
          <p:cNvSpPr/>
          <p:nvPr/>
        </p:nvSpPr>
        <p:spPr>
          <a:xfrm>
            <a:off x="9317736" y="2542032"/>
            <a:ext cx="2249424" cy="576072"/>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begin_campaign()</a:t>
            </a:r>
            <a:endParaRPr lang="en-US" sz="1000" dirty="0"/>
          </a:p>
        </p:txBody>
      </p:sp>
      <p:sp>
        <p:nvSpPr>
          <p:cNvPr id="22" name="Shape 20"/>
          <p:cNvSpPr/>
          <p:nvPr/>
        </p:nvSpPr>
        <p:spPr>
          <a:xfrm>
            <a:off x="548640" y="3794760"/>
            <a:ext cx="5408676" cy="2240280"/>
          </a:xfrm>
          <a:prstGeom prst="roundRect">
            <a:avLst>
              <a:gd name="adj" fmla="val 2857"/>
            </a:avLst>
          </a:prstGeom>
          <a:solidFill>
            <a:srgbClr val="221C31"/>
          </a:solidFill>
          <a:ln w="9525">
            <a:solidFill>
              <a:srgbClr val="3A3152"/>
            </a:solidFill>
            <a:prstDash val="solid"/>
          </a:ln>
        </p:spPr>
      </p:sp>
      <p:sp>
        <p:nvSpPr>
          <p:cNvPr id="23" name="Shape 21"/>
          <p:cNvSpPr/>
          <p:nvPr/>
        </p:nvSpPr>
        <p:spPr>
          <a:xfrm>
            <a:off x="2878074" y="4105656"/>
            <a:ext cx="749808" cy="749808"/>
          </a:xfrm>
          <a:prstGeom prst="ellipse">
            <a:avLst/>
          </a:prstGeom>
          <a:solidFill>
            <a:srgbClr val="2B2342"/>
          </a:solidFill>
          <a:ln w="9525">
            <a:solidFill>
              <a:srgbClr val="3A3152"/>
            </a:solidFill>
            <a:prstDash val="solid"/>
          </a:ln>
        </p:spPr>
      </p:sp>
      <p:pic>
        <p:nvPicPr>
          <p:cNvPr id="24" name="Image 0" descr="/tmp/claude-0/-home-user-WickedWays/bfe20d4f-91dd-58c9-a5c6-92b3d7767e5d/scratchpad/decks/icons/key.png">    </p:cNvPr>
          <p:cNvPicPr>
            <a:picLocks noChangeAspect="1"/>
          </p:cNvPicPr>
          <p:nvPr/>
        </p:nvPicPr>
        <p:blipFill>
          <a:blip r:embed="rId1"/>
          <a:stretch>
            <a:fillRect/>
          </a:stretch>
        </p:blipFill>
        <p:spPr>
          <a:xfrm>
            <a:off x="3058028" y="4285610"/>
            <a:ext cx="389900" cy="389900"/>
          </a:xfrm>
          <a:prstGeom prst="rect">
            <a:avLst/>
          </a:prstGeom>
        </p:spPr>
      </p:pic>
      <p:sp>
        <p:nvSpPr>
          <p:cNvPr id="25" name="Text 22"/>
          <p:cNvSpPr/>
          <p:nvPr/>
        </p:nvSpPr>
        <p:spPr>
          <a:xfrm>
            <a:off x="749808" y="5029200"/>
            <a:ext cx="5006340" cy="566928"/>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Ids derived, never generated</a:t>
            </a:r>
            <a:endParaRPr lang="en-US" sz="1500" dirty="0"/>
          </a:p>
        </p:txBody>
      </p:sp>
      <p:sp>
        <p:nvSpPr>
          <p:cNvPr id="26" name="Text 23"/>
          <p:cNvSpPr/>
          <p:nvPr/>
        </p:nvSpPr>
        <p:spPr>
          <a:xfrm>
            <a:off x="768096" y="5596128"/>
            <a:ext cx="4969764" cy="256032"/>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room:{name} · exit:{a}|{b} sorted · npc:{name}:item#{i} — no rand, no uuid; same inputs, byte-identical output.</a:t>
            </a:r>
            <a:endParaRPr lang="en-US" sz="1200" dirty="0"/>
          </a:p>
        </p:txBody>
      </p:sp>
      <p:sp>
        <p:nvSpPr>
          <p:cNvPr id="27" name="Shape 24"/>
          <p:cNvSpPr/>
          <p:nvPr/>
        </p:nvSpPr>
        <p:spPr>
          <a:xfrm>
            <a:off x="6231636" y="3794760"/>
            <a:ext cx="5408676" cy="2240280"/>
          </a:xfrm>
          <a:prstGeom prst="roundRect">
            <a:avLst>
              <a:gd name="adj" fmla="val 2857"/>
            </a:avLst>
          </a:prstGeom>
          <a:solidFill>
            <a:srgbClr val="221C31"/>
          </a:solidFill>
          <a:ln w="9525">
            <a:solidFill>
              <a:srgbClr val="3A3152"/>
            </a:solidFill>
            <a:prstDash val="solid"/>
          </a:ln>
        </p:spPr>
      </p:sp>
      <p:sp>
        <p:nvSpPr>
          <p:cNvPr id="28" name="Shape 25"/>
          <p:cNvSpPr/>
          <p:nvPr/>
        </p:nvSpPr>
        <p:spPr>
          <a:xfrm>
            <a:off x="8561070" y="4105656"/>
            <a:ext cx="749808" cy="749808"/>
          </a:xfrm>
          <a:prstGeom prst="ellipse">
            <a:avLst/>
          </a:prstGeom>
          <a:solidFill>
            <a:srgbClr val="2B2342"/>
          </a:solidFill>
          <a:ln w="9525">
            <a:solidFill>
              <a:srgbClr val="3A3152"/>
            </a:solidFill>
            <a:prstDash val="solid"/>
          </a:ln>
        </p:spPr>
      </p:sp>
      <p:pic>
        <p:nvPicPr>
          <p:cNvPr id="29" name="Image 1" descr="/tmp/claude-0/-home-user-WickedWays/bfe20d4f-91dd-58c9-a5c6-92b3d7767e5d/scratchpad/decks/icons/ghost_gold.png">    </p:cNvPr>
          <p:cNvPicPr>
            <a:picLocks noChangeAspect="1"/>
          </p:cNvPicPr>
          <p:nvPr/>
        </p:nvPicPr>
        <p:blipFill>
          <a:blip r:embed="rId2"/>
          <a:stretch>
            <a:fillRect/>
          </a:stretch>
        </p:blipFill>
        <p:spPr>
          <a:xfrm>
            <a:off x="8741024" y="4285610"/>
            <a:ext cx="389900" cy="389900"/>
          </a:xfrm>
          <a:prstGeom prst="rect">
            <a:avLst/>
          </a:prstGeom>
        </p:spPr>
      </p:pic>
      <p:sp>
        <p:nvSpPr>
          <p:cNvPr id="30" name="Text 26"/>
          <p:cNvSpPr/>
          <p:nvPr/>
        </p:nvSpPr>
        <p:spPr>
          <a:xfrm>
            <a:off x="6432804" y="5029200"/>
            <a:ext cx="5006340" cy="566928"/>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The surface is complete</a:t>
            </a:r>
            <a:endParaRPr lang="en-US" sz="1500" dirty="0"/>
          </a:p>
        </p:txBody>
      </p:sp>
      <p:sp>
        <p:nvSpPr>
          <p:cNvPr id="31" name="Text 27"/>
          <p:cNvSpPr/>
          <p:nvPr/>
        </p:nvSpPr>
        <p:spPr>
          <a:xfrm>
            <a:off x="6451092" y="5596128"/>
            <a:ext cx="4969764" cy="256032"/>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Hollow House — 9 rooms, 13 exits, 3 mechanics, 3 keyed doors, an NPC — is ONE TOML file reproduced byte-for-byte.</a:t>
            </a:r>
            <a:endParaRPr lang="en-US" sz="1200" dirty="0"/>
          </a:p>
        </p:txBody>
      </p:sp>
      <p:sp>
        <p:nvSpPr>
          <p:cNvPr id="32" name="Text 28"/>
          <p:cNvSpPr/>
          <p:nvPr/>
        </p:nvSpPr>
        <p:spPr>
          <a:xfrm>
            <a:off x="822960" y="6199632"/>
            <a:ext cx="10543032" cy="548640"/>
          </a:xfrm>
          <a:prstGeom prst="rect">
            <a:avLst/>
          </a:prstGeom>
          <a:noFill/>
          <a:ln/>
        </p:spPr>
        <p:txBody>
          <a:bodyPr wrap="square" lIns="0" tIns="0" rIns="0" bIns="0" rtlCol="0" anchor="ctr"/>
          <a:lstStyle/>
          <a:p>
            <a:pPr algn="ctr" indent="0" marL="0">
              <a:buNone/>
            </a:pPr>
            <a:r>
              <a:rPr lang="en-US" sz="1350" i="1" dirty="0">
                <a:solidFill>
                  <a:srgbClr val="E9E2D0"/>
                </a:solidFill>
                <a:latin typeface="Calibri" pitchFamily="34" charset="0"/>
                <a:ea typeface="Calibri" pitchFamily="34" charset="-122"/>
                <a:cs typeface="Calibri" pitchFamily="34" charset="-120"/>
              </a:rPr>
              <a:t>The authoring format is not a toy beside the engine — it is how the shipped content is written.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2 — THE ENGINE CORE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A lifecycle-guarded state machine</a:t>
            </a:r>
            <a:endParaRPr lang="en-US" sz="3000" dirty="0"/>
          </a:p>
        </p:txBody>
      </p:sp>
      <p:sp>
        <p:nvSpPr>
          <p:cNvPr id="4" name="Shape 2"/>
          <p:cNvSpPr/>
          <p:nvPr/>
        </p:nvSpPr>
        <p:spPr>
          <a:xfrm>
            <a:off x="548640" y="1554480"/>
            <a:ext cx="4754880" cy="4114800"/>
          </a:xfrm>
          <a:prstGeom prst="roundRect">
            <a:avLst>
              <a:gd name="adj" fmla="val 1556"/>
            </a:avLst>
          </a:prstGeom>
          <a:solidFill>
            <a:srgbClr val="221C31"/>
          </a:solidFill>
          <a:ln w="9525">
            <a:solidFill>
              <a:srgbClr val="3A3152"/>
            </a:solidFill>
            <a:prstDash val="solid"/>
          </a:ln>
        </p:spPr>
      </p:sp>
      <p:sp>
        <p:nvSpPr>
          <p:cNvPr id="5" name="Text 3"/>
          <p:cNvSpPr/>
          <p:nvPr/>
        </p:nvSpPr>
        <p:spPr>
          <a:xfrm>
            <a:off x="548640" y="1719072"/>
            <a:ext cx="47548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THE STAT TRIANGLE</a:t>
            </a:r>
            <a:endParaRPr lang="en-US" sz="1200" dirty="0"/>
          </a:p>
        </p:txBody>
      </p:sp>
      <p:sp>
        <p:nvSpPr>
          <p:cNvPr id="6" name="Shape 4"/>
          <p:cNvSpPr/>
          <p:nvPr/>
        </p:nvSpPr>
        <p:spPr>
          <a:xfrm>
            <a:off x="2377440" y="2103120"/>
            <a:ext cx="1097280" cy="1097280"/>
          </a:xfrm>
          <a:prstGeom prst="ellipse">
            <a:avLst/>
          </a:prstGeom>
          <a:solidFill>
            <a:srgbClr val="2B2342"/>
          </a:solidFill>
          <a:ln w="12700">
            <a:solidFill>
              <a:srgbClr val="C9A227"/>
            </a:solidFill>
            <a:prstDash val="solid"/>
          </a:ln>
        </p:spPr>
      </p:sp>
      <p:sp>
        <p:nvSpPr>
          <p:cNvPr id="7" name="Text 5"/>
          <p:cNvSpPr/>
          <p:nvPr/>
        </p:nvSpPr>
        <p:spPr>
          <a:xfrm>
            <a:off x="2377440" y="2103120"/>
            <a:ext cx="1097280" cy="1097280"/>
          </a:xfrm>
          <a:prstGeom prst="rect">
            <a:avLst/>
          </a:prstGeom>
          <a:noFill/>
          <a:ln/>
        </p:spPr>
        <p:txBody>
          <a:bodyPr wrap="square" lIns="0" tIns="0" rIns="0" bIns="0" rtlCol="0" anchor="ctr"/>
          <a:lstStyle/>
          <a:p>
            <a:pPr algn="ctr" indent="0" marL="0">
              <a:buNone/>
            </a:pPr>
            <a:r>
              <a:rPr lang="en-US" sz="1400" b="1" dirty="0">
                <a:solidFill>
                  <a:srgbClr val="E9E2D0"/>
                </a:solidFill>
                <a:latin typeface="Cambria" pitchFamily="34" charset="0"/>
                <a:ea typeface="Cambria" pitchFamily="34" charset="-122"/>
                <a:cs typeface="Cambria" pitchFamily="34" charset="-120"/>
              </a:rPr>
              <a:t>Health</a:t>
            </a:r>
            <a:endParaRPr lang="en-US" sz="1400" dirty="0"/>
          </a:p>
        </p:txBody>
      </p:sp>
      <p:sp>
        <p:nvSpPr>
          <p:cNvPr id="8" name="Shape 6"/>
          <p:cNvSpPr/>
          <p:nvPr/>
        </p:nvSpPr>
        <p:spPr>
          <a:xfrm>
            <a:off x="1143000" y="3886200"/>
            <a:ext cx="1097280" cy="1097280"/>
          </a:xfrm>
          <a:prstGeom prst="ellipse">
            <a:avLst/>
          </a:prstGeom>
          <a:solidFill>
            <a:srgbClr val="2B2342"/>
          </a:solidFill>
          <a:ln w="12700">
            <a:solidFill>
              <a:srgbClr val="C9A227"/>
            </a:solidFill>
            <a:prstDash val="solid"/>
          </a:ln>
        </p:spPr>
      </p:sp>
      <p:sp>
        <p:nvSpPr>
          <p:cNvPr id="9" name="Text 7"/>
          <p:cNvSpPr/>
          <p:nvPr/>
        </p:nvSpPr>
        <p:spPr>
          <a:xfrm>
            <a:off x="1143000" y="3886200"/>
            <a:ext cx="1097280" cy="1097280"/>
          </a:xfrm>
          <a:prstGeom prst="rect">
            <a:avLst/>
          </a:prstGeom>
          <a:noFill/>
          <a:ln/>
        </p:spPr>
        <p:txBody>
          <a:bodyPr wrap="square" lIns="0" tIns="0" rIns="0" bIns="0" rtlCol="0" anchor="ctr"/>
          <a:lstStyle/>
          <a:p>
            <a:pPr algn="ctr" indent="0" marL="0">
              <a:buNone/>
            </a:pPr>
            <a:r>
              <a:rPr lang="en-US" sz="1400" b="1" dirty="0">
                <a:solidFill>
                  <a:srgbClr val="E9E2D0"/>
                </a:solidFill>
                <a:latin typeface="Cambria" pitchFamily="34" charset="0"/>
                <a:ea typeface="Cambria" pitchFamily="34" charset="-122"/>
                <a:cs typeface="Cambria" pitchFamily="34" charset="-120"/>
              </a:rPr>
              <a:t>Sanity</a:t>
            </a:r>
            <a:endParaRPr lang="en-US" sz="1400" dirty="0"/>
          </a:p>
        </p:txBody>
      </p:sp>
      <p:sp>
        <p:nvSpPr>
          <p:cNvPr id="10" name="Shape 8"/>
          <p:cNvSpPr/>
          <p:nvPr/>
        </p:nvSpPr>
        <p:spPr>
          <a:xfrm>
            <a:off x="3611880" y="3886200"/>
            <a:ext cx="1097280" cy="1097280"/>
          </a:xfrm>
          <a:prstGeom prst="ellipse">
            <a:avLst/>
          </a:prstGeom>
          <a:solidFill>
            <a:srgbClr val="2B2342"/>
          </a:solidFill>
          <a:ln w="12700">
            <a:solidFill>
              <a:srgbClr val="C9A227"/>
            </a:solidFill>
            <a:prstDash val="solid"/>
          </a:ln>
        </p:spPr>
      </p:sp>
      <p:sp>
        <p:nvSpPr>
          <p:cNvPr id="11" name="Text 9"/>
          <p:cNvSpPr/>
          <p:nvPr/>
        </p:nvSpPr>
        <p:spPr>
          <a:xfrm>
            <a:off x="3611880" y="3886200"/>
            <a:ext cx="1097280" cy="1097280"/>
          </a:xfrm>
          <a:prstGeom prst="rect">
            <a:avLst/>
          </a:prstGeom>
          <a:noFill/>
          <a:ln/>
        </p:spPr>
        <p:txBody>
          <a:bodyPr wrap="square" lIns="0" tIns="0" rIns="0" bIns="0" rtlCol="0" anchor="ctr"/>
          <a:lstStyle/>
          <a:p>
            <a:pPr algn="ctr" indent="0" marL="0">
              <a:buNone/>
            </a:pPr>
            <a:r>
              <a:rPr lang="en-US" sz="1400" b="1" dirty="0">
                <a:solidFill>
                  <a:srgbClr val="E9E2D0"/>
                </a:solidFill>
                <a:latin typeface="Cambria" pitchFamily="34" charset="0"/>
                <a:ea typeface="Cambria" pitchFamily="34" charset="-122"/>
                <a:cs typeface="Cambria" pitchFamily="34" charset="-120"/>
              </a:rPr>
              <a:t>Energy</a:t>
            </a:r>
            <a:endParaRPr lang="en-US" sz="1400" dirty="0"/>
          </a:p>
        </p:txBody>
      </p:sp>
      <p:sp>
        <p:nvSpPr>
          <p:cNvPr id="12" name="Shape 10"/>
          <p:cNvSpPr/>
          <p:nvPr/>
        </p:nvSpPr>
        <p:spPr>
          <a:xfrm flipH="1">
            <a:off x="2048256" y="3063240"/>
            <a:ext cx="457200" cy="777240"/>
          </a:xfrm>
          <a:prstGeom prst="line">
            <a:avLst/>
          </a:prstGeom>
          <a:noFill/>
          <a:ln w="19050">
            <a:solidFill>
              <a:srgbClr val="C9A227"/>
            </a:solidFill>
            <a:prstDash val="solid"/>
            <a:tailEnd type="triangle"/>
          </a:ln>
        </p:spPr>
      </p:sp>
      <p:sp>
        <p:nvSpPr>
          <p:cNvPr id="13" name="Shape 11"/>
          <p:cNvSpPr/>
          <p:nvPr/>
        </p:nvSpPr>
        <p:spPr>
          <a:xfrm>
            <a:off x="2267712" y="4453128"/>
            <a:ext cx="1316736" cy="0"/>
          </a:xfrm>
          <a:prstGeom prst="line">
            <a:avLst/>
          </a:prstGeom>
          <a:noFill/>
          <a:ln w="19050">
            <a:solidFill>
              <a:srgbClr val="C9A227"/>
            </a:solidFill>
            <a:prstDash val="solid"/>
            <a:tailEnd type="triangle"/>
          </a:ln>
        </p:spPr>
      </p:sp>
      <p:sp>
        <p:nvSpPr>
          <p:cNvPr id="14" name="Shape 12"/>
          <p:cNvSpPr/>
          <p:nvPr/>
        </p:nvSpPr>
        <p:spPr>
          <a:xfrm flipH="1" flipV="1">
            <a:off x="3401568" y="3063240"/>
            <a:ext cx="512064" cy="795528"/>
          </a:xfrm>
          <a:prstGeom prst="line">
            <a:avLst/>
          </a:prstGeom>
          <a:noFill/>
          <a:ln w="19050">
            <a:solidFill>
              <a:srgbClr val="C9A227"/>
            </a:solidFill>
            <a:prstDash val="solid"/>
            <a:tailEnd type="triangle"/>
          </a:ln>
        </p:spPr>
      </p:sp>
      <p:sp>
        <p:nvSpPr>
          <p:cNvPr id="15" name="Text 13"/>
          <p:cNvSpPr/>
          <p:nvPr/>
        </p:nvSpPr>
        <p:spPr>
          <a:xfrm>
            <a:off x="960120" y="3246120"/>
            <a:ext cx="1463040" cy="274320"/>
          </a:xfrm>
          <a:prstGeom prst="rect">
            <a:avLst/>
          </a:prstGeom>
          <a:noFill/>
          <a:ln/>
        </p:spPr>
        <p:txBody>
          <a:bodyPr wrap="square" lIns="0" tIns="0" rIns="0" bIns="0" rtlCol="0" anchor="ctr"/>
          <a:lstStyle/>
          <a:p>
            <a:pPr algn="ctr" indent="0" marL="0">
              <a:buNone/>
            </a:pPr>
            <a:r>
              <a:rPr lang="en-US" sz="950" i="1" dirty="0">
                <a:solidFill>
                  <a:srgbClr val="9A92A8"/>
                </a:solidFill>
                <a:latin typeface="Calibri" pitchFamily="34" charset="0"/>
                <a:ea typeface="Calibri" pitchFamily="34" charset="-122"/>
                <a:cs typeface="Calibri" pitchFamily="34" charset="-120"/>
              </a:rPr>
              <a:t>mitigated by →</a:t>
            </a:r>
            <a:endParaRPr lang="en-US" sz="950" dirty="0"/>
          </a:p>
        </p:txBody>
      </p:sp>
      <p:sp>
        <p:nvSpPr>
          <p:cNvPr id="16" name="Text 14"/>
          <p:cNvSpPr/>
          <p:nvPr/>
        </p:nvSpPr>
        <p:spPr>
          <a:xfrm>
            <a:off x="685800" y="5285232"/>
            <a:ext cx="4480560" cy="320040"/>
          </a:xfrm>
          <a:prstGeom prst="rect">
            <a:avLst/>
          </a:prstGeom>
          <a:noFill/>
          <a:ln/>
        </p:spPr>
        <p:txBody>
          <a:bodyPr wrap="square" lIns="0" tIns="0" rIns="0" bIns="0" rtlCol="0" anchor="ctr"/>
          <a:lstStyle/>
          <a:p>
            <a:pPr algn="ctr" indent="0" marL="0">
              <a:buNone/>
            </a:pPr>
            <a:r>
              <a:rPr lang="en-US" sz="1050" dirty="0">
                <a:solidFill>
                  <a:srgbClr val="C9A227"/>
                </a:solidFill>
                <a:latin typeface="Courier New" pitchFamily="34" charset="0"/>
                <a:ea typeface="Courier New" pitchFamily="34" charset="-122"/>
                <a:cs typeface="Courier New" pitchFamily="34" charset="-120"/>
              </a:rPr>
              <a:t>final = (attack − armor) × (10 − mitigator) × 0.2</a:t>
            </a:r>
            <a:endParaRPr lang="en-US" sz="1050" dirty="0"/>
          </a:p>
        </p:txBody>
      </p:sp>
      <p:sp>
        <p:nvSpPr>
          <p:cNvPr id="17" name="Shape 15"/>
          <p:cNvSpPr/>
          <p:nvPr/>
        </p:nvSpPr>
        <p:spPr>
          <a:xfrm>
            <a:off x="5577840" y="1554480"/>
            <a:ext cx="6062472" cy="4114800"/>
          </a:xfrm>
          <a:prstGeom prst="roundRect">
            <a:avLst>
              <a:gd name="adj" fmla="val 1556"/>
            </a:avLst>
          </a:prstGeom>
          <a:solidFill>
            <a:srgbClr val="221C31"/>
          </a:solidFill>
          <a:ln w="9525">
            <a:solidFill>
              <a:srgbClr val="3A3152"/>
            </a:solidFill>
            <a:prstDash val="solid"/>
          </a:ln>
        </p:spPr>
      </p:sp>
      <p:sp>
        <p:nvSpPr>
          <p:cNvPr id="18" name="Text 16"/>
          <p:cNvSpPr/>
          <p:nvPr/>
        </p:nvSpPr>
        <p:spPr>
          <a:xfrm>
            <a:off x="5897880" y="1828800"/>
            <a:ext cx="5440680" cy="3566160"/>
          </a:xfrm>
          <a:prstGeom prst="rect">
            <a:avLst/>
          </a:prstGeom>
          <a:noFill/>
          <a:ln/>
        </p:spPr>
        <p:txBody>
          <a:bodyPr wrap="square" lIns="0" tIns="0" rIns="0" bIns="0" rtlCol="0" anchor="t"/>
          <a:lstStyle/>
          <a:p>
            <a:pPr indent="0" marL="0">
              <a:buNone/>
            </a:pPr>
            <a:r>
              <a:rPr lang="en-US" sz="1300" b="1" dirty="0">
                <a:solidFill>
                  <a:srgbClr val="E9E2D0"/>
                </a:solidFill>
                <a:latin typeface="Calibri" pitchFamily="34" charset="0"/>
                <a:ea typeface="Calibri" pitchFamily="34" charset="-122"/>
                <a:cs typeface="Calibri" pitchFamily="34" charset="-120"/>
              </a:rPr>
              <a:t>Action budgets — </a:t>
            </a:r>
            <a:pPr indent="0" marL="0">
              <a:spcAft>
                <a:spcPts val="1000"/>
              </a:spcAft>
              <a:buNone/>
            </a:pPr>
            <a:r>
              <a:rPr lang="en-US" sz="1300" dirty="0">
                <a:solidFill>
                  <a:srgbClr val="9A92A8"/>
                </a:solidFill>
                <a:latin typeface="Calibri" pitchFamily="34" charset="0"/>
                <a:ea typeface="Calibri" pitchFamily="34" charset="-122"/>
                <a:cs typeface="Calibri" pitchFamily="34" charset="-120"/>
              </a:rPr>
              <a:t>3 for PCs, 2 for mobs; budgeted actions tick it and auto-end the turn when spent.</a:t>
            </a:r>
            <a:endParaRPr lang="en-US" sz="1300" dirty="0"/>
          </a:p>
          <a:p>
            <a:pPr indent="0" marL="0">
              <a:buNone/>
            </a:pPr>
            <a:r>
              <a:rPr lang="en-US" sz="1300" b="1" dirty="0">
                <a:solidFill>
                  <a:srgbClr val="E9E2D0"/>
                </a:solidFill>
                <a:latin typeface="Calibri" pitchFamily="34" charset="0"/>
                <a:ea typeface="Calibri" pitchFamily="34" charset="-122"/>
                <a:cs typeface="Calibri" pitchFamily="34" charset="-120"/>
              </a:rPr>
              <a:t>Guards are the contract — </a:t>
            </a:r>
            <a:pPr indent="0" marL="0">
              <a:spcAft>
                <a:spcPts val="1000"/>
              </a:spcAft>
              <a:buNone/>
            </a:pPr>
            <a:r>
              <a:rPr lang="en-US" sz="1300" dirty="0">
                <a:solidFill>
                  <a:srgbClr val="9A92A8"/>
                </a:solidFill>
                <a:latin typeface="Calibri" pitchFamily="34" charset="0"/>
                <a:ea typeface="Calibri" pitchFamily="34" charset="-122"/>
                <a:cs typeface="Calibri" pitchFamily="34" charset="-120"/>
              </a:rPr>
              <a:t>illegal moves throw ProceduralViolation; refusal is the API, not error handling.</a:t>
            </a:r>
            <a:endParaRPr lang="en-US" sz="1300" dirty="0"/>
          </a:p>
          <a:p>
            <a:pPr indent="0" marL="0">
              <a:buNone/>
            </a:pPr>
            <a:r>
              <a:rPr lang="en-US" sz="1300" b="1" dirty="0">
                <a:solidFill>
                  <a:srgbClr val="E9E2D0"/>
                </a:solidFill>
                <a:latin typeface="Calibri" pitchFamily="34" charset="0"/>
                <a:ea typeface="Calibri" pitchFamily="34" charset="-122"/>
                <a:cs typeface="Calibri" pitchFamily="34" charset="-120"/>
              </a:rPr>
              <a:t>A living world — </a:t>
            </a:r>
            <a:pPr indent="0" marL="0">
              <a:spcAft>
                <a:spcPts val="1000"/>
              </a:spcAft>
              <a:buNone/>
            </a:pPr>
            <a:r>
              <a:rPr lang="en-US" sz="1300" dirty="0">
                <a:solidFill>
                  <a:srgbClr val="9A92A8"/>
                </a:solidFill>
                <a:latin typeface="Calibri" pitchFamily="34" charset="0"/>
                <a:ea typeface="Calibri" pitchFamily="34" charset="-122"/>
                <a:cs typeface="Calibri" pitchFamily="34" charset="-120"/>
              </a:rPr>
              <a:t>spanning-tree maps, darkness + light gates, roving encounters, crafting from a shared pool, durability, NPC dialogue, a party Codex.</a:t>
            </a:r>
            <a:endParaRPr lang="en-US" sz="1300" dirty="0"/>
          </a:p>
          <a:p>
            <a:pPr indent="0" marL="0">
              <a:buNone/>
            </a:pPr>
            <a:r>
              <a:rPr lang="en-US" sz="1300" b="1" dirty="0">
                <a:solidFill>
                  <a:srgbClr val="E9E2D0"/>
                </a:solidFill>
                <a:latin typeface="Calibri" pitchFamily="34" charset="0"/>
                <a:ea typeface="Calibri" pitchFamily="34" charset="-122"/>
                <a:cs typeface="Calibri" pitchFamily="34" charset="-120"/>
              </a:rPr>
              <a:t>Afflictions latch — </a:t>
            </a:r>
            <a:pPr indent="0" marL="0">
              <a:spcAft>
                <a:spcPts val="1000"/>
              </a:spcAft>
              <a:buNone/>
            </a:pPr>
            <a:r>
              <a:rPr lang="en-US" sz="1300" dirty="0">
                <a:solidFill>
                  <a:srgbClr val="9A92A8"/>
                </a:solidFill>
                <a:latin typeface="Calibri" pitchFamily="34" charset="0"/>
                <a:ea typeface="Calibri" pitchFamily="34" charset="-122"/>
                <a:cs typeface="Calibri" pitchFamily="34" charset="-120"/>
              </a:rPr>
              <a:t>KO / Panic / Fear / Confused gate which actions you may even attempt, with escalating shake-off rolls.</a:t>
            </a:r>
            <a:endParaRPr lang="en-US" sz="1300" dirty="0"/>
          </a:p>
          <a:p>
            <a:pPr indent="0" marL="0">
              <a:buNone/>
            </a:pPr>
            <a:r>
              <a:rPr lang="en-US" sz="1300" b="1" dirty="0">
                <a:solidFill>
                  <a:srgbClr val="E9E2D0"/>
                </a:solidFill>
                <a:latin typeface="Calibri" pitchFamily="34" charset="0"/>
                <a:ea typeface="Calibri" pitchFamily="34" charset="-122"/>
                <a:cs typeface="Calibri" pitchFamily="34" charset="-120"/>
              </a:rPr>
              <a:t>Portable by discipline — </a:t>
            </a:r>
            <a:pPr indent="0" marL="0">
              <a:buNone/>
            </a:pPr>
            <a:r>
              <a:rPr lang="en-US" sz="1300" dirty="0">
                <a:solidFill>
                  <a:srgbClr val="9A92A8"/>
                </a:solidFill>
                <a:latin typeface="Calibri" pitchFamily="34" charset="0"/>
                <a:ea typeface="Calibri" pitchFamily="34" charset="-122"/>
                <a:cs typeface="Calibri" pitchFamily="34" charset="-120"/>
              </a:rPr>
              <a:t>one seeded RNG, no clock, no IO; physical dice enter as recorded commands; the OS-free (no_std) build is gated in CI.</a:t>
            </a:r>
            <a:endParaRPr lang="en-US" sz="1300" dirty="0"/>
          </a:p>
        </p:txBody>
      </p:sp>
      <p:sp>
        <p:nvSpPr>
          <p:cNvPr id="19" name="Text 17"/>
          <p:cNvSpPr/>
          <p:nvPr/>
        </p:nvSpPr>
        <p:spPr>
          <a:xfrm>
            <a:off x="822960" y="5943600"/>
            <a:ext cx="10543032" cy="548640"/>
          </a:xfrm>
          <a:prstGeom prst="rect">
            <a:avLst/>
          </a:prstGeom>
          <a:noFill/>
          <a:ln/>
        </p:spPr>
        <p:txBody>
          <a:bodyPr wrap="square" lIns="0" tIns="0" rIns="0" bIns="0" rtlCol="0" anchor="ctr"/>
          <a:lstStyle/>
          <a:p>
            <a:pPr algn="ctr" indent="0" marL="0">
              <a:buNone/>
            </a:pPr>
            <a:r>
              <a:rPr lang="en-US" sz="1350" i="1" dirty="0">
                <a:solidFill>
                  <a:srgbClr val="E9E2D0"/>
                </a:solidFill>
                <a:latin typeface="Calibri" pitchFamily="34" charset="0"/>
                <a:ea typeface="Calibri" pitchFamily="34" charset="-122"/>
                <a:cs typeface="Calibri" pitchFamily="34" charset="-120"/>
              </a:rPr>
              <a:t>All of this exists once — nothing outside this crate re-implements a scrap of it.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3 — THE EXTENSION SYSTEM</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One idiom, six families</a:t>
            </a:r>
            <a:endParaRPr lang="en-US" sz="3000" dirty="0"/>
          </a:p>
        </p:txBody>
      </p:sp>
      <p:sp>
        <p:nvSpPr>
          <p:cNvPr id="4" name="Shape 2"/>
          <p:cNvSpPr/>
          <p:nvPr/>
        </p:nvSpPr>
        <p:spPr>
          <a:xfrm>
            <a:off x="548640" y="1554480"/>
            <a:ext cx="5212080" cy="2834640"/>
          </a:xfrm>
          <a:prstGeom prst="roundRect">
            <a:avLst>
              <a:gd name="adj" fmla="val 2258"/>
            </a:avLst>
          </a:prstGeom>
          <a:solidFill>
            <a:srgbClr val="221C31"/>
          </a:solidFill>
          <a:ln w="9525">
            <a:solidFill>
              <a:srgbClr val="3A3152"/>
            </a:solidFill>
            <a:prstDash val="solid"/>
          </a:ln>
        </p:spPr>
      </p:sp>
      <p:sp>
        <p:nvSpPr>
          <p:cNvPr id="5" name="Text 3"/>
          <p:cNvSpPr/>
          <p:nvPr/>
        </p:nvSpPr>
        <p:spPr>
          <a:xfrm>
            <a:off x="548640" y="1700784"/>
            <a:ext cx="5212080"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RESOLUTION, NATIVE-FIRST</a:t>
            </a:r>
            <a:endParaRPr lang="en-US" sz="1200" dirty="0"/>
          </a:p>
        </p:txBody>
      </p:sp>
      <p:sp>
        <p:nvSpPr>
          <p:cNvPr id="6" name="Shape 4"/>
          <p:cNvSpPr/>
          <p:nvPr/>
        </p:nvSpPr>
        <p:spPr>
          <a:xfrm>
            <a:off x="914400" y="2057400"/>
            <a:ext cx="4480560" cy="621792"/>
          </a:xfrm>
          <a:prstGeom prst="roundRect">
            <a:avLst>
              <a:gd name="adj" fmla="val 10294"/>
            </a:avLst>
          </a:prstGeom>
          <a:solidFill>
            <a:srgbClr val="2B2342"/>
          </a:solidFill>
          <a:ln w="9525">
            <a:solidFill>
              <a:srgbClr val="3A3152"/>
            </a:solidFill>
            <a:prstDash val="solid"/>
          </a:ln>
        </p:spPr>
      </p:sp>
      <p:sp>
        <p:nvSpPr>
          <p:cNvPr id="7" name="Text 5"/>
          <p:cNvSpPr/>
          <p:nvPr/>
        </p:nvSpPr>
        <p:spPr>
          <a:xfrm>
            <a:off x="1143000" y="2112264"/>
            <a:ext cx="4114800" cy="274320"/>
          </a:xfrm>
          <a:prstGeom prst="rect">
            <a:avLst/>
          </a:prstGeom>
          <a:noFill/>
          <a:ln/>
        </p:spPr>
        <p:txBody>
          <a:bodyPr wrap="square" lIns="0" tIns="0" rIns="0" bIns="0" rtlCol="0" anchor="ctr"/>
          <a:lstStyle/>
          <a:p>
            <a:pPr indent="0" marL="0">
              <a:buNone/>
            </a:pPr>
            <a:r>
              <a:rPr lang="en-US" sz="1250" b="1" dirty="0">
                <a:solidFill>
                  <a:srgbClr val="E9E2D0"/>
                </a:solidFill>
                <a:latin typeface="Courier New" pitchFamily="34" charset="0"/>
                <a:ea typeface="Courier New" pitchFamily="34" charset="-122"/>
                <a:cs typeface="Courier New" pitchFamily="34" charset="-120"/>
              </a:rPr>
              <a:t>behavior_key</a:t>
            </a:r>
            <a:endParaRPr lang="en-US" sz="1250" dirty="0"/>
          </a:p>
        </p:txBody>
      </p:sp>
      <p:sp>
        <p:nvSpPr>
          <p:cNvPr id="8" name="Text 6"/>
          <p:cNvSpPr/>
          <p:nvPr/>
        </p:nvSpPr>
        <p:spPr>
          <a:xfrm>
            <a:off x="1143000" y="2377440"/>
            <a:ext cx="4114800" cy="256032"/>
          </a:xfrm>
          <a:prstGeom prst="rect">
            <a:avLst/>
          </a:prstGeom>
          <a:noFill/>
          <a:ln/>
        </p:spPr>
        <p:txBody>
          <a:bodyPr wrap="square" lIns="0" tIns="0" rIns="0" bIns="0" rtlCol="0" anchor="ctr"/>
          <a:lstStyle/>
          <a:p>
            <a:pPr indent="0" marL="0">
              <a:buNone/>
            </a:pPr>
            <a:r>
              <a:rPr lang="en-US" sz="1000" dirty="0">
                <a:solidFill>
                  <a:srgbClr val="9A92A8"/>
                </a:solidFill>
                <a:latin typeface="Calibri" pitchFamily="34" charset="0"/>
                <a:ea typeface="Calibri" pitchFamily="34" charset="-122"/>
                <a:cs typeface="Calibri" pitchFamily="34" charset="-120"/>
              </a:rPr>
              <a:t>a stable string in the snapshot</a:t>
            </a:r>
            <a:endParaRPr lang="en-US" sz="1000" dirty="0"/>
          </a:p>
        </p:txBody>
      </p:sp>
      <p:sp>
        <p:nvSpPr>
          <p:cNvPr id="9" name="Shape 7"/>
          <p:cNvSpPr/>
          <p:nvPr/>
        </p:nvSpPr>
        <p:spPr>
          <a:xfrm>
            <a:off x="3154680" y="2679192"/>
            <a:ext cx="0" cy="146304"/>
          </a:xfrm>
          <a:prstGeom prst="line">
            <a:avLst/>
          </a:prstGeom>
          <a:noFill/>
          <a:ln w="15875">
            <a:solidFill>
              <a:srgbClr val="C9A227"/>
            </a:solidFill>
            <a:prstDash val="solid"/>
            <a:tailEnd type="triangle"/>
          </a:ln>
        </p:spPr>
      </p:sp>
      <p:sp>
        <p:nvSpPr>
          <p:cNvPr id="10" name="Shape 8"/>
          <p:cNvSpPr/>
          <p:nvPr/>
        </p:nvSpPr>
        <p:spPr>
          <a:xfrm>
            <a:off x="914400" y="2807208"/>
            <a:ext cx="4480560" cy="621792"/>
          </a:xfrm>
          <a:prstGeom prst="roundRect">
            <a:avLst>
              <a:gd name="adj" fmla="val 10294"/>
            </a:avLst>
          </a:prstGeom>
          <a:solidFill>
            <a:srgbClr val="2B2342"/>
          </a:solidFill>
          <a:ln w="9525">
            <a:solidFill>
              <a:srgbClr val="3A3152"/>
            </a:solidFill>
            <a:prstDash val="solid"/>
          </a:ln>
        </p:spPr>
      </p:sp>
      <p:sp>
        <p:nvSpPr>
          <p:cNvPr id="11" name="Text 9"/>
          <p:cNvSpPr/>
          <p:nvPr/>
        </p:nvSpPr>
        <p:spPr>
          <a:xfrm>
            <a:off x="1143000" y="2862072"/>
            <a:ext cx="4114800" cy="274320"/>
          </a:xfrm>
          <a:prstGeom prst="rect">
            <a:avLst/>
          </a:prstGeom>
          <a:noFill/>
          <a:ln/>
        </p:spPr>
        <p:txBody>
          <a:bodyPr wrap="square" lIns="0" tIns="0" rIns="0" bIns="0" rtlCol="0" anchor="ctr"/>
          <a:lstStyle/>
          <a:p>
            <a:pPr indent="0" marL="0">
              <a:buNone/>
            </a:pPr>
            <a:r>
              <a:rPr lang="en-US" sz="1250" b="1" dirty="0">
                <a:solidFill>
                  <a:srgbClr val="E9E2D0"/>
                </a:solidFill>
                <a:latin typeface="Courier New" pitchFamily="34" charset="0"/>
                <a:ea typeface="Courier New" pitchFamily="34" charset="-122"/>
                <a:cs typeface="Courier New" pitchFamily="34" charset="-120"/>
              </a:rPr>
              <a:t>native registry</a:t>
            </a:r>
            <a:endParaRPr lang="en-US" sz="1250" dirty="0"/>
          </a:p>
        </p:txBody>
      </p:sp>
      <p:sp>
        <p:nvSpPr>
          <p:cNvPr id="12" name="Text 10"/>
          <p:cNvSpPr/>
          <p:nvPr/>
        </p:nvSpPr>
        <p:spPr>
          <a:xfrm>
            <a:off x="1143000" y="3127248"/>
            <a:ext cx="4114800" cy="256032"/>
          </a:xfrm>
          <a:prstGeom prst="rect">
            <a:avLst/>
          </a:prstGeom>
          <a:noFill/>
          <a:ln/>
        </p:spPr>
        <p:txBody>
          <a:bodyPr wrap="square" lIns="0" tIns="0" rIns="0" bIns="0" rtlCol="0" anchor="ctr"/>
          <a:lstStyle/>
          <a:p>
            <a:pPr indent="0" marL="0">
              <a:buNone/>
            </a:pPr>
            <a:r>
              <a:rPr lang="en-US" sz="1000" dirty="0">
                <a:solidFill>
                  <a:srgbClr val="9A92A8"/>
                </a:solidFill>
                <a:latin typeface="Calibri" pitchFamily="34" charset="0"/>
                <a:ea typeface="Calibri" pitchFamily="34" charset="-122"/>
                <a:cs typeface="Calibri" pitchFamily="34" charset="-120"/>
              </a:rPr>
              <a:t>name → compiled-in implementation</a:t>
            </a:r>
            <a:endParaRPr lang="en-US" sz="1000" dirty="0"/>
          </a:p>
        </p:txBody>
      </p:sp>
      <p:sp>
        <p:nvSpPr>
          <p:cNvPr id="13" name="Shape 11"/>
          <p:cNvSpPr/>
          <p:nvPr/>
        </p:nvSpPr>
        <p:spPr>
          <a:xfrm>
            <a:off x="3154680" y="3429000"/>
            <a:ext cx="0" cy="146304"/>
          </a:xfrm>
          <a:prstGeom prst="line">
            <a:avLst/>
          </a:prstGeom>
          <a:noFill/>
          <a:ln w="15875">
            <a:solidFill>
              <a:srgbClr val="C9A227"/>
            </a:solidFill>
            <a:prstDash val="solid"/>
            <a:tailEnd type="triangle"/>
          </a:ln>
        </p:spPr>
      </p:sp>
      <p:sp>
        <p:nvSpPr>
          <p:cNvPr id="14" name="Shape 12"/>
          <p:cNvSpPr/>
          <p:nvPr/>
        </p:nvSpPr>
        <p:spPr>
          <a:xfrm>
            <a:off x="914400" y="3557016"/>
            <a:ext cx="4480560" cy="621792"/>
          </a:xfrm>
          <a:prstGeom prst="roundRect">
            <a:avLst>
              <a:gd name="adj" fmla="val 10294"/>
            </a:avLst>
          </a:prstGeom>
          <a:solidFill>
            <a:srgbClr val="2B2342"/>
          </a:solidFill>
          <a:ln w="9525">
            <a:solidFill>
              <a:srgbClr val="3A3152"/>
            </a:solidFill>
            <a:prstDash val="solid"/>
          </a:ln>
        </p:spPr>
      </p:sp>
      <p:sp>
        <p:nvSpPr>
          <p:cNvPr id="15" name="Text 13"/>
          <p:cNvSpPr/>
          <p:nvPr/>
        </p:nvSpPr>
        <p:spPr>
          <a:xfrm>
            <a:off x="1143000" y="3611880"/>
            <a:ext cx="4114800" cy="274320"/>
          </a:xfrm>
          <a:prstGeom prst="rect">
            <a:avLst/>
          </a:prstGeom>
          <a:noFill/>
          <a:ln/>
        </p:spPr>
        <p:txBody>
          <a:bodyPr wrap="square" lIns="0" tIns="0" rIns="0" bIns="0" rtlCol="0" anchor="ctr"/>
          <a:lstStyle/>
          <a:p>
            <a:pPr indent="0" marL="0">
              <a:buNone/>
            </a:pPr>
            <a:r>
              <a:rPr lang="en-US" sz="1250" b="1" dirty="0">
                <a:solidFill>
                  <a:srgbClr val="E9E2D0"/>
                </a:solidFill>
                <a:latin typeface="Courier New" pitchFamily="34" charset="0"/>
                <a:ea typeface="Courier New" pitchFamily="34" charset="-122"/>
                <a:cs typeface="Courier New" pitchFamily="34" charset="-120"/>
              </a:rPr>
              <a:t>catalog script</a:t>
            </a:r>
            <a:endParaRPr lang="en-US" sz="1250" dirty="0"/>
          </a:p>
        </p:txBody>
      </p:sp>
      <p:sp>
        <p:nvSpPr>
          <p:cNvPr id="16" name="Text 14"/>
          <p:cNvSpPr/>
          <p:nvPr/>
        </p:nvSpPr>
        <p:spPr>
          <a:xfrm>
            <a:off x="1143000" y="3877056"/>
            <a:ext cx="4114800" cy="256032"/>
          </a:xfrm>
          <a:prstGeom prst="rect">
            <a:avLst/>
          </a:prstGeom>
          <a:noFill/>
          <a:ln/>
        </p:spPr>
        <p:txBody>
          <a:bodyPr wrap="square" lIns="0" tIns="0" rIns="0" bIns="0" rtlCol="0" anchor="ctr"/>
          <a:lstStyle/>
          <a:p>
            <a:pPr indent="0" marL="0">
              <a:buNone/>
            </a:pPr>
            <a:r>
              <a:rPr lang="en-US" sz="1000" dirty="0">
                <a:solidFill>
                  <a:srgbClr val="9A92A8"/>
                </a:solidFill>
                <a:latin typeface="Calibri" pitchFamily="34" charset="0"/>
                <a:ea typeface="Calibri" pitchFamily="34" charset="-122"/>
                <a:cs typeface="Calibri" pitchFamily="34" charset="-120"/>
              </a:rPr>
              <a:t>the TOML-authored script — data, no loops</a:t>
            </a:r>
            <a:endParaRPr lang="en-US" sz="1000" dirty="0"/>
          </a:p>
        </p:txBody>
      </p:sp>
      <p:sp>
        <p:nvSpPr>
          <p:cNvPr id="17" name="Text 15"/>
          <p:cNvSpPr/>
          <p:nvPr/>
        </p:nvSpPr>
        <p:spPr>
          <a:xfrm>
            <a:off x="731520" y="4434840"/>
            <a:ext cx="4846320" cy="457200"/>
          </a:xfrm>
          <a:prstGeom prst="rect">
            <a:avLst/>
          </a:prstGeom>
          <a:noFill/>
          <a:ln/>
        </p:spPr>
        <p:txBody>
          <a:bodyPr wrap="square" lIns="0" tIns="0" rIns="0" bIns="0" rtlCol="0" anchor="ctr"/>
          <a:lstStyle/>
          <a:p>
            <a:pPr algn="ctr" indent="0" marL="0">
              <a:buNone/>
            </a:pPr>
            <a:r>
              <a:rPr lang="en-US" sz="1100" i="1" dirty="0">
                <a:solidFill>
                  <a:srgbClr val="D06060"/>
                </a:solidFill>
                <a:latin typeface="Calibri" pitchFamily="34" charset="0"/>
                <a:ea typeface="Calibri" pitchFamily="34" charset="-122"/>
                <a:cs typeface="Calibri" pitchFamily="34" charset="-120"/>
              </a:rPr>
              <a:t>unknown key → ProceduralViolation at load, not at hour three</a:t>
            </a:r>
            <a:endParaRPr lang="en-US" sz="1100" dirty="0"/>
          </a:p>
        </p:txBody>
      </p:sp>
      <p:sp>
        <p:nvSpPr>
          <p:cNvPr id="18" name="Shape 16"/>
          <p:cNvSpPr/>
          <p:nvPr/>
        </p:nvSpPr>
        <p:spPr>
          <a:xfrm>
            <a:off x="5989320" y="1554480"/>
            <a:ext cx="5650992" cy="2834640"/>
          </a:xfrm>
          <a:prstGeom prst="roundRect">
            <a:avLst>
              <a:gd name="adj" fmla="val 2258"/>
            </a:avLst>
          </a:prstGeom>
          <a:solidFill>
            <a:srgbClr val="221C31"/>
          </a:solidFill>
          <a:ln w="9525">
            <a:solidFill>
              <a:srgbClr val="3A3152"/>
            </a:solidFill>
            <a:prstDash val="solid"/>
          </a:ln>
        </p:spPr>
      </p:sp>
      <p:sp>
        <p:nvSpPr>
          <p:cNvPr id="19" name="Text 17"/>
          <p:cNvSpPr/>
          <p:nvPr/>
        </p:nvSpPr>
        <p:spPr>
          <a:xfrm>
            <a:off x="5989320" y="1700784"/>
            <a:ext cx="5650992" cy="274320"/>
          </a:xfrm>
          <a:prstGeom prst="rect">
            <a:avLst/>
          </a:prstGeom>
          <a:noFill/>
          <a:ln/>
        </p:spPr>
        <p:txBody>
          <a:bodyPr wrap="square" lIns="0" tIns="0" rIns="0" bIns="0" rtlCol="0" anchor="ctr"/>
          <a:lstStyle/>
          <a:p>
            <a:pPr algn="ctr" indent="0" marL="0">
              <a:buNone/>
            </a:pPr>
            <a:r>
              <a:rPr lang="en-US" sz="1200" b="1" spc="200" kern="0" dirty="0">
                <a:solidFill>
                  <a:srgbClr val="C9A227"/>
                </a:solidFill>
                <a:latin typeface="Calibri" pitchFamily="34" charset="0"/>
                <a:ea typeface="Calibri" pitchFamily="34" charset="-122"/>
                <a:cs typeface="Calibri" pitchFamily="34" charset="-120"/>
              </a:rPr>
              <a:t>THE CLOSED EFFECT UNION</a:t>
            </a:r>
            <a:endParaRPr lang="en-US" sz="1200" dirty="0"/>
          </a:p>
        </p:txBody>
      </p:sp>
      <p:sp>
        <p:nvSpPr>
          <p:cNvPr id="20" name="Shape 18"/>
          <p:cNvSpPr/>
          <p:nvPr/>
        </p:nvSpPr>
        <p:spPr>
          <a:xfrm>
            <a:off x="6355080" y="2103120"/>
            <a:ext cx="704088" cy="347472"/>
          </a:xfrm>
          <a:prstGeom prst="roundRect">
            <a:avLst>
              <a:gd name="adj" fmla="val 31579"/>
            </a:avLst>
          </a:prstGeom>
          <a:solidFill>
            <a:srgbClr val="2B2342"/>
          </a:solidFill>
          <a:ln w="6350">
            <a:solidFill>
              <a:srgbClr val="3A3152"/>
            </a:solidFill>
            <a:prstDash val="solid"/>
          </a:ln>
        </p:spPr>
      </p:sp>
      <p:sp>
        <p:nvSpPr>
          <p:cNvPr id="21" name="Text 19"/>
          <p:cNvSpPr/>
          <p:nvPr/>
        </p:nvSpPr>
        <p:spPr>
          <a:xfrm>
            <a:off x="6355080" y="2103120"/>
            <a:ext cx="704088"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damage</a:t>
            </a:r>
            <a:endParaRPr lang="en-US" sz="1000" dirty="0"/>
          </a:p>
        </p:txBody>
      </p:sp>
      <p:sp>
        <p:nvSpPr>
          <p:cNvPr id="22" name="Shape 20"/>
          <p:cNvSpPr/>
          <p:nvPr/>
        </p:nvSpPr>
        <p:spPr>
          <a:xfrm>
            <a:off x="7196328" y="2103120"/>
            <a:ext cx="548640" cy="347472"/>
          </a:xfrm>
          <a:prstGeom prst="roundRect">
            <a:avLst>
              <a:gd name="adj" fmla="val 31579"/>
            </a:avLst>
          </a:prstGeom>
          <a:solidFill>
            <a:srgbClr val="2B2342"/>
          </a:solidFill>
          <a:ln w="6350">
            <a:solidFill>
              <a:srgbClr val="3A3152"/>
            </a:solidFill>
            <a:prstDash val="solid"/>
          </a:ln>
        </p:spPr>
      </p:sp>
      <p:sp>
        <p:nvSpPr>
          <p:cNvPr id="23" name="Text 21"/>
          <p:cNvSpPr/>
          <p:nvPr/>
        </p:nvSpPr>
        <p:spPr>
          <a:xfrm>
            <a:off x="7196328" y="2103120"/>
            <a:ext cx="548640"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heal</a:t>
            </a:r>
            <a:endParaRPr lang="en-US" sz="1000" dirty="0"/>
          </a:p>
        </p:txBody>
      </p:sp>
      <p:sp>
        <p:nvSpPr>
          <p:cNvPr id="24" name="Shape 22"/>
          <p:cNvSpPr/>
          <p:nvPr/>
        </p:nvSpPr>
        <p:spPr>
          <a:xfrm>
            <a:off x="7882128" y="2103120"/>
            <a:ext cx="1014984" cy="347472"/>
          </a:xfrm>
          <a:prstGeom prst="roundRect">
            <a:avLst>
              <a:gd name="adj" fmla="val 31579"/>
            </a:avLst>
          </a:prstGeom>
          <a:solidFill>
            <a:srgbClr val="2B2342"/>
          </a:solidFill>
          <a:ln w="6350">
            <a:solidFill>
              <a:srgbClr val="3A3152"/>
            </a:solidFill>
            <a:prstDash val="solid"/>
          </a:ln>
        </p:spPr>
      </p:sp>
      <p:sp>
        <p:nvSpPr>
          <p:cNvPr id="25" name="Text 23"/>
          <p:cNvSpPr/>
          <p:nvPr/>
        </p:nvSpPr>
        <p:spPr>
          <a:xfrm>
            <a:off x="7882128" y="2103120"/>
            <a:ext cx="1014984"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adjustStat</a:t>
            </a:r>
            <a:endParaRPr lang="en-US" sz="1000" dirty="0"/>
          </a:p>
        </p:txBody>
      </p:sp>
      <p:sp>
        <p:nvSpPr>
          <p:cNvPr id="26" name="Shape 24"/>
          <p:cNvSpPr/>
          <p:nvPr/>
        </p:nvSpPr>
        <p:spPr>
          <a:xfrm>
            <a:off x="9034272" y="2103120"/>
            <a:ext cx="1248156" cy="347472"/>
          </a:xfrm>
          <a:prstGeom prst="roundRect">
            <a:avLst>
              <a:gd name="adj" fmla="val 31579"/>
            </a:avLst>
          </a:prstGeom>
          <a:solidFill>
            <a:srgbClr val="2B2342"/>
          </a:solidFill>
          <a:ln w="6350">
            <a:solidFill>
              <a:srgbClr val="3A3152"/>
            </a:solidFill>
            <a:prstDash val="solid"/>
          </a:ln>
        </p:spPr>
      </p:sp>
      <p:sp>
        <p:nvSpPr>
          <p:cNvPr id="27" name="Text 25"/>
          <p:cNvSpPr/>
          <p:nvPr/>
        </p:nvSpPr>
        <p:spPr>
          <a:xfrm>
            <a:off x="9034272" y="2103120"/>
            <a:ext cx="1248156"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grantImmunity</a:t>
            </a:r>
            <a:endParaRPr lang="en-US" sz="1000" dirty="0"/>
          </a:p>
        </p:txBody>
      </p:sp>
      <p:sp>
        <p:nvSpPr>
          <p:cNvPr id="28" name="Shape 26"/>
          <p:cNvSpPr/>
          <p:nvPr/>
        </p:nvSpPr>
        <p:spPr>
          <a:xfrm>
            <a:off x="6355080" y="2542032"/>
            <a:ext cx="470916" cy="347472"/>
          </a:xfrm>
          <a:prstGeom prst="roundRect">
            <a:avLst>
              <a:gd name="adj" fmla="val 31579"/>
            </a:avLst>
          </a:prstGeom>
          <a:solidFill>
            <a:srgbClr val="2B2342"/>
          </a:solidFill>
          <a:ln w="6350">
            <a:solidFill>
              <a:srgbClr val="3A3152"/>
            </a:solidFill>
            <a:prstDash val="solid"/>
          </a:ln>
        </p:spPr>
      </p:sp>
      <p:sp>
        <p:nvSpPr>
          <p:cNvPr id="29" name="Text 27"/>
          <p:cNvSpPr/>
          <p:nvPr/>
        </p:nvSpPr>
        <p:spPr>
          <a:xfrm>
            <a:off x="6355080" y="2542032"/>
            <a:ext cx="470916"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cue</a:t>
            </a:r>
            <a:endParaRPr lang="en-US" sz="1000" dirty="0"/>
          </a:p>
        </p:txBody>
      </p:sp>
      <p:sp>
        <p:nvSpPr>
          <p:cNvPr id="30" name="Shape 28"/>
          <p:cNvSpPr/>
          <p:nvPr/>
        </p:nvSpPr>
        <p:spPr>
          <a:xfrm>
            <a:off x="6963156" y="2542032"/>
            <a:ext cx="704088" cy="347472"/>
          </a:xfrm>
          <a:prstGeom prst="roundRect">
            <a:avLst>
              <a:gd name="adj" fmla="val 31579"/>
            </a:avLst>
          </a:prstGeom>
          <a:solidFill>
            <a:srgbClr val="2B2342"/>
          </a:solidFill>
          <a:ln w="6350">
            <a:solidFill>
              <a:srgbClr val="3A3152"/>
            </a:solidFill>
            <a:prstDash val="solid"/>
          </a:ln>
        </p:spPr>
      </p:sp>
      <p:sp>
        <p:nvSpPr>
          <p:cNvPr id="31" name="Text 29"/>
          <p:cNvSpPr/>
          <p:nvPr/>
        </p:nvSpPr>
        <p:spPr>
          <a:xfrm>
            <a:off x="6963156" y="2542032"/>
            <a:ext cx="704088"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status</a:t>
            </a:r>
            <a:endParaRPr lang="en-US" sz="1000" dirty="0"/>
          </a:p>
        </p:txBody>
      </p:sp>
      <p:sp>
        <p:nvSpPr>
          <p:cNvPr id="32" name="Shape 30"/>
          <p:cNvSpPr/>
          <p:nvPr/>
        </p:nvSpPr>
        <p:spPr>
          <a:xfrm>
            <a:off x="7804404" y="2542032"/>
            <a:ext cx="859536" cy="347472"/>
          </a:xfrm>
          <a:prstGeom prst="roundRect">
            <a:avLst>
              <a:gd name="adj" fmla="val 31579"/>
            </a:avLst>
          </a:prstGeom>
          <a:solidFill>
            <a:srgbClr val="2B2342"/>
          </a:solidFill>
          <a:ln w="6350">
            <a:solidFill>
              <a:srgbClr val="3A3152"/>
            </a:solidFill>
            <a:prstDash val="solid"/>
          </a:ln>
        </p:spPr>
      </p:sp>
      <p:sp>
        <p:nvSpPr>
          <p:cNvPr id="33" name="Text 31"/>
          <p:cNvSpPr/>
          <p:nvPr/>
        </p:nvSpPr>
        <p:spPr>
          <a:xfrm>
            <a:off x="7804404" y="2542032"/>
            <a:ext cx="859536"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giveItem</a:t>
            </a:r>
            <a:endParaRPr lang="en-US" sz="1000" dirty="0"/>
          </a:p>
        </p:txBody>
      </p:sp>
      <p:sp>
        <p:nvSpPr>
          <p:cNvPr id="34" name="Shape 32"/>
          <p:cNvSpPr/>
          <p:nvPr/>
        </p:nvSpPr>
        <p:spPr>
          <a:xfrm>
            <a:off x="8801100" y="2542032"/>
            <a:ext cx="1014984" cy="347472"/>
          </a:xfrm>
          <a:prstGeom prst="roundRect">
            <a:avLst>
              <a:gd name="adj" fmla="val 31579"/>
            </a:avLst>
          </a:prstGeom>
          <a:solidFill>
            <a:srgbClr val="2B2342"/>
          </a:solidFill>
          <a:ln w="6350">
            <a:solidFill>
              <a:srgbClr val="3A3152"/>
            </a:solidFill>
            <a:prstDash val="solid"/>
          </a:ln>
        </p:spPr>
      </p:sp>
      <p:sp>
        <p:nvSpPr>
          <p:cNvPr id="35" name="Text 33"/>
          <p:cNvSpPr/>
          <p:nvPr/>
        </p:nvSpPr>
        <p:spPr>
          <a:xfrm>
            <a:off x="8801100" y="2542032"/>
            <a:ext cx="1014984" cy="347472"/>
          </a:xfrm>
          <a:prstGeom prst="rect">
            <a:avLst/>
          </a:prstGeom>
          <a:noFill/>
          <a:ln/>
        </p:spPr>
        <p:txBody>
          <a:bodyPr wrap="square" lIns="0" tIns="0" rIns="0" bIns="0" rtlCol="0" anchor="ctr"/>
          <a:lstStyle/>
          <a:p>
            <a:pPr algn="ctr" indent="0" marL="0">
              <a:buNone/>
            </a:pPr>
            <a:r>
              <a:rPr lang="en-US" sz="1000" dirty="0">
                <a:solidFill>
                  <a:srgbClr val="E9E2D0"/>
                </a:solidFill>
                <a:latin typeface="Courier New" pitchFamily="34" charset="0"/>
                <a:ea typeface="Courier New" pitchFamily="34" charset="-122"/>
                <a:cs typeface="Courier New" pitchFamily="34" charset="-120"/>
              </a:rPr>
              <a:t>setVisible</a:t>
            </a:r>
            <a:endParaRPr lang="en-US" sz="1000" dirty="0"/>
          </a:p>
        </p:txBody>
      </p:sp>
      <p:sp>
        <p:nvSpPr>
          <p:cNvPr id="36" name="Text 34"/>
          <p:cNvSpPr/>
          <p:nvPr/>
        </p:nvSpPr>
        <p:spPr>
          <a:xfrm>
            <a:off x="6355080" y="3017520"/>
            <a:ext cx="5029200" cy="1280160"/>
          </a:xfrm>
          <a:prstGeom prst="rect">
            <a:avLst/>
          </a:prstGeom>
          <a:noFill/>
          <a:ln/>
        </p:spPr>
        <p:txBody>
          <a:bodyPr wrap="square" lIns="0" tIns="0" rIns="0" bIns="0" rtlCol="0" anchor="t"/>
          <a:lstStyle/>
          <a:p>
            <a:pPr indent="0" marL="0">
              <a:buNone/>
            </a:pPr>
            <a:r>
              <a:rPr lang="en-US" sz="1150" b="1" dirty="0">
                <a:solidFill>
                  <a:srgbClr val="E9E2D0"/>
                </a:solidFill>
                <a:latin typeface="Calibri" pitchFamily="34" charset="0"/>
                <a:ea typeface="Calibri" pitchFamily="34" charset="-122"/>
                <a:cs typeface="Calibri" pitchFamily="34" charset="-120"/>
              </a:rPr>
              <a:t>A · Integrity — </a:t>
            </a:r>
            <a:pPr indent="0" marL="0">
              <a:spcAft>
                <a:spcPts val="500"/>
              </a:spcAft>
              <a:buNone/>
            </a:pPr>
            <a:r>
              <a:rPr lang="en-US" sz="1150" dirty="0">
                <a:solidFill>
                  <a:srgbClr val="9A92A8"/>
                </a:solidFill>
                <a:latin typeface="Calibri" pitchFamily="34" charset="0"/>
                <a:ea typeface="Calibri" pitchFamily="34" charset="-122"/>
                <a:cs typeface="Calibri" pitchFamily="34" charset="-120"/>
              </a:rPr>
              <a:t>the engine applies each effect itself, clamped; no raw setters.</a:t>
            </a:r>
            <a:endParaRPr lang="en-US" sz="1150" dirty="0"/>
          </a:p>
          <a:p>
            <a:pPr indent="0" marL="0">
              <a:buNone/>
            </a:pPr>
            <a:r>
              <a:rPr lang="en-US" sz="1150" b="1" dirty="0">
                <a:solidFill>
                  <a:srgbClr val="E9E2D0"/>
                </a:solidFill>
                <a:latin typeface="Calibri" pitchFamily="34" charset="0"/>
                <a:ea typeface="Calibri" pitchFamily="34" charset="-122"/>
                <a:cs typeface="Calibri" pitchFamily="34" charset="-120"/>
              </a:rPr>
              <a:t>B · Determinism — </a:t>
            </a:r>
            <a:pPr indent="0" marL="0">
              <a:spcAft>
                <a:spcPts val="500"/>
              </a:spcAft>
              <a:buNone/>
            </a:pPr>
            <a:r>
              <a:rPr lang="en-US" sz="1150" dirty="0">
                <a:solidFill>
                  <a:srgbClr val="9A92A8"/>
                </a:solidFill>
                <a:latin typeface="Calibri" pitchFamily="34" charset="0"/>
                <a:ea typeface="Calibri" pitchFamily="34" charset="-122"/>
                <a:cs typeface="Calibri" pitchFamily="34" charset="-120"/>
              </a:rPr>
              <a:t>read-only view projection; rng injected.</a:t>
            </a:r>
            <a:endParaRPr lang="en-US" sz="1150" dirty="0"/>
          </a:p>
          <a:p>
            <a:pPr indent="0" marL="0">
              <a:buNone/>
            </a:pPr>
            <a:r>
              <a:rPr lang="en-US" sz="1150" b="1" dirty="0">
                <a:solidFill>
                  <a:srgbClr val="E9E2D0"/>
                </a:solidFill>
                <a:latin typeface="Calibri" pitchFamily="34" charset="0"/>
                <a:ea typeface="Calibri" pitchFamily="34" charset="-122"/>
                <a:cs typeface="Calibri" pitchFamily="34" charset="-120"/>
              </a:rPr>
              <a:t>D · Termination — </a:t>
            </a:r>
            <a:pPr indent="0" marL="0">
              <a:spcAft>
                <a:spcPts val="500"/>
              </a:spcAft>
              <a:buNone/>
            </a:pPr>
            <a:r>
              <a:rPr lang="en-US" sz="1150" dirty="0">
                <a:solidFill>
                  <a:srgbClr val="9A92A8"/>
                </a:solidFill>
                <a:latin typeface="Calibri" pitchFamily="34" charset="0"/>
                <a:ea typeface="Calibri" pitchFamily="34" charset="-122"/>
                <a:cs typeface="Calibri" pitchFamily="34" charset="-120"/>
              </a:rPr>
              <a:t>collect-then-apply; 64-effect cap; no re-entrancy.</a:t>
            </a:r>
            <a:endParaRPr lang="en-US" sz="1150" dirty="0"/>
          </a:p>
          <a:p>
            <a:pPr indent="0" marL="0">
              <a:buNone/>
            </a:pPr>
            <a:r>
              <a:rPr lang="en-US" sz="1150" b="1" dirty="0">
                <a:solidFill>
                  <a:srgbClr val="E9E2D0"/>
                </a:solidFill>
                <a:latin typeface="Calibri" pitchFamily="34" charset="0"/>
                <a:ea typeface="Calibri" pitchFamily="34" charset="-122"/>
                <a:cs typeface="Calibri" pitchFamily="34" charset="-120"/>
              </a:rPr>
              <a:t>C · Balance — </a:t>
            </a:r>
            <a:pPr indent="0" marL="0">
              <a:buNone/>
            </a:pPr>
            <a:r>
              <a:rPr lang="en-US" sz="1150" dirty="0">
                <a:solidFill>
                  <a:srgbClr val="9A92A8"/>
                </a:solidFill>
                <a:latin typeface="Calibri" pitchFamily="34" charset="0"/>
                <a:ea typeface="Calibri" pitchFamily="34" charset="-122"/>
                <a:cs typeface="Calibri" pitchFamily="34" charset="-120"/>
              </a:rPr>
              <a:t>advisory. Three walls, one sign.</a:t>
            </a:r>
            <a:endParaRPr lang="en-US" sz="1150" dirty="0"/>
          </a:p>
        </p:txBody>
      </p:sp>
      <p:sp>
        <p:nvSpPr>
          <p:cNvPr id="37" name="Shape 35"/>
          <p:cNvSpPr/>
          <p:nvPr/>
        </p:nvSpPr>
        <p:spPr>
          <a:xfrm>
            <a:off x="658368" y="4754880"/>
            <a:ext cx="1014984" cy="402336"/>
          </a:xfrm>
          <a:prstGeom prst="roundRect">
            <a:avLst>
              <a:gd name="adj" fmla="val 27273"/>
            </a:avLst>
          </a:prstGeom>
          <a:solidFill>
            <a:srgbClr val="2B2342"/>
          </a:solidFill>
          <a:ln w="6350">
            <a:solidFill>
              <a:srgbClr val="3A3152"/>
            </a:solidFill>
            <a:prstDash val="solid"/>
          </a:ln>
        </p:spPr>
      </p:sp>
      <p:sp>
        <p:nvSpPr>
          <p:cNvPr id="38" name="Text 36"/>
          <p:cNvSpPr/>
          <p:nvPr/>
        </p:nvSpPr>
        <p:spPr>
          <a:xfrm>
            <a:off x="658368" y="4754880"/>
            <a:ext cx="1014984"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MechanicOp</a:t>
            </a:r>
            <a:endParaRPr lang="en-US" sz="1100" dirty="0"/>
          </a:p>
        </p:txBody>
      </p:sp>
      <p:sp>
        <p:nvSpPr>
          <p:cNvPr id="39" name="Shape 37"/>
          <p:cNvSpPr/>
          <p:nvPr/>
        </p:nvSpPr>
        <p:spPr>
          <a:xfrm>
            <a:off x="1837944" y="4754880"/>
            <a:ext cx="1170432" cy="402336"/>
          </a:xfrm>
          <a:prstGeom prst="roundRect">
            <a:avLst>
              <a:gd name="adj" fmla="val 27273"/>
            </a:avLst>
          </a:prstGeom>
          <a:solidFill>
            <a:srgbClr val="2B2342"/>
          </a:solidFill>
          <a:ln w="6350">
            <a:solidFill>
              <a:srgbClr val="3A3152"/>
            </a:solidFill>
            <a:prstDash val="solid"/>
          </a:ln>
        </p:spPr>
      </p:sp>
      <p:sp>
        <p:nvSpPr>
          <p:cNvPr id="40" name="Text 38"/>
          <p:cNvSpPr/>
          <p:nvPr/>
        </p:nvSpPr>
        <p:spPr>
          <a:xfrm>
            <a:off x="1837944" y="4754880"/>
            <a:ext cx="1170432"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ExitBehavior</a:t>
            </a:r>
            <a:endParaRPr lang="en-US" sz="1100" dirty="0"/>
          </a:p>
        </p:txBody>
      </p:sp>
      <p:sp>
        <p:nvSpPr>
          <p:cNvPr id="41" name="Shape 39"/>
          <p:cNvSpPr/>
          <p:nvPr/>
        </p:nvSpPr>
        <p:spPr>
          <a:xfrm>
            <a:off x="3172968" y="4754880"/>
            <a:ext cx="1248156" cy="402336"/>
          </a:xfrm>
          <a:prstGeom prst="roundRect">
            <a:avLst>
              <a:gd name="adj" fmla="val 27273"/>
            </a:avLst>
          </a:prstGeom>
          <a:solidFill>
            <a:srgbClr val="2B2342"/>
          </a:solidFill>
          <a:ln w="6350">
            <a:solidFill>
              <a:srgbClr val="3A3152"/>
            </a:solidFill>
            <a:prstDash val="solid"/>
          </a:ln>
        </p:spPr>
      </p:sp>
      <p:sp>
        <p:nvSpPr>
          <p:cNvPr id="42" name="Text 40"/>
          <p:cNvSpPr/>
          <p:nvPr/>
        </p:nvSpPr>
        <p:spPr>
          <a:xfrm>
            <a:off x="3172968" y="4754880"/>
            <a:ext cx="1248156"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SceneBehavior</a:t>
            </a:r>
            <a:endParaRPr lang="en-US" sz="1100" dirty="0"/>
          </a:p>
        </p:txBody>
      </p:sp>
      <p:sp>
        <p:nvSpPr>
          <p:cNvPr id="43" name="Shape 41"/>
          <p:cNvSpPr/>
          <p:nvPr/>
        </p:nvSpPr>
        <p:spPr>
          <a:xfrm>
            <a:off x="4585716" y="4754880"/>
            <a:ext cx="1481328" cy="402336"/>
          </a:xfrm>
          <a:prstGeom prst="roundRect">
            <a:avLst>
              <a:gd name="adj" fmla="val 27273"/>
            </a:avLst>
          </a:prstGeom>
          <a:solidFill>
            <a:srgbClr val="2B2342"/>
          </a:solidFill>
          <a:ln w="6350">
            <a:solidFill>
              <a:srgbClr val="3A3152"/>
            </a:solidFill>
            <a:prstDash val="solid"/>
          </a:ln>
        </p:spPr>
      </p:sp>
      <p:sp>
        <p:nvSpPr>
          <p:cNvPr id="44" name="Text 42"/>
          <p:cNvSpPr/>
          <p:nvPr/>
        </p:nvSpPr>
        <p:spPr>
          <a:xfrm>
            <a:off x="4585716" y="4754880"/>
            <a:ext cx="1481328"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VictoryCondition</a:t>
            </a:r>
            <a:endParaRPr lang="en-US" sz="1100" dirty="0"/>
          </a:p>
        </p:txBody>
      </p:sp>
      <p:sp>
        <p:nvSpPr>
          <p:cNvPr id="45" name="Shape 43"/>
          <p:cNvSpPr/>
          <p:nvPr/>
        </p:nvSpPr>
        <p:spPr>
          <a:xfrm>
            <a:off x="6231636" y="4754880"/>
            <a:ext cx="1170432" cy="402336"/>
          </a:xfrm>
          <a:prstGeom prst="roundRect">
            <a:avLst>
              <a:gd name="adj" fmla="val 27273"/>
            </a:avLst>
          </a:prstGeom>
          <a:solidFill>
            <a:srgbClr val="2B2342"/>
          </a:solidFill>
          <a:ln w="6350">
            <a:solidFill>
              <a:srgbClr val="3A3152"/>
            </a:solidFill>
            <a:prstDash val="solid"/>
          </a:ln>
        </p:spPr>
      </p:sp>
      <p:sp>
        <p:nvSpPr>
          <p:cNvPr id="46" name="Text 44"/>
          <p:cNvSpPr/>
          <p:nvPr/>
        </p:nvSpPr>
        <p:spPr>
          <a:xfrm>
            <a:off x="6231636" y="4754880"/>
            <a:ext cx="1170432"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ItemBehavior</a:t>
            </a:r>
            <a:endParaRPr lang="en-US" sz="1100" dirty="0"/>
          </a:p>
        </p:txBody>
      </p:sp>
      <p:sp>
        <p:nvSpPr>
          <p:cNvPr id="47" name="Shape 45"/>
          <p:cNvSpPr/>
          <p:nvPr/>
        </p:nvSpPr>
        <p:spPr>
          <a:xfrm>
            <a:off x="7566660" y="4754880"/>
            <a:ext cx="1559052" cy="402336"/>
          </a:xfrm>
          <a:prstGeom prst="roundRect">
            <a:avLst>
              <a:gd name="adj" fmla="val 27273"/>
            </a:avLst>
          </a:prstGeom>
          <a:solidFill>
            <a:srgbClr val="2B2342"/>
          </a:solidFill>
          <a:ln w="6350">
            <a:solidFill>
              <a:srgbClr val="3A3152"/>
            </a:solidFill>
            <a:prstDash val="solid"/>
          </a:ln>
        </p:spPr>
      </p:sp>
      <p:sp>
        <p:nvSpPr>
          <p:cNvPr id="48" name="Text 46"/>
          <p:cNvSpPr/>
          <p:nvPr/>
        </p:nvSpPr>
        <p:spPr>
          <a:xfrm>
            <a:off x="7566660" y="4754880"/>
            <a:ext cx="1559052" cy="402336"/>
          </a:xfrm>
          <a:prstGeom prst="rect">
            <a:avLst/>
          </a:prstGeom>
          <a:noFill/>
          <a:ln/>
        </p:spPr>
        <p:txBody>
          <a:bodyPr wrap="square" lIns="0" tIns="0" rIns="0" bIns="0" rtlCol="0" anchor="ctr"/>
          <a:lstStyle/>
          <a:p>
            <a:pPr algn="ctr" indent="0" marL="0">
              <a:buNone/>
            </a:pPr>
            <a:r>
              <a:rPr lang="en-US" sz="1100" dirty="0">
                <a:solidFill>
                  <a:srgbClr val="E9E2D0"/>
                </a:solidFill>
                <a:latin typeface="Courier New" pitchFamily="34" charset="0"/>
                <a:ea typeface="Courier New" pitchFamily="34" charset="-122"/>
                <a:cs typeface="Courier New" pitchFamily="34" charset="-120"/>
              </a:rPr>
              <a:t>FormationBehavior</a:t>
            </a:r>
            <a:endParaRPr lang="en-US" sz="1100" dirty="0"/>
          </a:p>
        </p:txBody>
      </p:sp>
      <p:sp>
        <p:nvSpPr>
          <p:cNvPr id="49" name="Text 47"/>
          <p:cNvSpPr/>
          <p:nvPr/>
        </p:nvSpPr>
        <p:spPr>
          <a:xfrm>
            <a:off x="822960" y="5349240"/>
            <a:ext cx="10543032" cy="685800"/>
          </a:xfrm>
          <a:prstGeom prst="rect">
            <a:avLst/>
          </a:prstGeom>
          <a:noFill/>
          <a:ln/>
        </p:spPr>
        <p:txBody>
          <a:bodyPr wrap="square" lIns="0" tIns="0" rIns="0" bIns="0" rtlCol="0" anchor="ctr"/>
          <a:lstStyle/>
          <a:p>
            <a:pPr algn="ctr" indent="0" marL="0">
              <a:buNone/>
            </a:pPr>
            <a:r>
              <a:rPr lang="en-US" sz="1300" i="1" dirty="0">
                <a:solidFill>
                  <a:srgbClr val="E9E2D0"/>
                </a:solidFill>
                <a:latin typeface="Calibri" pitchFamily="34" charset="0"/>
                <a:ea typeface="Calibri" pitchFamily="34" charset="-122"/>
                <a:cs typeface="Calibri" pitchFamily="34" charset="-120"/>
              </a:rPr>
              <a:t>Six families, one pattern — a doom clock, a keyed door, a dialogue hand-off, and a damage cap are all data riding the same rails. Serialization stores { key, state }; behavior re-binds on load.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4 — SYNC</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One authority, every topology</a:t>
            </a:r>
            <a:endParaRPr lang="en-US" sz="3000" dirty="0"/>
          </a:p>
        </p:txBody>
      </p:sp>
      <p:sp>
        <p:nvSpPr>
          <p:cNvPr id="4" name="Shape 2"/>
          <p:cNvSpPr/>
          <p:nvPr/>
        </p:nvSpPr>
        <p:spPr>
          <a:xfrm>
            <a:off x="548640" y="1600200"/>
            <a:ext cx="1852574" cy="868680"/>
          </a:xfrm>
          <a:prstGeom prst="roundRect">
            <a:avLst>
              <a:gd name="adj" fmla="val 7368"/>
            </a:avLst>
          </a:prstGeom>
          <a:solidFill>
            <a:srgbClr val="2B2342"/>
          </a:solidFill>
          <a:ln w="9525">
            <a:solidFill>
              <a:srgbClr val="3A3152"/>
            </a:solidFill>
            <a:prstDash val="solid"/>
          </a:ln>
        </p:spPr>
      </p:sp>
      <p:sp>
        <p:nvSpPr>
          <p:cNvPr id="5" name="Text 3"/>
          <p:cNvSpPr/>
          <p:nvPr/>
        </p:nvSpPr>
        <p:spPr>
          <a:xfrm>
            <a:off x="621792" y="1600200"/>
            <a:ext cx="1706270" cy="868680"/>
          </a:xfrm>
          <a:prstGeom prst="rect">
            <a:avLst/>
          </a:prstGeom>
          <a:noFill/>
          <a:ln/>
        </p:spPr>
        <p:txBody>
          <a:bodyPr wrap="square" lIns="0" tIns="0" rIns="0" bIns="0" rtlCol="0" anchor="ctr"/>
          <a:lstStyle/>
          <a:p>
            <a:pPr algn="ctr" indent="0" marL="0">
              <a:buNone/>
            </a:pPr>
            <a:r>
              <a:rPr lang="en-US" sz="1300" b="1" dirty="0">
                <a:solidFill>
                  <a:srgbClr val="E9E2D0"/>
                </a:solidFill>
                <a:latin typeface="Courier New" pitchFamily="34" charset="0"/>
                <a:ea typeface="Courier New" pitchFamily="34" charset="-122"/>
                <a:cs typeface="Courier New" pitchFamily="34" charset="-120"/>
              </a:rPr>
              <a:t>submit</a:t>
            </a:r>
            <a:endParaRPr lang="en-US" sz="1300" dirty="0"/>
          </a:p>
        </p:txBody>
      </p:sp>
      <p:sp>
        <p:nvSpPr>
          <p:cNvPr id="6" name="Shape 4"/>
          <p:cNvSpPr/>
          <p:nvPr/>
        </p:nvSpPr>
        <p:spPr>
          <a:xfrm>
            <a:off x="2474366" y="2034540"/>
            <a:ext cx="310896" cy="0"/>
          </a:xfrm>
          <a:prstGeom prst="line">
            <a:avLst/>
          </a:prstGeom>
          <a:noFill/>
          <a:ln w="25400">
            <a:solidFill>
              <a:srgbClr val="C9A227"/>
            </a:solidFill>
            <a:prstDash val="solid"/>
            <a:tailEnd type="triangle"/>
          </a:ln>
        </p:spPr>
      </p:sp>
      <p:sp>
        <p:nvSpPr>
          <p:cNvPr id="7" name="Shape 5"/>
          <p:cNvSpPr/>
          <p:nvPr/>
        </p:nvSpPr>
        <p:spPr>
          <a:xfrm>
            <a:off x="2858414" y="1600200"/>
            <a:ext cx="1852574" cy="868680"/>
          </a:xfrm>
          <a:prstGeom prst="roundRect">
            <a:avLst>
              <a:gd name="adj" fmla="val 7368"/>
            </a:avLst>
          </a:prstGeom>
          <a:solidFill>
            <a:srgbClr val="2B2342"/>
          </a:solidFill>
          <a:ln w="9525">
            <a:solidFill>
              <a:srgbClr val="3A3152"/>
            </a:solidFill>
            <a:prstDash val="solid"/>
          </a:ln>
        </p:spPr>
      </p:sp>
      <p:sp>
        <p:nvSpPr>
          <p:cNvPr id="8" name="Text 6"/>
          <p:cNvSpPr/>
          <p:nvPr/>
        </p:nvSpPr>
        <p:spPr>
          <a:xfrm>
            <a:off x="2931566" y="1600200"/>
            <a:ext cx="1706270" cy="868680"/>
          </a:xfrm>
          <a:prstGeom prst="rect">
            <a:avLst/>
          </a:prstGeom>
          <a:noFill/>
          <a:ln/>
        </p:spPr>
        <p:txBody>
          <a:bodyPr wrap="square" lIns="0" tIns="0" rIns="0" bIns="0" rtlCol="0" anchor="ctr"/>
          <a:lstStyle/>
          <a:p>
            <a:pPr algn="ctr" indent="0" marL="0">
              <a:buNone/>
            </a:pPr>
            <a:r>
              <a:rPr lang="en-US" sz="1300" b="1" dirty="0">
                <a:solidFill>
                  <a:srgbClr val="E9E2D0"/>
                </a:solidFill>
                <a:latin typeface="Courier New" pitchFamily="34" charset="0"/>
                <a:ea typeface="Courier New" pitchFamily="34" charset="-122"/>
                <a:cs typeface="Courier New" pitchFamily="34" charset="-120"/>
              </a:rPr>
              <a:t>authorize</a:t>
            </a:r>
            <a:endParaRPr lang="en-US" sz="1300" dirty="0"/>
          </a:p>
        </p:txBody>
      </p:sp>
      <p:sp>
        <p:nvSpPr>
          <p:cNvPr id="9" name="Shape 7"/>
          <p:cNvSpPr/>
          <p:nvPr/>
        </p:nvSpPr>
        <p:spPr>
          <a:xfrm>
            <a:off x="4784141" y="2034540"/>
            <a:ext cx="310896" cy="0"/>
          </a:xfrm>
          <a:prstGeom prst="line">
            <a:avLst/>
          </a:prstGeom>
          <a:noFill/>
          <a:ln w="25400">
            <a:solidFill>
              <a:srgbClr val="C9A227"/>
            </a:solidFill>
            <a:prstDash val="solid"/>
            <a:tailEnd type="triangle"/>
          </a:ln>
        </p:spPr>
      </p:sp>
      <p:sp>
        <p:nvSpPr>
          <p:cNvPr id="10" name="Shape 8"/>
          <p:cNvSpPr/>
          <p:nvPr/>
        </p:nvSpPr>
        <p:spPr>
          <a:xfrm>
            <a:off x="5168189" y="1600200"/>
            <a:ext cx="1852574" cy="868680"/>
          </a:xfrm>
          <a:prstGeom prst="roundRect">
            <a:avLst>
              <a:gd name="adj" fmla="val 7368"/>
            </a:avLst>
          </a:prstGeom>
          <a:solidFill>
            <a:srgbClr val="8E2F2F"/>
          </a:solidFill>
          <a:ln w="9525">
            <a:solidFill>
              <a:srgbClr val="3A3152"/>
            </a:solidFill>
            <a:prstDash val="solid"/>
          </a:ln>
        </p:spPr>
      </p:sp>
      <p:sp>
        <p:nvSpPr>
          <p:cNvPr id="11" name="Text 9"/>
          <p:cNvSpPr/>
          <p:nvPr/>
        </p:nvSpPr>
        <p:spPr>
          <a:xfrm>
            <a:off x="5241341" y="1673352"/>
            <a:ext cx="1706270" cy="477774"/>
          </a:xfrm>
          <a:prstGeom prst="rect">
            <a:avLst/>
          </a:prstGeom>
          <a:noFill/>
          <a:ln/>
        </p:spPr>
        <p:txBody>
          <a:bodyPr wrap="square" lIns="0" tIns="0" rIns="0" bIns="0" rtlCol="0" anchor="ctr"/>
          <a:lstStyle/>
          <a:p>
            <a:pPr algn="ctr" indent="0" marL="0">
              <a:buNone/>
            </a:pPr>
            <a:r>
              <a:rPr lang="en-US" sz="1300" b="1" dirty="0">
                <a:solidFill>
                  <a:srgbClr val="E9E2D0"/>
                </a:solidFill>
                <a:latin typeface="Courier New" pitchFamily="34" charset="0"/>
                <a:ea typeface="Courier New" pitchFamily="34" charset="-122"/>
                <a:cs typeface="Courier New" pitchFamily="34" charset="-120"/>
              </a:rPr>
              <a:t>apply</a:t>
            </a:r>
            <a:endParaRPr lang="en-US" sz="1300" dirty="0"/>
          </a:p>
        </p:txBody>
      </p:sp>
      <p:sp>
        <p:nvSpPr>
          <p:cNvPr id="12" name="Text 10"/>
          <p:cNvSpPr/>
          <p:nvPr/>
        </p:nvSpPr>
        <p:spPr>
          <a:xfrm>
            <a:off x="5241341" y="2051914"/>
            <a:ext cx="1706270" cy="364846"/>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the one engine</a:t>
            </a:r>
            <a:endParaRPr lang="en-US" sz="1000" dirty="0"/>
          </a:p>
        </p:txBody>
      </p:sp>
      <p:sp>
        <p:nvSpPr>
          <p:cNvPr id="13" name="Shape 11"/>
          <p:cNvSpPr/>
          <p:nvPr/>
        </p:nvSpPr>
        <p:spPr>
          <a:xfrm>
            <a:off x="7093915" y="2034540"/>
            <a:ext cx="310896" cy="0"/>
          </a:xfrm>
          <a:prstGeom prst="line">
            <a:avLst/>
          </a:prstGeom>
          <a:noFill/>
          <a:ln w="25400">
            <a:solidFill>
              <a:srgbClr val="C9A227"/>
            </a:solidFill>
            <a:prstDash val="solid"/>
            <a:tailEnd type="triangle"/>
          </a:ln>
        </p:spPr>
      </p:sp>
      <p:sp>
        <p:nvSpPr>
          <p:cNvPr id="14" name="Shape 12"/>
          <p:cNvSpPr/>
          <p:nvPr/>
        </p:nvSpPr>
        <p:spPr>
          <a:xfrm>
            <a:off x="7477963" y="1600200"/>
            <a:ext cx="1852574" cy="868680"/>
          </a:xfrm>
          <a:prstGeom prst="roundRect">
            <a:avLst>
              <a:gd name="adj" fmla="val 7368"/>
            </a:avLst>
          </a:prstGeom>
          <a:solidFill>
            <a:srgbClr val="2B2342"/>
          </a:solidFill>
          <a:ln w="9525">
            <a:solidFill>
              <a:srgbClr val="3A3152"/>
            </a:solidFill>
            <a:prstDash val="solid"/>
          </a:ln>
        </p:spPr>
      </p:sp>
      <p:sp>
        <p:nvSpPr>
          <p:cNvPr id="15" name="Text 13"/>
          <p:cNvSpPr/>
          <p:nvPr/>
        </p:nvSpPr>
        <p:spPr>
          <a:xfrm>
            <a:off x="7551115" y="1600200"/>
            <a:ext cx="1706270" cy="868680"/>
          </a:xfrm>
          <a:prstGeom prst="rect">
            <a:avLst/>
          </a:prstGeom>
          <a:noFill/>
          <a:ln/>
        </p:spPr>
        <p:txBody>
          <a:bodyPr wrap="square" lIns="0" tIns="0" rIns="0" bIns="0" rtlCol="0" anchor="ctr"/>
          <a:lstStyle/>
          <a:p>
            <a:pPr algn="ctr" indent="0" marL="0">
              <a:buNone/>
            </a:pPr>
            <a:r>
              <a:rPr lang="en-US" sz="1300" b="1" dirty="0">
                <a:solidFill>
                  <a:srgbClr val="E9E2D0"/>
                </a:solidFill>
                <a:latin typeface="Courier New" pitchFamily="34" charset="0"/>
                <a:ea typeface="Courier New" pitchFamily="34" charset="-122"/>
                <a:cs typeface="Courier New" pitchFamily="34" charset="-120"/>
              </a:rPr>
              <a:t>Delta diff</a:t>
            </a:r>
            <a:endParaRPr lang="en-US" sz="1300" dirty="0"/>
          </a:p>
        </p:txBody>
      </p:sp>
      <p:sp>
        <p:nvSpPr>
          <p:cNvPr id="16" name="Shape 14"/>
          <p:cNvSpPr/>
          <p:nvPr/>
        </p:nvSpPr>
        <p:spPr>
          <a:xfrm>
            <a:off x="9403690" y="2034540"/>
            <a:ext cx="310896" cy="0"/>
          </a:xfrm>
          <a:prstGeom prst="line">
            <a:avLst/>
          </a:prstGeom>
          <a:noFill/>
          <a:ln w="25400">
            <a:solidFill>
              <a:srgbClr val="C9A227"/>
            </a:solidFill>
            <a:prstDash val="solid"/>
            <a:tailEnd type="triangle"/>
          </a:ln>
        </p:spPr>
      </p:sp>
      <p:sp>
        <p:nvSpPr>
          <p:cNvPr id="17" name="Shape 15"/>
          <p:cNvSpPr/>
          <p:nvPr/>
        </p:nvSpPr>
        <p:spPr>
          <a:xfrm>
            <a:off x="9787738" y="1600200"/>
            <a:ext cx="1852574" cy="868680"/>
          </a:xfrm>
          <a:prstGeom prst="roundRect">
            <a:avLst>
              <a:gd name="adj" fmla="val 7368"/>
            </a:avLst>
          </a:prstGeom>
          <a:solidFill>
            <a:srgbClr val="2B2342"/>
          </a:solidFill>
          <a:ln w="9525">
            <a:solidFill>
              <a:srgbClr val="3A3152"/>
            </a:solidFill>
            <a:prstDash val="solid"/>
          </a:ln>
        </p:spPr>
      </p:sp>
      <p:sp>
        <p:nvSpPr>
          <p:cNvPr id="18" name="Text 16"/>
          <p:cNvSpPr/>
          <p:nvPr/>
        </p:nvSpPr>
        <p:spPr>
          <a:xfrm>
            <a:off x="9860890" y="1673352"/>
            <a:ext cx="1706270" cy="477774"/>
          </a:xfrm>
          <a:prstGeom prst="rect">
            <a:avLst/>
          </a:prstGeom>
          <a:noFill/>
          <a:ln/>
        </p:spPr>
        <p:txBody>
          <a:bodyPr wrap="square" lIns="0" tIns="0" rIns="0" bIns="0" rtlCol="0" anchor="ctr"/>
          <a:lstStyle/>
          <a:p>
            <a:pPr algn="ctr" indent="0" marL="0">
              <a:buNone/>
            </a:pPr>
            <a:r>
              <a:rPr lang="en-US" sz="1300" b="1" dirty="0">
                <a:solidFill>
                  <a:srgbClr val="E9E2D0"/>
                </a:solidFill>
                <a:latin typeface="Courier New" pitchFamily="34" charset="0"/>
                <a:ea typeface="Courier New" pitchFamily="34" charset="-122"/>
                <a:cs typeface="Courier New" pitchFamily="34" charset="-120"/>
              </a:rPr>
              <a:t>ordered log</a:t>
            </a:r>
            <a:endParaRPr lang="en-US" sz="1300" dirty="0"/>
          </a:p>
        </p:txBody>
      </p:sp>
      <p:sp>
        <p:nvSpPr>
          <p:cNvPr id="19" name="Text 17"/>
          <p:cNvSpPr/>
          <p:nvPr/>
        </p:nvSpPr>
        <p:spPr>
          <a:xfrm>
            <a:off x="9860890" y="2051914"/>
            <a:ext cx="1706270" cy="364846"/>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 seq, delta }</a:t>
            </a:r>
            <a:endParaRPr lang="en-US" sz="1000" dirty="0"/>
          </a:p>
        </p:txBody>
      </p:sp>
      <p:sp>
        <p:nvSpPr>
          <p:cNvPr id="20" name="Shape 18"/>
          <p:cNvSpPr/>
          <p:nvPr/>
        </p:nvSpPr>
        <p:spPr>
          <a:xfrm>
            <a:off x="548640" y="2788920"/>
            <a:ext cx="11091672" cy="914400"/>
          </a:xfrm>
          <a:prstGeom prst="roundRect">
            <a:avLst>
              <a:gd name="adj" fmla="val 7000"/>
            </a:avLst>
          </a:prstGeom>
          <a:solidFill>
            <a:srgbClr val="2B2342"/>
          </a:solidFill>
          <a:ln w="9525">
            <a:solidFill>
              <a:srgbClr val="3A3152"/>
            </a:solidFill>
            <a:prstDash val="solid"/>
          </a:ln>
        </p:spPr>
      </p:sp>
      <p:sp>
        <p:nvSpPr>
          <p:cNvPr id="21" name="Text 19"/>
          <p:cNvSpPr/>
          <p:nvPr/>
        </p:nvSpPr>
        <p:spPr>
          <a:xfrm>
            <a:off x="822960" y="2880360"/>
            <a:ext cx="10543032" cy="731520"/>
          </a:xfrm>
          <a:prstGeom prst="rect">
            <a:avLst/>
          </a:prstGeom>
          <a:noFill/>
          <a:ln/>
        </p:spPr>
        <p:txBody>
          <a:bodyPr wrap="square" lIns="0" tIns="0" rIns="0" bIns="0" rtlCol="0" anchor="ctr"/>
          <a:lstStyle/>
          <a:p>
            <a:pPr algn="ctr" indent="0" marL="0">
              <a:buNone/>
            </a:pPr>
            <a:r>
              <a:rPr lang="en-US" sz="1300" dirty="0">
                <a:solidFill>
                  <a:srgbClr val="E9E2D0"/>
                </a:solidFill>
                <a:latin typeface="Calibri" pitchFamily="34" charset="0"/>
                <a:ea typeface="Calibri" pitchFamily="34" charset="-122"/>
                <a:cs typeface="Calibri" pitchFamily="34" charset="-120"/>
              </a:rPr>
              <a:t>Replicas apply deltas via the DeltaApplier — it patches state and NEVER runs game logic or draws RNG.</a:t>
            </a:r>
            <a:endParaRPr lang="en-US" sz="1300" dirty="0"/>
          </a:p>
          <a:p>
            <a:pPr algn="ctr" indent="0" marL="0">
              <a:buNone/>
            </a:pPr>
            <a:r>
              <a:rPr lang="en-US" sz="1300" dirty="0">
                <a:solidFill>
                  <a:srgbClr val="E9E2D0"/>
                </a:solidFill>
                <a:latin typeface="Calibri" pitchFamily="34" charset="0"/>
                <a:ea typeface="Calibri" pitchFamily="34" charset="-122"/>
                <a:cs typeface="Calibri" pitchFamily="34" charset="-120"/>
              </a:rPr>
              <a:t>Convergence is not tested into existence; it is true by construction. No guessing, no rollback, nothing ever ahead of the log.</a:t>
            </a:r>
            <a:endParaRPr lang="en-US" sz="1300" dirty="0"/>
          </a:p>
        </p:txBody>
      </p:sp>
      <p:sp>
        <p:nvSpPr>
          <p:cNvPr id="22" name="Shape 20"/>
          <p:cNvSpPr/>
          <p:nvPr/>
        </p:nvSpPr>
        <p:spPr>
          <a:xfrm>
            <a:off x="548640" y="3977640"/>
            <a:ext cx="5408676" cy="1600200"/>
          </a:xfrm>
          <a:prstGeom prst="roundRect">
            <a:avLst>
              <a:gd name="adj" fmla="val 4000"/>
            </a:avLst>
          </a:prstGeom>
          <a:solidFill>
            <a:srgbClr val="221C31"/>
          </a:solidFill>
          <a:ln w="9525">
            <a:solidFill>
              <a:srgbClr val="3A3152"/>
            </a:solidFill>
            <a:prstDash val="solid"/>
          </a:ln>
        </p:spPr>
      </p:sp>
      <p:sp>
        <p:nvSpPr>
          <p:cNvPr id="23" name="Text 21"/>
          <p:cNvSpPr/>
          <p:nvPr/>
        </p:nvSpPr>
        <p:spPr>
          <a:xfrm>
            <a:off x="749808" y="4233672"/>
            <a:ext cx="5006340"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mbria" pitchFamily="34" charset="0"/>
                <a:ea typeface="Cambria" pitchFamily="34" charset="-122"/>
                <a:cs typeface="Cambria" pitchFamily="34" charset="-120"/>
              </a:rPr>
              <a:t>Single-player</a:t>
            </a:r>
            <a:endParaRPr lang="en-US" sz="1500" dirty="0"/>
          </a:p>
        </p:txBody>
      </p:sp>
      <p:sp>
        <p:nvSpPr>
          <p:cNvPr id="24" name="Text 22"/>
          <p:cNvSpPr/>
          <p:nvPr/>
        </p:nvSpPr>
        <p:spPr>
          <a:xfrm>
            <a:off x="768096" y="4736592"/>
            <a:ext cx="4969764" cy="65836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same Authority behind an InProcessTransport, with solo on — the engine itself drives turn wrap, afflictions, mob reactions.</a:t>
            </a:r>
            <a:endParaRPr lang="en-US" sz="1200" dirty="0"/>
          </a:p>
        </p:txBody>
      </p:sp>
      <p:sp>
        <p:nvSpPr>
          <p:cNvPr id="25" name="Shape 23"/>
          <p:cNvSpPr/>
          <p:nvPr/>
        </p:nvSpPr>
        <p:spPr>
          <a:xfrm>
            <a:off x="6231636" y="3977640"/>
            <a:ext cx="5408676" cy="1600200"/>
          </a:xfrm>
          <a:prstGeom prst="roundRect">
            <a:avLst>
              <a:gd name="adj" fmla="val 4000"/>
            </a:avLst>
          </a:prstGeom>
          <a:solidFill>
            <a:srgbClr val="221C31"/>
          </a:solidFill>
          <a:ln w="9525">
            <a:solidFill>
              <a:srgbClr val="3A3152"/>
            </a:solidFill>
            <a:prstDash val="solid"/>
          </a:ln>
        </p:spPr>
      </p:sp>
      <p:sp>
        <p:nvSpPr>
          <p:cNvPr id="26" name="Text 24"/>
          <p:cNvSpPr/>
          <p:nvPr/>
        </p:nvSpPr>
        <p:spPr>
          <a:xfrm>
            <a:off x="6432804" y="4233672"/>
            <a:ext cx="5006340" cy="566928"/>
          </a:xfrm>
          <a:prstGeom prst="rect">
            <a:avLst/>
          </a:prstGeom>
          <a:noFill/>
          <a:ln/>
        </p:spPr>
        <p:txBody>
          <a:bodyPr wrap="square" lIns="0" tIns="0" rIns="0" bIns="0" rtlCol="0" anchor="ctr"/>
          <a:lstStyle/>
          <a:p>
            <a:pPr algn="ctr" indent="0" marL="0">
              <a:buNone/>
            </a:pPr>
            <a:r>
              <a:rPr lang="en-US" sz="1500" b="1" dirty="0">
                <a:solidFill>
                  <a:srgbClr val="C9A227"/>
                </a:solidFill>
                <a:latin typeface="Cambria" pitchFamily="34" charset="0"/>
                <a:ea typeface="Cambria" pitchFamily="34" charset="-122"/>
                <a:cs typeface="Cambria" pitchFamily="34" charset="-120"/>
              </a:rPr>
              <a:t>Multiplayer</a:t>
            </a:r>
            <a:endParaRPr lang="en-US" sz="1500" dirty="0"/>
          </a:p>
        </p:txBody>
      </p:sp>
      <p:sp>
        <p:nvSpPr>
          <p:cNvPr id="27" name="Text 25"/>
          <p:cNvSpPr/>
          <p:nvPr/>
        </p:nvSpPr>
        <p:spPr>
          <a:xfrm>
            <a:off x="6451092" y="4736592"/>
            <a:ext cx="4969764" cy="65836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same Authority hosted per campaign by an axum/tokio actor — submit → persist (SQLite) → ack, seat-ownership auth, manage_turns on.</a:t>
            </a:r>
            <a:endParaRPr lang="en-US" sz="1200" dirty="0"/>
          </a:p>
        </p:txBody>
      </p:sp>
      <p:sp>
        <p:nvSpPr>
          <p:cNvPr id="28" name="Text 26"/>
          <p:cNvSpPr/>
          <p:nvPr/>
        </p:nvSpPr>
        <p:spPr>
          <a:xfrm>
            <a:off x="822960" y="5897880"/>
            <a:ext cx="10543032" cy="548640"/>
          </a:xfrm>
          <a:prstGeom prst="rect">
            <a:avLst/>
          </a:prstGeom>
          <a:noFill/>
          <a:ln/>
        </p:spPr>
        <p:txBody>
          <a:bodyPr wrap="square" lIns="0" tIns="0" rIns="0" bIns="0" rtlCol="0" anchor="ctr"/>
          <a:lstStyle/>
          <a:p>
            <a:pPr algn="ctr" indent="0" marL="0">
              <a:buNone/>
            </a:pPr>
            <a:r>
              <a:rPr lang="en-US" sz="1350" i="1" dirty="0">
                <a:solidFill>
                  <a:srgbClr val="E9E2D0"/>
                </a:solidFill>
                <a:latin typeface="Calibri" pitchFamily="34" charset="0"/>
                <a:ea typeface="Calibri" pitchFamily="34" charset="-122"/>
                <a:cs typeface="Calibri" pitchFamily="34" charset="-120"/>
              </a:rPr>
              <a:t>Two boolean options and a transport choice. Reject ≠ fizzle: denials never commit; legal-but-ineffective actions propagate like any other.</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5 — THE SURFACES</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Five faces, zero rules</a:t>
            </a:r>
            <a:endParaRPr lang="en-US" sz="3000" dirty="0"/>
          </a:p>
        </p:txBody>
      </p:sp>
      <p:sp>
        <p:nvSpPr>
          <p:cNvPr id="4" name="Shape 2"/>
          <p:cNvSpPr/>
          <p:nvPr/>
        </p:nvSpPr>
        <p:spPr>
          <a:xfrm>
            <a:off x="548640" y="1600200"/>
            <a:ext cx="2567178" cy="3657600"/>
          </a:xfrm>
          <a:prstGeom prst="roundRect">
            <a:avLst>
              <a:gd name="adj" fmla="val 2493"/>
            </a:avLst>
          </a:prstGeom>
          <a:solidFill>
            <a:srgbClr val="221C31"/>
          </a:solidFill>
          <a:ln w="9525">
            <a:solidFill>
              <a:srgbClr val="3A3152"/>
            </a:solidFill>
            <a:prstDash val="solid"/>
          </a:ln>
        </p:spPr>
      </p:sp>
      <p:sp>
        <p:nvSpPr>
          <p:cNvPr id="5" name="Shape 3"/>
          <p:cNvSpPr/>
          <p:nvPr/>
        </p:nvSpPr>
        <p:spPr>
          <a:xfrm>
            <a:off x="1457325" y="191109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1637279" y="2091050"/>
            <a:ext cx="389900" cy="389900"/>
          </a:xfrm>
          <a:prstGeom prst="rect">
            <a:avLst/>
          </a:prstGeom>
        </p:spPr>
      </p:pic>
      <p:sp>
        <p:nvSpPr>
          <p:cNvPr id="7" name="Text 4"/>
          <p:cNvSpPr/>
          <p:nvPr/>
        </p:nvSpPr>
        <p:spPr>
          <a:xfrm>
            <a:off x="749808" y="2834640"/>
            <a:ext cx="2164842"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Browser</a:t>
            </a:r>
            <a:endParaRPr lang="en-US" sz="1600" dirty="0"/>
          </a:p>
        </p:txBody>
      </p:sp>
      <p:sp>
        <p:nvSpPr>
          <p:cNvPr id="8" name="Text 5"/>
          <p:cNvSpPr/>
          <p:nvPr/>
        </p:nvSpPr>
        <p:spPr>
          <a:xfrm>
            <a:off x="768096" y="3520440"/>
            <a:ext cx="2128266" cy="15544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~10k lines, ALL presentation — Dioxus → wasm, linking core as an ordinary library. A procedural audio layer (4 SFX categories + a sanity-reactive drone) built purely off the engine cue stream.</a:t>
            </a:r>
            <a:endParaRPr lang="en-US" sz="1150" dirty="0"/>
          </a:p>
        </p:txBody>
      </p:sp>
      <p:sp>
        <p:nvSpPr>
          <p:cNvPr id="9" name="Shape 6"/>
          <p:cNvSpPr/>
          <p:nvPr/>
        </p:nvSpPr>
        <p:spPr>
          <a:xfrm>
            <a:off x="3390138" y="1600200"/>
            <a:ext cx="2567178" cy="3657600"/>
          </a:xfrm>
          <a:prstGeom prst="roundRect">
            <a:avLst>
              <a:gd name="adj" fmla="val 2493"/>
            </a:avLst>
          </a:prstGeom>
          <a:solidFill>
            <a:srgbClr val="221C31"/>
          </a:solidFill>
          <a:ln w="9525">
            <a:solidFill>
              <a:srgbClr val="3A3152"/>
            </a:solidFill>
            <a:prstDash val="solid"/>
          </a:ln>
        </p:spPr>
      </p:sp>
      <p:sp>
        <p:nvSpPr>
          <p:cNvPr id="10" name="Shape 7"/>
          <p:cNvSpPr/>
          <p:nvPr/>
        </p:nvSpPr>
        <p:spPr>
          <a:xfrm>
            <a:off x="4298823" y="191109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harddrive.png">    </p:cNvPr>
          <p:cNvPicPr>
            <a:picLocks noChangeAspect="1"/>
          </p:cNvPicPr>
          <p:nvPr/>
        </p:nvPicPr>
        <p:blipFill>
          <a:blip r:embed="rId2"/>
          <a:stretch>
            <a:fillRect/>
          </a:stretch>
        </p:blipFill>
        <p:spPr>
          <a:xfrm>
            <a:off x="4478777" y="2091050"/>
            <a:ext cx="389900" cy="389900"/>
          </a:xfrm>
          <a:prstGeom prst="rect">
            <a:avLst/>
          </a:prstGeom>
        </p:spPr>
      </p:pic>
      <p:sp>
        <p:nvSpPr>
          <p:cNvPr id="12" name="Text 8"/>
          <p:cNvSpPr/>
          <p:nvPr/>
        </p:nvSpPr>
        <p:spPr>
          <a:xfrm>
            <a:off x="3591306" y="2834640"/>
            <a:ext cx="2164842"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Desktop</a:t>
            </a:r>
            <a:endParaRPr lang="en-US" sz="1600" dirty="0"/>
          </a:p>
        </p:txBody>
      </p:sp>
      <p:sp>
        <p:nvSpPr>
          <p:cNvPr id="13" name="Text 9"/>
          <p:cNvSpPr/>
          <p:nvPr/>
        </p:nvSpPr>
        <p:spPr>
          <a:xfrm>
            <a:off x="3609594" y="3520440"/>
            <a:ext cx="2128266" cy="15544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The same client code in a webview shell, kept out of the main build on purpose — its OS-level GUI libraries never touch the gates. Ships .deb / .dmg / .msi via dx bundle.</a:t>
            </a:r>
            <a:endParaRPr lang="en-US" sz="1150" dirty="0"/>
          </a:p>
        </p:txBody>
      </p:sp>
      <p:sp>
        <p:nvSpPr>
          <p:cNvPr id="14" name="Shape 10"/>
          <p:cNvSpPr/>
          <p:nvPr/>
        </p:nvSpPr>
        <p:spPr>
          <a:xfrm>
            <a:off x="6231636" y="1600200"/>
            <a:ext cx="2567178" cy="3657600"/>
          </a:xfrm>
          <a:prstGeom prst="roundRect">
            <a:avLst>
              <a:gd name="adj" fmla="val 2493"/>
            </a:avLst>
          </a:prstGeom>
          <a:solidFill>
            <a:srgbClr val="221C31"/>
          </a:solidFill>
          <a:ln w="9525">
            <a:solidFill>
              <a:srgbClr val="3A3152"/>
            </a:solidFill>
            <a:prstDash val="solid"/>
          </a:ln>
        </p:spPr>
      </p:sp>
      <p:sp>
        <p:nvSpPr>
          <p:cNvPr id="15" name="Shape 11"/>
          <p:cNvSpPr/>
          <p:nvPr/>
        </p:nvSpPr>
        <p:spPr>
          <a:xfrm>
            <a:off x="7140321" y="191109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code.png">    </p:cNvPr>
          <p:cNvPicPr>
            <a:picLocks noChangeAspect="1"/>
          </p:cNvPicPr>
          <p:nvPr/>
        </p:nvPicPr>
        <p:blipFill>
          <a:blip r:embed="rId3"/>
          <a:stretch>
            <a:fillRect/>
          </a:stretch>
        </p:blipFill>
        <p:spPr>
          <a:xfrm>
            <a:off x="7320275" y="2091050"/>
            <a:ext cx="389900" cy="389900"/>
          </a:xfrm>
          <a:prstGeom prst="rect">
            <a:avLst/>
          </a:prstGeom>
        </p:spPr>
      </p:pic>
      <p:sp>
        <p:nvSpPr>
          <p:cNvPr id="17" name="Text 12"/>
          <p:cNvSpPr/>
          <p:nvPr/>
        </p:nvSpPr>
        <p:spPr>
          <a:xfrm>
            <a:off x="6432804" y="2834640"/>
            <a:ext cx="2164842"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JS embedding</a:t>
            </a:r>
            <a:endParaRPr lang="en-US" sz="1600" dirty="0"/>
          </a:p>
        </p:txBody>
      </p:sp>
      <p:sp>
        <p:nvSpPr>
          <p:cNvPr id="18" name="Text 13"/>
          <p:cNvSpPr/>
          <p:nvPr/>
        </p:nvSpPr>
        <p:spPr>
          <a:xfrm>
            <a:off x="6451092" y="3520440"/>
            <a:ext cx="2128266" cy="15544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~260 lines. A stateful Authority handle for any JS host. Only JSON strings cross the seam — intent in; cues, view, snapshot out. No host ever holds a live engine object.</a:t>
            </a:r>
            <a:endParaRPr lang="en-US" sz="1150" dirty="0"/>
          </a:p>
        </p:txBody>
      </p:sp>
      <p:sp>
        <p:nvSpPr>
          <p:cNvPr id="19" name="Shape 14"/>
          <p:cNvSpPr/>
          <p:nvPr/>
        </p:nvSpPr>
        <p:spPr>
          <a:xfrm>
            <a:off x="9073134" y="1600200"/>
            <a:ext cx="2567178" cy="3657600"/>
          </a:xfrm>
          <a:prstGeom prst="roundRect">
            <a:avLst>
              <a:gd name="adj" fmla="val 2493"/>
            </a:avLst>
          </a:prstGeom>
          <a:solidFill>
            <a:srgbClr val="221C31"/>
          </a:solidFill>
          <a:ln w="9525">
            <a:solidFill>
              <a:srgbClr val="3A3152"/>
            </a:solidFill>
            <a:prstDash val="solid"/>
          </a:ln>
        </p:spPr>
      </p:sp>
      <p:sp>
        <p:nvSpPr>
          <p:cNvPr id="20" name="Shape 15"/>
          <p:cNvSpPr/>
          <p:nvPr/>
        </p:nvSpPr>
        <p:spPr>
          <a:xfrm>
            <a:off x="9981819" y="1911096"/>
            <a:ext cx="749808" cy="749808"/>
          </a:xfrm>
          <a:prstGeom prst="ellipse">
            <a:avLst/>
          </a:prstGeom>
          <a:solidFill>
            <a:srgbClr val="2B2342"/>
          </a:solidFill>
          <a:ln w="9525">
            <a:solidFill>
              <a:srgbClr val="3A3152"/>
            </a:solidFill>
            <a:prstDash val="solid"/>
          </a:ln>
        </p:spPr>
      </p:sp>
      <p:pic>
        <p:nvPicPr>
          <p:cNvPr id="21" name="Image 3" descr="/tmp/claude-0/-home-user-WickedWays/bfe20d4f-91dd-58c9-a5c6-92b3d7767e5d/scratchpad/decks/icons/cpu_gold.png">    </p:cNvPr>
          <p:cNvPicPr>
            <a:picLocks noChangeAspect="1"/>
          </p:cNvPicPr>
          <p:nvPr/>
        </p:nvPicPr>
        <p:blipFill>
          <a:blip r:embed="rId4"/>
          <a:stretch>
            <a:fillRect/>
          </a:stretch>
        </p:blipFill>
        <p:spPr>
          <a:xfrm>
            <a:off x="10161773" y="2091050"/>
            <a:ext cx="389900" cy="389900"/>
          </a:xfrm>
          <a:prstGeom prst="rect">
            <a:avLst/>
          </a:prstGeom>
        </p:spPr>
      </p:pic>
      <p:sp>
        <p:nvSpPr>
          <p:cNvPr id="22" name="Text 16"/>
          <p:cNvSpPr/>
          <p:nvPr/>
        </p:nvSpPr>
        <p:spPr>
          <a:xfrm>
            <a:off x="9274302" y="2834640"/>
            <a:ext cx="2164842"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Physical board</a:t>
            </a:r>
            <a:endParaRPr lang="en-US" sz="1600" dirty="0"/>
          </a:p>
        </p:txBody>
      </p:sp>
      <p:sp>
        <p:nvSpPr>
          <p:cNvPr id="23" name="Text 17"/>
          <p:cNvSpPr/>
          <p:nvPr/>
        </p:nvSpPr>
        <p:spPr>
          <a:xfrm>
            <a:off x="9292590" y="3520440"/>
            <a:ext cx="2128266" cy="1554480"/>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~1.4k-line bridge + ~400-line controller. ViewModel → e-ink paint + pieces; NFC + rolled-dice events → engine commands, over framed serial. Same bridge compiles to wasm for the on-screen simulator.</a:t>
            </a:r>
            <a:endParaRPr lang="en-US" sz="1150" dirty="0"/>
          </a:p>
        </p:txBody>
      </p:sp>
      <p:sp>
        <p:nvSpPr>
          <p:cNvPr id="24" name="Text 18"/>
          <p:cNvSpPr/>
          <p:nvPr/>
        </p:nvSpPr>
        <p:spPr>
          <a:xfrm>
            <a:off x="822960" y="5623560"/>
            <a:ext cx="10543032" cy="548640"/>
          </a:xfrm>
          <a:prstGeom prst="rect">
            <a:avLst/>
          </a:prstGeom>
          <a:noFill/>
          <a:ln/>
        </p:spPr>
        <p:txBody>
          <a:bodyPr wrap="square" lIns="0" tIns="0" rIns="0" bIns="0" rtlCol="0" anchor="ctr"/>
          <a:lstStyle/>
          <a:p>
            <a:pPr algn="ctr" indent="0" marL="0">
              <a:buNone/>
            </a:pPr>
            <a:r>
              <a:rPr lang="en-US" sz="1500" i="1" dirty="0">
                <a:solidFill>
                  <a:srgbClr val="E9E2D0"/>
                </a:solidFill>
                <a:latin typeface="Calibri" pitchFamily="34" charset="0"/>
                <a:ea typeface="Calibri" pitchFamily="34" charset="-122"/>
                <a:cs typeface="Calibri" pitchFamily="34" charset="-120"/>
              </a:rPr>
              <a:t>Tally the cost of a face: bridge ~1,400 · controller ~400 · wasm seam ~260. The rules never changed.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SYSTEM 6 — THE GATES</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How it stays true</a:t>
            </a:r>
            <a:endParaRPr lang="en-US" sz="3000" dirty="0"/>
          </a:p>
        </p:txBody>
      </p:sp>
      <p:sp>
        <p:nvSpPr>
          <p:cNvPr id="4" name="Shape 2"/>
          <p:cNvSpPr/>
          <p:nvPr/>
        </p:nvSpPr>
        <p:spPr>
          <a:xfrm>
            <a:off x="548640" y="1572768"/>
            <a:ext cx="2567178" cy="2148840"/>
          </a:xfrm>
          <a:prstGeom prst="roundRect">
            <a:avLst>
              <a:gd name="adj" fmla="val 2979"/>
            </a:avLst>
          </a:prstGeom>
          <a:solidFill>
            <a:srgbClr val="221C31"/>
          </a:solidFill>
          <a:ln w="9525">
            <a:solidFill>
              <a:srgbClr val="3A3152"/>
            </a:solidFill>
            <a:prstDash val="solid"/>
          </a:ln>
        </p:spPr>
      </p:sp>
      <p:sp>
        <p:nvSpPr>
          <p:cNvPr id="5" name="Text 3"/>
          <p:cNvSpPr/>
          <p:nvPr/>
        </p:nvSpPr>
        <p:spPr>
          <a:xfrm>
            <a:off x="749808" y="1828800"/>
            <a:ext cx="2164842"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author</a:t>
            </a:r>
            <a:endParaRPr lang="en-US" sz="1600" dirty="0"/>
          </a:p>
        </p:txBody>
      </p:sp>
      <p:sp>
        <p:nvSpPr>
          <p:cNvPr id="6" name="Text 4"/>
          <p:cNvSpPr/>
          <p:nvPr/>
        </p:nvSpPr>
        <p:spPr>
          <a:xfrm>
            <a:off x="768096" y="2331720"/>
            <a:ext cx="2128266" cy="1207008"/>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TOML → description + catalog, canonical-JSON compare</a:t>
            </a:r>
            <a:endParaRPr lang="en-US" sz="1150" dirty="0"/>
          </a:p>
        </p:txBody>
      </p:sp>
      <p:sp>
        <p:nvSpPr>
          <p:cNvPr id="7" name="Shape 5"/>
          <p:cNvSpPr/>
          <p:nvPr/>
        </p:nvSpPr>
        <p:spPr>
          <a:xfrm>
            <a:off x="3390138" y="1572768"/>
            <a:ext cx="2567178" cy="2148840"/>
          </a:xfrm>
          <a:prstGeom prst="roundRect">
            <a:avLst>
              <a:gd name="adj" fmla="val 2979"/>
            </a:avLst>
          </a:prstGeom>
          <a:solidFill>
            <a:srgbClr val="221C31"/>
          </a:solidFill>
          <a:ln w="9525">
            <a:solidFill>
              <a:srgbClr val="3A3152"/>
            </a:solidFill>
            <a:prstDash val="solid"/>
          </a:ln>
        </p:spPr>
      </p:sp>
      <p:sp>
        <p:nvSpPr>
          <p:cNvPr id="8" name="Text 6"/>
          <p:cNvSpPr/>
          <p:nvPr/>
        </p:nvSpPr>
        <p:spPr>
          <a:xfrm>
            <a:off x="3591306" y="1828800"/>
            <a:ext cx="2164842"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assembler</a:t>
            </a:r>
            <a:endParaRPr lang="en-US" sz="1600" dirty="0"/>
          </a:p>
        </p:txBody>
      </p:sp>
      <p:sp>
        <p:nvSpPr>
          <p:cNvPr id="9" name="Text 7"/>
          <p:cNvSpPr/>
          <p:nvPr/>
        </p:nvSpPr>
        <p:spPr>
          <a:xfrm>
            <a:off x="3609594" y="2331720"/>
            <a:ext cx="2128266" cy="1207008"/>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artifacts + seats → genesis; pre-begin goldens only — deliberately</a:t>
            </a:r>
            <a:endParaRPr lang="en-US" sz="1150" dirty="0"/>
          </a:p>
        </p:txBody>
      </p:sp>
      <p:sp>
        <p:nvSpPr>
          <p:cNvPr id="10" name="Shape 8"/>
          <p:cNvSpPr/>
          <p:nvPr/>
        </p:nvSpPr>
        <p:spPr>
          <a:xfrm>
            <a:off x="6231636" y="1572768"/>
            <a:ext cx="2567178" cy="2148840"/>
          </a:xfrm>
          <a:prstGeom prst="roundRect">
            <a:avLst>
              <a:gd name="adj" fmla="val 2979"/>
            </a:avLst>
          </a:prstGeom>
          <a:solidFill>
            <a:srgbClr val="221C31"/>
          </a:solidFill>
          <a:ln w="9525">
            <a:solidFill>
              <a:srgbClr val="3A3152"/>
            </a:solidFill>
            <a:prstDash val="solid"/>
          </a:ln>
        </p:spPr>
      </p:sp>
      <p:sp>
        <p:nvSpPr>
          <p:cNvPr id="11" name="Text 9"/>
          <p:cNvSpPr/>
          <p:nvPr/>
        </p:nvSpPr>
        <p:spPr>
          <a:xfrm>
            <a:off x="6432804" y="1828800"/>
            <a:ext cx="2164842"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replay</a:t>
            </a:r>
            <a:endParaRPr lang="en-US" sz="1600" dirty="0"/>
          </a:p>
        </p:txBody>
      </p:sp>
      <p:sp>
        <p:nvSpPr>
          <p:cNvPr id="12" name="Text 10"/>
          <p:cNvSpPr/>
          <p:nvPr/>
        </p:nvSpPr>
        <p:spPr>
          <a:xfrm>
            <a:off x="6451092" y="2331720"/>
            <a:ext cx="2128266" cy="1207008"/>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every committed recording, stepped command-by-command: result + snapshot + view</a:t>
            </a:r>
            <a:endParaRPr lang="en-US" sz="1150" dirty="0"/>
          </a:p>
        </p:txBody>
      </p:sp>
      <p:sp>
        <p:nvSpPr>
          <p:cNvPr id="13" name="Shape 11"/>
          <p:cNvSpPr/>
          <p:nvPr/>
        </p:nvSpPr>
        <p:spPr>
          <a:xfrm>
            <a:off x="9073134" y="1572768"/>
            <a:ext cx="2567178" cy="2148840"/>
          </a:xfrm>
          <a:prstGeom prst="roundRect">
            <a:avLst>
              <a:gd name="adj" fmla="val 2979"/>
            </a:avLst>
          </a:prstGeom>
          <a:solidFill>
            <a:srgbClr val="221C31"/>
          </a:solidFill>
          <a:ln w="9525">
            <a:solidFill>
              <a:srgbClr val="3A3152"/>
            </a:solidFill>
            <a:prstDash val="solid"/>
          </a:ln>
        </p:spPr>
      </p:sp>
      <p:sp>
        <p:nvSpPr>
          <p:cNvPr id="14" name="Text 12"/>
          <p:cNvSpPr/>
          <p:nvPr/>
        </p:nvSpPr>
        <p:spPr>
          <a:xfrm>
            <a:off x="9274302" y="1828800"/>
            <a:ext cx="2164842" cy="566928"/>
          </a:xfrm>
          <a:prstGeom prst="rect">
            <a:avLst/>
          </a:prstGeom>
          <a:noFill/>
          <a:ln/>
        </p:spPr>
        <p:txBody>
          <a:bodyPr wrap="square" lIns="0" tIns="0" rIns="0" bIns="0" rtlCol="0" anchor="ctr"/>
          <a:lstStyle/>
          <a:p>
            <a:pPr algn="ctr" indent="0" marL="0">
              <a:buNone/>
            </a:pPr>
            <a:r>
              <a:rPr lang="en-US" sz="1600" b="1" dirty="0">
                <a:solidFill>
                  <a:srgbClr val="C9A227"/>
                </a:solidFill>
                <a:latin typeface="Cambria" pitchFamily="34" charset="0"/>
                <a:ea typeface="Cambria" pitchFamily="34" charset="-122"/>
                <a:cs typeface="Cambria" pitchFamily="34" charset="-120"/>
              </a:rPr>
              <a:t>sync</a:t>
            </a:r>
            <a:endParaRPr lang="en-US" sz="1600" dirty="0"/>
          </a:p>
        </p:txBody>
      </p:sp>
      <p:sp>
        <p:nvSpPr>
          <p:cNvPr id="15" name="Text 13"/>
          <p:cNvSpPr/>
          <p:nvPr/>
        </p:nvSpPr>
        <p:spPr>
          <a:xfrm>
            <a:off x="9292590" y="2331720"/>
            <a:ext cx="2128266" cy="1207008"/>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command logs → { seq, delta } streams, byte-for-byte</a:t>
            </a:r>
            <a:endParaRPr lang="en-US" sz="1150" dirty="0"/>
          </a:p>
        </p:txBody>
      </p:sp>
      <p:sp>
        <p:nvSpPr>
          <p:cNvPr id="16" name="Shape 14"/>
          <p:cNvSpPr/>
          <p:nvPr/>
        </p:nvSpPr>
        <p:spPr>
          <a:xfrm>
            <a:off x="548640" y="4069080"/>
            <a:ext cx="3361944" cy="777240"/>
          </a:xfrm>
          <a:prstGeom prst="roundRect">
            <a:avLst>
              <a:gd name="adj" fmla="val 8235"/>
            </a:avLst>
          </a:prstGeom>
          <a:solidFill>
            <a:srgbClr val="2B2342"/>
          </a:solidFill>
          <a:ln w="9525">
            <a:solidFill>
              <a:srgbClr val="3A3152"/>
            </a:solidFill>
            <a:prstDash val="solid"/>
          </a:ln>
        </p:spPr>
      </p:sp>
      <p:sp>
        <p:nvSpPr>
          <p:cNvPr id="17" name="Text 15"/>
          <p:cNvSpPr/>
          <p:nvPr/>
        </p:nvSpPr>
        <p:spPr>
          <a:xfrm>
            <a:off x="621792" y="4069080"/>
            <a:ext cx="3215640" cy="777240"/>
          </a:xfrm>
          <a:prstGeom prst="rect">
            <a:avLst/>
          </a:prstGeom>
          <a:noFill/>
          <a:ln/>
        </p:spPr>
        <p:txBody>
          <a:bodyPr wrap="square" lIns="0" tIns="0" rIns="0" bIns="0" rtlCol="0" anchor="ctr"/>
          <a:lstStyle/>
          <a:p>
            <a:pPr algn="ctr" indent="0" marL="0">
              <a:buNone/>
            </a:pPr>
            <a:r>
              <a:rPr lang="en-US" sz="1250" b="1" dirty="0">
                <a:solidFill>
                  <a:srgbClr val="E9E2D0"/>
                </a:solidFill>
                <a:latin typeface="Courier New" pitchFamily="34" charset="0"/>
                <a:ea typeface="Courier New" pitchFamily="34" charset="-122"/>
                <a:cs typeface="Courier New" pitchFamily="34" charset="-120"/>
              </a:rPr>
              <a:t>UPDATE_GOLDENS=1</a:t>
            </a:r>
            <a:endParaRPr lang="en-US" sz="1250" dirty="0"/>
          </a:p>
        </p:txBody>
      </p:sp>
      <p:sp>
        <p:nvSpPr>
          <p:cNvPr id="18" name="Shape 16"/>
          <p:cNvSpPr/>
          <p:nvPr/>
        </p:nvSpPr>
        <p:spPr>
          <a:xfrm>
            <a:off x="3983736" y="4457700"/>
            <a:ext cx="356616" cy="0"/>
          </a:xfrm>
          <a:prstGeom prst="line">
            <a:avLst/>
          </a:prstGeom>
          <a:noFill/>
          <a:ln w="25400">
            <a:solidFill>
              <a:srgbClr val="C9A227"/>
            </a:solidFill>
            <a:prstDash val="solid"/>
            <a:tailEnd type="triangle"/>
          </a:ln>
        </p:spPr>
      </p:sp>
      <p:sp>
        <p:nvSpPr>
          <p:cNvPr id="19" name="Shape 17"/>
          <p:cNvSpPr/>
          <p:nvPr/>
        </p:nvSpPr>
        <p:spPr>
          <a:xfrm>
            <a:off x="4413504" y="4069080"/>
            <a:ext cx="3361944" cy="777240"/>
          </a:xfrm>
          <a:prstGeom prst="roundRect">
            <a:avLst>
              <a:gd name="adj" fmla="val 8235"/>
            </a:avLst>
          </a:prstGeom>
          <a:solidFill>
            <a:srgbClr val="2B2342"/>
          </a:solidFill>
          <a:ln w="9525">
            <a:solidFill>
              <a:srgbClr val="3A3152"/>
            </a:solidFill>
            <a:prstDash val="solid"/>
          </a:ln>
        </p:spPr>
      </p:sp>
      <p:sp>
        <p:nvSpPr>
          <p:cNvPr id="20" name="Text 18"/>
          <p:cNvSpPr/>
          <p:nvPr/>
        </p:nvSpPr>
        <p:spPr>
          <a:xfrm>
            <a:off x="4486656" y="4069080"/>
            <a:ext cx="3215640" cy="777240"/>
          </a:xfrm>
          <a:prstGeom prst="rect">
            <a:avLst/>
          </a:prstGeom>
          <a:noFill/>
          <a:ln/>
        </p:spPr>
        <p:txBody>
          <a:bodyPr wrap="square" lIns="0" tIns="0" rIns="0" bIns="0" rtlCol="0" anchor="ctr"/>
          <a:lstStyle/>
          <a:p>
            <a:pPr algn="ctr" indent="0" marL="0">
              <a:buNone/>
            </a:pPr>
            <a:r>
              <a:rPr lang="en-US" sz="1250" b="1" dirty="0">
                <a:solidFill>
                  <a:srgbClr val="E9E2D0"/>
                </a:solidFill>
                <a:latin typeface="Calibri" pitchFamily="34" charset="0"/>
                <a:ea typeface="Calibri" pitchFamily="34" charset="-122"/>
                <a:cs typeface="Calibri" pitchFamily="34" charset="-120"/>
              </a:rPr>
              <a:t>review the diff like code</a:t>
            </a:r>
            <a:endParaRPr lang="en-US" sz="1250" dirty="0"/>
          </a:p>
        </p:txBody>
      </p:sp>
      <p:sp>
        <p:nvSpPr>
          <p:cNvPr id="21" name="Shape 19"/>
          <p:cNvSpPr/>
          <p:nvPr/>
        </p:nvSpPr>
        <p:spPr>
          <a:xfrm>
            <a:off x="7848600" y="4457700"/>
            <a:ext cx="356616" cy="0"/>
          </a:xfrm>
          <a:prstGeom prst="line">
            <a:avLst/>
          </a:prstGeom>
          <a:noFill/>
          <a:ln w="25400">
            <a:solidFill>
              <a:srgbClr val="C9A227"/>
            </a:solidFill>
            <a:prstDash val="solid"/>
            <a:tailEnd type="triangle"/>
          </a:ln>
        </p:spPr>
      </p:sp>
      <p:sp>
        <p:nvSpPr>
          <p:cNvPr id="22" name="Shape 20"/>
          <p:cNvSpPr/>
          <p:nvPr/>
        </p:nvSpPr>
        <p:spPr>
          <a:xfrm>
            <a:off x="8278368" y="4069080"/>
            <a:ext cx="3361944" cy="777240"/>
          </a:xfrm>
          <a:prstGeom prst="roundRect">
            <a:avLst>
              <a:gd name="adj" fmla="val 8235"/>
            </a:avLst>
          </a:prstGeom>
          <a:solidFill>
            <a:srgbClr val="2B2342"/>
          </a:solidFill>
          <a:ln w="9525">
            <a:solidFill>
              <a:srgbClr val="3A3152"/>
            </a:solidFill>
            <a:prstDash val="solid"/>
          </a:ln>
        </p:spPr>
      </p:sp>
      <p:sp>
        <p:nvSpPr>
          <p:cNvPr id="23" name="Text 21"/>
          <p:cNvSpPr/>
          <p:nvPr/>
        </p:nvSpPr>
        <p:spPr>
          <a:xfrm>
            <a:off x="8351520" y="4069080"/>
            <a:ext cx="3215640" cy="777240"/>
          </a:xfrm>
          <a:prstGeom prst="rect">
            <a:avLst/>
          </a:prstGeom>
          <a:noFill/>
          <a:ln/>
        </p:spPr>
        <p:txBody>
          <a:bodyPr wrap="square" lIns="0" tIns="0" rIns="0" bIns="0" rtlCol="0" anchor="ctr"/>
          <a:lstStyle/>
          <a:p>
            <a:pPr algn="ctr" indent="0" marL="0">
              <a:buNone/>
            </a:pPr>
            <a:r>
              <a:rPr lang="en-US" sz="1250" b="1" dirty="0">
                <a:solidFill>
                  <a:srgbClr val="E9E2D0"/>
                </a:solidFill>
                <a:latin typeface="Calibri" pitchFamily="34" charset="0"/>
                <a:ea typeface="Calibri" pitchFamily="34" charset="-122"/>
                <a:cs typeface="Calibri" pitchFamily="34" charset="-120"/>
              </a:rPr>
              <a:t>commit it with the change</a:t>
            </a:r>
            <a:endParaRPr lang="en-US" sz="1250" dirty="0"/>
          </a:p>
        </p:txBody>
      </p:sp>
      <p:sp>
        <p:nvSpPr>
          <p:cNvPr id="24" name="Text 22"/>
          <p:cNvSpPr/>
          <p:nvPr/>
        </p:nvSpPr>
        <p:spPr>
          <a:xfrm>
            <a:off x="822960" y="5029200"/>
            <a:ext cx="10543032" cy="36576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Regeneration is deterministic — a second run must produce a zero git diff. Never hand-edit a golden.</a:t>
            </a:r>
            <a:endParaRPr lang="en-US" sz="1300" dirty="0"/>
          </a:p>
        </p:txBody>
      </p:sp>
      <p:sp>
        <p:nvSpPr>
          <p:cNvPr id="25" name="Shape 23"/>
          <p:cNvSpPr/>
          <p:nvPr/>
        </p:nvSpPr>
        <p:spPr>
          <a:xfrm>
            <a:off x="548640" y="5532120"/>
            <a:ext cx="11091672" cy="868680"/>
          </a:xfrm>
          <a:prstGeom prst="roundRect">
            <a:avLst>
              <a:gd name="adj" fmla="val 7368"/>
            </a:avLst>
          </a:prstGeom>
          <a:solidFill>
            <a:srgbClr val="8E2F2F"/>
          </a:solidFill>
          <a:ln w="9525">
            <a:solidFill>
              <a:srgbClr val="C9A227"/>
            </a:solidFill>
            <a:prstDash val="solid"/>
          </a:ln>
        </p:spPr>
      </p:sp>
      <p:sp>
        <p:nvSpPr>
          <p:cNvPr id="26" name="Text 24"/>
          <p:cNvSpPr/>
          <p:nvPr/>
        </p:nvSpPr>
        <p:spPr>
          <a:xfrm>
            <a:off x="822960" y="5532120"/>
            <a:ext cx="10543032" cy="868680"/>
          </a:xfrm>
          <a:prstGeom prst="rect">
            <a:avLst/>
          </a:prstGeom>
          <a:noFill/>
          <a:ln/>
        </p:spPr>
        <p:txBody>
          <a:bodyPr wrap="square" lIns="0" tIns="0" rIns="0" bIns="0" rtlCol="0" anchor="ctr"/>
          <a:lstStyle/>
          <a:p>
            <a:pPr algn="ctr" indent="0" marL="0">
              <a:buNone/>
            </a:pPr>
            <a:r>
              <a:rPr lang="en-US" sz="1500" b="1" dirty="0">
                <a:solidFill>
                  <a:srgbClr val="E9E2D0"/>
                </a:solidFill>
                <a:latin typeface="Calibri" pitchFamily="34" charset="0"/>
                <a:ea typeface="Calibri" pitchFamily="34" charset="-122"/>
                <a:cs typeface="Calibri" pitchFamily="34" charset="-120"/>
              </a:rPr>
              <a:t>The receipt: this corpus carried the engine across a full TypeScript → Rust rewrite. The tests outlived the language.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CLOSE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Three decisions, compounding</a:t>
            </a:r>
            <a:endParaRPr lang="en-US" sz="3000" dirty="0"/>
          </a:p>
        </p:txBody>
      </p:sp>
      <p:sp>
        <p:nvSpPr>
          <p:cNvPr id="4" name="Shape 2"/>
          <p:cNvSpPr/>
          <p:nvPr/>
        </p:nvSpPr>
        <p:spPr>
          <a:xfrm>
            <a:off x="548640" y="1737360"/>
            <a:ext cx="3566160" cy="2651760"/>
          </a:xfrm>
          <a:prstGeom prst="roundRect">
            <a:avLst>
              <a:gd name="adj" fmla="val 2414"/>
            </a:avLst>
          </a:prstGeom>
          <a:solidFill>
            <a:srgbClr val="221C31"/>
          </a:solidFill>
          <a:ln w="9525">
            <a:solidFill>
              <a:srgbClr val="3A3152"/>
            </a:solidFill>
            <a:prstDash val="solid"/>
          </a:ln>
        </p:spPr>
      </p:sp>
      <p:sp>
        <p:nvSpPr>
          <p:cNvPr id="5" name="Text 3"/>
          <p:cNvSpPr/>
          <p:nvPr/>
        </p:nvSpPr>
        <p:spPr>
          <a:xfrm>
            <a:off x="548640" y="1965960"/>
            <a:ext cx="3566160" cy="868680"/>
          </a:xfrm>
          <a:prstGeom prst="rect">
            <a:avLst/>
          </a:prstGeom>
          <a:noFill/>
          <a:ln/>
        </p:spPr>
        <p:txBody>
          <a:bodyPr wrap="square" lIns="0" tIns="0" rIns="0" bIns="0" rtlCol="0" anchor="ctr"/>
          <a:lstStyle/>
          <a:p>
            <a:pPr algn="ctr" indent="0" marL="0">
              <a:buNone/>
            </a:pPr>
            <a:r>
              <a:rPr lang="en-US" sz="4800" b="1" dirty="0">
                <a:solidFill>
                  <a:srgbClr val="C9A227"/>
                </a:solidFill>
                <a:latin typeface="Cambria" pitchFamily="34" charset="0"/>
                <a:ea typeface="Cambria" pitchFamily="34" charset="-122"/>
                <a:cs typeface="Cambria" pitchFamily="34" charset="-120"/>
              </a:rPr>
              <a:t>1</a:t>
            </a:r>
            <a:endParaRPr lang="en-US" sz="4800" dirty="0"/>
          </a:p>
        </p:txBody>
      </p:sp>
      <p:sp>
        <p:nvSpPr>
          <p:cNvPr id="6" name="Text 4"/>
          <p:cNvSpPr/>
          <p:nvPr/>
        </p:nvSpPr>
        <p:spPr>
          <a:xfrm>
            <a:off x="731520" y="2926080"/>
            <a:ext cx="3200400" cy="411480"/>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One deterministic core</a:t>
            </a:r>
            <a:endParaRPr lang="en-US" sz="1700" dirty="0"/>
          </a:p>
        </p:txBody>
      </p:sp>
      <p:sp>
        <p:nvSpPr>
          <p:cNvPr id="7" name="Text 5"/>
          <p:cNvSpPr/>
          <p:nvPr/>
        </p:nvSpPr>
        <p:spPr>
          <a:xfrm>
            <a:off x="822960" y="3383280"/>
            <a:ext cx="3017520" cy="8686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seeded RNG, no clock, no IO — the rules in exactly one place</a:t>
            </a:r>
            <a:endParaRPr lang="en-US" sz="1200" dirty="0"/>
          </a:p>
        </p:txBody>
      </p:sp>
      <p:sp>
        <p:nvSpPr>
          <p:cNvPr id="8" name="Shape 6"/>
          <p:cNvSpPr/>
          <p:nvPr/>
        </p:nvSpPr>
        <p:spPr>
          <a:xfrm>
            <a:off x="4370832" y="1737360"/>
            <a:ext cx="3566160" cy="2651760"/>
          </a:xfrm>
          <a:prstGeom prst="roundRect">
            <a:avLst>
              <a:gd name="adj" fmla="val 2414"/>
            </a:avLst>
          </a:prstGeom>
          <a:solidFill>
            <a:srgbClr val="221C31"/>
          </a:solidFill>
          <a:ln w="9525">
            <a:solidFill>
              <a:srgbClr val="3A3152"/>
            </a:solidFill>
            <a:prstDash val="solid"/>
          </a:ln>
        </p:spPr>
      </p:sp>
      <p:sp>
        <p:nvSpPr>
          <p:cNvPr id="9" name="Text 7"/>
          <p:cNvSpPr/>
          <p:nvPr/>
        </p:nvSpPr>
        <p:spPr>
          <a:xfrm>
            <a:off x="4370832" y="1965960"/>
            <a:ext cx="3566160" cy="868680"/>
          </a:xfrm>
          <a:prstGeom prst="rect">
            <a:avLst/>
          </a:prstGeom>
          <a:noFill/>
          <a:ln/>
        </p:spPr>
        <p:txBody>
          <a:bodyPr wrap="square" lIns="0" tIns="0" rIns="0" bIns="0" rtlCol="0" anchor="ctr"/>
          <a:lstStyle/>
          <a:p>
            <a:pPr algn="ctr" indent="0" marL="0">
              <a:buNone/>
            </a:pPr>
            <a:r>
              <a:rPr lang="en-US" sz="4800" b="1" dirty="0">
                <a:solidFill>
                  <a:srgbClr val="C9A227"/>
                </a:solidFill>
                <a:latin typeface="Cambria" pitchFamily="34" charset="0"/>
                <a:ea typeface="Cambria" pitchFamily="34" charset="-122"/>
                <a:cs typeface="Cambria" pitchFamily="34" charset="-120"/>
              </a:rPr>
              <a:t>2</a:t>
            </a:r>
            <a:endParaRPr lang="en-US" sz="4800" dirty="0"/>
          </a:p>
        </p:txBody>
      </p:sp>
      <p:sp>
        <p:nvSpPr>
          <p:cNvPr id="10" name="Text 8"/>
          <p:cNvSpPr/>
          <p:nvPr/>
        </p:nvSpPr>
        <p:spPr>
          <a:xfrm>
            <a:off x="4553712" y="2926080"/>
            <a:ext cx="3200400" cy="411480"/>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Closed vocabularies</a:t>
            </a:r>
            <a:endParaRPr lang="en-US" sz="1700" dirty="0"/>
          </a:p>
        </p:txBody>
      </p:sp>
      <p:sp>
        <p:nvSpPr>
          <p:cNvPr id="11" name="Text 9"/>
          <p:cNvSpPr/>
          <p:nvPr/>
        </p:nvSpPr>
        <p:spPr>
          <a:xfrm>
            <a:off x="4645152" y="3383280"/>
            <a:ext cx="3017520" cy="8686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commands in, effects out, JSON seams — at every boundary</a:t>
            </a:r>
            <a:endParaRPr lang="en-US" sz="1200" dirty="0"/>
          </a:p>
        </p:txBody>
      </p:sp>
      <p:sp>
        <p:nvSpPr>
          <p:cNvPr id="12" name="Shape 10"/>
          <p:cNvSpPr/>
          <p:nvPr/>
        </p:nvSpPr>
        <p:spPr>
          <a:xfrm>
            <a:off x="8193024" y="1737360"/>
            <a:ext cx="3566160" cy="2651760"/>
          </a:xfrm>
          <a:prstGeom prst="roundRect">
            <a:avLst>
              <a:gd name="adj" fmla="val 2414"/>
            </a:avLst>
          </a:prstGeom>
          <a:solidFill>
            <a:srgbClr val="221C31"/>
          </a:solidFill>
          <a:ln w="9525">
            <a:solidFill>
              <a:srgbClr val="3A3152"/>
            </a:solidFill>
            <a:prstDash val="solid"/>
          </a:ln>
        </p:spPr>
      </p:sp>
      <p:sp>
        <p:nvSpPr>
          <p:cNvPr id="13" name="Text 11"/>
          <p:cNvSpPr/>
          <p:nvPr/>
        </p:nvSpPr>
        <p:spPr>
          <a:xfrm>
            <a:off x="8193024" y="1965960"/>
            <a:ext cx="3566160" cy="868680"/>
          </a:xfrm>
          <a:prstGeom prst="rect">
            <a:avLst/>
          </a:prstGeom>
          <a:noFill/>
          <a:ln/>
        </p:spPr>
        <p:txBody>
          <a:bodyPr wrap="square" lIns="0" tIns="0" rIns="0" bIns="0" rtlCol="0" anchor="ctr"/>
          <a:lstStyle/>
          <a:p>
            <a:pPr algn="ctr" indent="0" marL="0">
              <a:buNone/>
            </a:pPr>
            <a:r>
              <a:rPr lang="en-US" sz="4800" b="1" dirty="0">
                <a:solidFill>
                  <a:srgbClr val="C9A227"/>
                </a:solidFill>
                <a:latin typeface="Cambria" pitchFamily="34" charset="0"/>
                <a:ea typeface="Cambria" pitchFamily="34" charset="-122"/>
                <a:cs typeface="Cambria" pitchFamily="34" charset="-120"/>
              </a:rPr>
              <a:t>3</a:t>
            </a:r>
            <a:endParaRPr lang="en-US" sz="4800" dirty="0"/>
          </a:p>
        </p:txBody>
      </p:sp>
      <p:sp>
        <p:nvSpPr>
          <p:cNvPr id="14" name="Text 12"/>
          <p:cNvSpPr/>
          <p:nvPr/>
        </p:nvSpPr>
        <p:spPr>
          <a:xfrm>
            <a:off x="8375904" y="2926080"/>
            <a:ext cx="3200400" cy="411480"/>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Goldens on everything</a:t>
            </a:r>
            <a:endParaRPr lang="en-US" sz="1700" dirty="0"/>
          </a:p>
        </p:txBody>
      </p:sp>
      <p:sp>
        <p:nvSpPr>
          <p:cNvPr id="15" name="Text 13"/>
          <p:cNvSpPr/>
          <p:nvPr/>
        </p:nvSpPr>
        <p:spPr>
          <a:xfrm>
            <a:off x="8467344" y="3383280"/>
            <a:ext cx="3017520" cy="8686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observable behavior pinned; changes are reviewable diffs</a:t>
            </a:r>
            <a:endParaRPr lang="en-US" sz="1200" dirty="0"/>
          </a:p>
        </p:txBody>
      </p:sp>
      <p:sp>
        <p:nvSpPr>
          <p:cNvPr id="16" name="Text 14"/>
          <p:cNvSpPr/>
          <p:nvPr/>
        </p:nvSpPr>
        <p:spPr>
          <a:xfrm>
            <a:off x="822960" y="4937760"/>
            <a:ext cx="10543032" cy="548640"/>
          </a:xfrm>
          <a:prstGeom prst="rect">
            <a:avLst/>
          </a:prstGeom>
          <a:noFill/>
          <a:ln/>
        </p:spPr>
        <p:txBody>
          <a:bodyPr wrap="square" lIns="0" tIns="0" rIns="0" bIns="0" rtlCol="0" anchor="ctr"/>
          <a:lstStyle/>
          <a:p>
            <a:pPr algn="ctr" indent="0" marL="0">
              <a:buNone/>
            </a:pPr>
            <a:r>
              <a:rPr lang="en-US" sz="1600" i="1" dirty="0">
                <a:solidFill>
                  <a:srgbClr val="E9E2D0"/>
                </a:solidFill>
                <a:latin typeface="Calibri" pitchFamily="34" charset="0"/>
                <a:ea typeface="Calibri" pitchFamily="34" charset="-122"/>
                <a:cs typeface="Calibri" pitchFamily="34" charset="-120"/>
              </a:rPr>
              <a:t>Everything demo-worthy — the no-rollback multiplayer, the cheap ports, the physical board — is interest on those three.</a:t>
            </a:r>
            <a:endParaRPr lang="en-US" sz="1600" dirty="0"/>
          </a:p>
        </p:txBody>
      </p:sp>
      <p:sp>
        <p:nvSpPr>
          <p:cNvPr id="17" name="Text 15"/>
          <p:cNvSpPr/>
          <p:nvPr/>
        </p:nvSpPr>
        <p:spPr>
          <a:xfrm>
            <a:off x="548640" y="6035040"/>
            <a:ext cx="11091672" cy="320040"/>
          </a:xfrm>
          <a:prstGeom prst="rect">
            <a:avLst/>
          </a:prstGeom>
          <a:noFill/>
          <a:ln/>
        </p:spPr>
        <p:txBody>
          <a:bodyPr wrap="square" lIns="0" tIns="0" rIns="0" bIns="0" rtlCol="0" anchor="ctr"/>
          <a:lstStyle/>
          <a:p>
            <a:pPr algn="ctr" indent="0" marL="0">
              <a:buNone/>
            </a:pPr>
            <a:r>
              <a:rPr lang="en-US" sz="1200" dirty="0">
                <a:solidFill>
                  <a:srgbClr val="9A92A8"/>
                </a:solidFill>
                <a:latin typeface="Courier New" pitchFamily="34" charset="0"/>
                <a:ea typeface="Courier New" pitchFamily="34" charset="-122"/>
                <a:cs typeface="Courier New" pitchFamily="34" charset="-120"/>
              </a:rPr>
              <a:t>github.com/daniel0mullins/WickedWays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Engine, Many Faces — systems tour</dc:title>
  <dc:subject>PptxGenJS Presentation</dc:subject>
  <dc:creator>Wicked Ways</dc:creator>
  <cp:lastModifiedBy>Wicked Ways</cp:lastModifiedBy>
  <cp:revision>1</cp:revision>
  <dcterms:created xsi:type="dcterms:W3CDTF">2026-08-04T18:12:07Z</dcterms:created>
  <dcterms:modified xsi:type="dcterms:W3CDTF">2026-08-04T18:12:07Z</dcterms:modified>
</cp:coreProperties>
</file>