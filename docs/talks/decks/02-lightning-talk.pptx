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of setup: Wicked Ways is a turn-based horror RPG; the interesting part is the architecture. 8 content slides, about a minute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disease everyone has: multiplatform games grow multiple implementations of their own rules. Server has the real ones; the client re-implements an approximation so the UI feels instant — it guesses each outcome ('prediction') and must undo and re-simulate when the server disagrees ('rollback'); the tutorial hardcodes a fake; the port diverges forever. Each copy is a place for rules to disagree — and the disagreement is where the worst bugs live. Wicked Ways refuses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~24,000 lines of Rust: world state, turn loop, combat, mechanics, sync. Around it: browser client (core compiled to wasm, linked directly), native desktop (same client crate in a webview shell), multiplayer room server (axum, same engine per campaign), an embeddable wasm handle for JS hosts (JSON in/out), and a physical tabletop — e-ink tiles, NFC pieces, driven over serial by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enforced not aspirational. Same genesis + same log = same world, bit for bit, on any machine. New wrinkle that proves the rule: physical dice at the table enter the engine as recorded commands on the log, so even real dice keep replays exact. This single property is what makes everything on the next slides cheap instead of heroic.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in: a fixed, enumerated set. Effects out: campaign content and mods never touch state — they return requests from a fixed menu, and the engine applies each one itself through its own guarded setters, clamping values into legal range. Campaign content is TOML (a plain-text config format) compiled into a small no-loops scripting language stored as data. Consequence: user content cannot corrupt state, cannot introduce nondeterminism, cannot create a second place where rules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pinning: 'goldens' are recorded known-good outputs committed to the repo — 256 of them, four byte-for-byte CI checks. Accidental change = CI fails. Intended change = UPDATE_GOLDENS=1, review the behavioral diff like code, commit it. Proof it is not theater: the engine was rewritten TS to Rust against these goldens until output matched byte-for-byte, then the TS was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Receipts. Multiplayer with zero client-side game logic; convergence by construction. New surfaces are bridges, not rewrites: desktop is a thin shell; the physical tabletop is ~1,400 lines of protocol adapter. Demo beat here if live: two browser tabs on one room server, or the controller with --dry-run.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slide — never cut it, it buys credibility. The disciplines are constraints you feel daily. You pay in ceremony at the boundaries; you get paid in never debugging a cross-surface rules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domain logic will ever live on more than one surface, decide early that it lives in exactly one place, and enforce it with determinism, closed vocabularies, and golden pins. Everything else is downstream of that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01B"/>
        </a:solidFill>
      </p:bgPr>
    </p:bg>
    <p:spTree>
      <p:nvGrpSpPr>
        <p:cNvPr id="1" name=""/>
        <p:cNvGrpSpPr/>
        <p:nvPr/>
      </p:nvGrpSpPr>
      <p:grpSpPr>
        <a:xfrm>
          <a:off x="0" y="0"/>
          <a:ext cx="0" cy="0"/>
          <a:chOff x="0" y="0"/>
          <a:chExt cx="0" cy="0"/>
        </a:xfrm>
      </p:grpSpPr>
      <p:sp>
        <p:nvSpPr>
          <p:cNvPr id="2" name="Shape 0"/>
          <p:cNvSpPr/>
          <p:nvPr/>
        </p:nvSpPr>
        <p:spPr>
          <a:xfrm>
            <a:off x="9235440" y="2170786"/>
            <a:ext cx="0" cy="1349654"/>
          </a:xfrm>
          <a:prstGeom prst="line">
            <a:avLst/>
          </a:prstGeom>
          <a:noFill/>
          <a:ln w="19050">
            <a:solidFill>
              <a:srgbClr val="3A3152"/>
            </a:solidFill>
            <a:prstDash val="solid"/>
          </a:ln>
        </p:spPr>
      </p:sp>
      <p:sp>
        <p:nvSpPr>
          <p:cNvPr id="3" name="Shape 1"/>
          <p:cNvSpPr/>
          <p:nvPr/>
        </p:nvSpPr>
        <p:spPr>
          <a:xfrm>
            <a:off x="7245864" y="3103374"/>
            <a:ext cx="1989576" cy="417066"/>
          </a:xfrm>
          <a:prstGeom prst="line">
            <a:avLst/>
          </a:prstGeom>
          <a:noFill/>
          <a:ln w="19050">
            <a:solidFill>
              <a:srgbClr val="3A3152"/>
            </a:solidFill>
            <a:prstDash val="solid"/>
          </a:ln>
        </p:spPr>
      </p:sp>
      <p:sp>
        <p:nvSpPr>
          <p:cNvPr id="4" name="Shape 2"/>
          <p:cNvSpPr/>
          <p:nvPr/>
        </p:nvSpPr>
        <p:spPr>
          <a:xfrm flipH="1">
            <a:off x="9235440" y="3103374"/>
            <a:ext cx="1989576" cy="417066"/>
          </a:xfrm>
          <a:prstGeom prst="line">
            <a:avLst/>
          </a:prstGeom>
          <a:noFill/>
          <a:ln w="19050">
            <a:solidFill>
              <a:srgbClr val="3A3152"/>
            </a:solidFill>
            <a:prstDash val="solid"/>
          </a:ln>
        </p:spPr>
      </p:sp>
      <p:sp>
        <p:nvSpPr>
          <p:cNvPr id="5" name="Shape 3"/>
          <p:cNvSpPr/>
          <p:nvPr/>
        </p:nvSpPr>
        <p:spPr>
          <a:xfrm flipH="1">
            <a:off x="7245864" y="3520440"/>
            <a:ext cx="1989576" cy="417066"/>
          </a:xfrm>
          <a:prstGeom prst="line">
            <a:avLst/>
          </a:prstGeom>
          <a:noFill/>
          <a:ln w="19050">
            <a:solidFill>
              <a:srgbClr val="3A3152"/>
            </a:solidFill>
            <a:prstDash val="solid"/>
          </a:ln>
        </p:spPr>
      </p:sp>
      <p:sp>
        <p:nvSpPr>
          <p:cNvPr id="6" name="Shape 4"/>
          <p:cNvSpPr/>
          <p:nvPr/>
        </p:nvSpPr>
        <p:spPr>
          <a:xfrm>
            <a:off x="9235440" y="3520440"/>
            <a:ext cx="1989576" cy="417066"/>
          </a:xfrm>
          <a:prstGeom prst="line">
            <a:avLst/>
          </a:prstGeom>
          <a:noFill/>
          <a:ln w="19050">
            <a:solidFill>
              <a:srgbClr val="3A3152"/>
            </a:solidFill>
            <a:prstDash val="solid"/>
          </a:ln>
        </p:spPr>
      </p:sp>
      <p:sp>
        <p:nvSpPr>
          <p:cNvPr id="7" name="Shape 5"/>
          <p:cNvSpPr/>
          <p:nvPr/>
        </p:nvSpPr>
        <p:spPr>
          <a:xfrm>
            <a:off x="8527694" y="2812694"/>
            <a:ext cx="1415491" cy="1415491"/>
          </a:xfrm>
          <a:prstGeom prst="ellipse">
            <a:avLst/>
          </a:prstGeom>
          <a:solidFill>
            <a:srgbClr val="8E2F2F"/>
          </a:solidFill>
          <a:ln w="19050">
            <a:solidFill>
              <a:srgbClr val="C9A227"/>
            </a:solidFill>
            <a:prstDash val="solid"/>
          </a:ln>
        </p:spPr>
      </p:sp>
      <p:sp>
        <p:nvSpPr>
          <p:cNvPr id="8" name="Text 6"/>
          <p:cNvSpPr/>
          <p:nvPr/>
        </p:nvSpPr>
        <p:spPr>
          <a:xfrm>
            <a:off x="8527694" y="3283428"/>
            <a:ext cx="1415491" cy="263347"/>
          </a:xfrm>
          <a:prstGeom prst="rect">
            <a:avLst/>
          </a:prstGeom>
          <a:noFill/>
          <a:ln/>
        </p:spPr>
        <p:txBody>
          <a:bodyPr wrap="square" lIns="0" tIns="0" rIns="0" bIns="0" rtlCol="0" anchor="ctr"/>
          <a:lstStyle/>
          <a:p>
            <a:pPr algn="ctr" indent="0" marL="0">
              <a:buNone/>
            </a:pPr>
            <a:r>
              <a:rPr lang="en-US" sz="864" b="1" dirty="0">
                <a:solidFill>
                  <a:srgbClr val="E9E2D0"/>
                </a:solidFill>
                <a:latin typeface="Courier New" pitchFamily="34" charset="0"/>
                <a:ea typeface="Courier New" pitchFamily="34" charset="-122"/>
                <a:cs typeface="Courier New" pitchFamily="34" charset="-120"/>
              </a:rPr>
              <a:t>wickedways-core</a:t>
            </a:r>
            <a:endParaRPr lang="en-US" sz="864" dirty="0"/>
          </a:p>
        </p:txBody>
      </p:sp>
      <p:sp>
        <p:nvSpPr>
          <p:cNvPr id="9" name="Text 7"/>
          <p:cNvSpPr/>
          <p:nvPr/>
        </p:nvSpPr>
        <p:spPr>
          <a:xfrm>
            <a:off x="8344814" y="3533607"/>
            <a:ext cx="1781251" cy="230429"/>
          </a:xfrm>
          <a:prstGeom prst="rect">
            <a:avLst/>
          </a:prstGeom>
          <a:noFill/>
          <a:ln/>
        </p:spPr>
        <p:txBody>
          <a:bodyPr wrap="square" lIns="0" tIns="0" rIns="0" bIns="0" rtlCol="0" anchor="ctr"/>
          <a:lstStyle/>
          <a:p>
            <a:pPr algn="ctr" indent="0" marL="0">
              <a:buNone/>
            </a:pPr>
            <a:r>
              <a:rPr lang="en-US" sz="684" i="1" dirty="0">
                <a:solidFill>
                  <a:srgbClr val="E9E2D0"/>
                </a:solidFill>
                <a:latin typeface="Calibri" pitchFamily="34" charset="0"/>
                <a:ea typeface="Calibri" pitchFamily="34" charset="-122"/>
                <a:cs typeface="Calibri" pitchFamily="34" charset="-120"/>
              </a:rPr>
              <a:t>~24k lines · no_std Rust</a:t>
            </a:r>
            <a:endParaRPr lang="en-US" sz="684" dirty="0"/>
          </a:p>
        </p:txBody>
      </p:sp>
      <p:sp>
        <p:nvSpPr>
          <p:cNvPr id="10" name="Shape 8"/>
          <p:cNvSpPr/>
          <p:nvPr/>
        </p:nvSpPr>
        <p:spPr>
          <a:xfrm>
            <a:off x="8978676" y="1914022"/>
            <a:ext cx="513527" cy="513527"/>
          </a:xfrm>
          <a:prstGeom prst="ellipse">
            <a:avLst/>
          </a:prstGeom>
          <a:solidFill>
            <a:srgbClr val="2B2342"/>
          </a:solidFill>
          <a:ln w="9525">
            <a:solidFill>
              <a:srgbClr val="3A3152"/>
            </a:solidFill>
            <a:prstDash val="solid"/>
          </a:ln>
        </p:spPr>
      </p:sp>
      <p:pic>
        <p:nvPicPr>
          <p:cNvPr id="11" name="Image 0" descr="/tmp/claude-0/-home-user-WickedWays/bfe20d4f-91dd-58c9-a5c6-92b3d7767e5d/scratchpad/decks/icons/monitor.png">    </p:cNvPr>
          <p:cNvPicPr>
            <a:picLocks noChangeAspect="1"/>
          </p:cNvPicPr>
          <p:nvPr/>
        </p:nvPicPr>
        <p:blipFill>
          <a:blip r:embed="rId1"/>
          <a:stretch>
            <a:fillRect/>
          </a:stretch>
        </p:blipFill>
        <p:spPr>
          <a:xfrm>
            <a:off x="9101923" y="2037269"/>
            <a:ext cx="267034" cy="267034"/>
          </a:xfrm>
          <a:prstGeom prst="rect">
            <a:avLst/>
          </a:prstGeom>
        </p:spPr>
      </p:pic>
      <p:sp>
        <p:nvSpPr>
          <p:cNvPr id="12" name="Text 9"/>
          <p:cNvSpPr/>
          <p:nvPr/>
        </p:nvSpPr>
        <p:spPr>
          <a:xfrm>
            <a:off x="8366760" y="1548262"/>
            <a:ext cx="1737360" cy="320040"/>
          </a:xfrm>
          <a:prstGeom prst="rect">
            <a:avLst/>
          </a:prstGeom>
          <a:noFill/>
          <a:ln/>
        </p:spPr>
        <p:txBody>
          <a:bodyPr wrap="square" lIns="0" tIns="0" rIns="0" bIns="0" rtlCol="0" anchor="ctr"/>
          <a:lstStyle/>
          <a:p>
            <a:pPr algn="ctr" indent="0" marL="0">
              <a:buNone/>
            </a:pPr>
            <a:r>
              <a:rPr lang="en-US" sz="792" dirty="0">
                <a:solidFill>
                  <a:srgbClr val="E9E2D0"/>
                </a:solidFill>
                <a:latin typeface="Calibri" pitchFamily="34" charset="0"/>
                <a:ea typeface="Calibri" pitchFamily="34" charset="-122"/>
                <a:cs typeface="Calibri" pitchFamily="34" charset="-120"/>
              </a:rPr>
              <a:t>Browser (wasm)</a:t>
            </a:r>
            <a:endParaRPr lang="en-US" sz="792" dirty="0"/>
          </a:p>
        </p:txBody>
      </p:sp>
      <p:sp>
        <p:nvSpPr>
          <p:cNvPr id="13" name="Shape 10"/>
          <p:cNvSpPr/>
          <p:nvPr/>
        </p:nvSpPr>
        <p:spPr>
          <a:xfrm>
            <a:off x="6989100" y="2846610"/>
            <a:ext cx="513527" cy="513527"/>
          </a:xfrm>
          <a:prstGeom prst="ellipse">
            <a:avLst/>
          </a:prstGeom>
          <a:solidFill>
            <a:srgbClr val="2B2342"/>
          </a:solidFill>
          <a:ln w="9525">
            <a:solidFill>
              <a:srgbClr val="3A3152"/>
            </a:solidFill>
            <a:prstDash val="solid"/>
          </a:ln>
        </p:spPr>
      </p:sp>
      <p:pic>
        <p:nvPicPr>
          <p:cNvPr id="14" name="Image 1" descr="/tmp/claude-0/-home-user-WickedWays/bfe20d4f-91dd-58c9-a5c6-92b3d7767e5d/scratchpad/decks/icons/harddrive.png">    </p:cNvPr>
          <p:cNvPicPr>
            <a:picLocks noChangeAspect="1"/>
          </p:cNvPicPr>
          <p:nvPr/>
        </p:nvPicPr>
        <p:blipFill>
          <a:blip r:embed="rId2"/>
          <a:stretch>
            <a:fillRect/>
          </a:stretch>
        </p:blipFill>
        <p:spPr>
          <a:xfrm>
            <a:off x="7112347" y="2969857"/>
            <a:ext cx="267034" cy="267034"/>
          </a:xfrm>
          <a:prstGeom prst="rect">
            <a:avLst/>
          </a:prstGeom>
        </p:spPr>
      </p:pic>
      <p:sp>
        <p:nvSpPr>
          <p:cNvPr id="15" name="Text 11"/>
          <p:cNvSpPr/>
          <p:nvPr/>
        </p:nvSpPr>
        <p:spPr>
          <a:xfrm>
            <a:off x="6377184" y="2480850"/>
            <a:ext cx="1737360" cy="320040"/>
          </a:xfrm>
          <a:prstGeom prst="rect">
            <a:avLst/>
          </a:prstGeom>
          <a:noFill/>
          <a:ln/>
        </p:spPr>
        <p:txBody>
          <a:bodyPr wrap="square" lIns="0" tIns="0" rIns="0" bIns="0" rtlCol="0" anchor="ctr"/>
          <a:lstStyle/>
          <a:p>
            <a:pPr algn="ctr" indent="0" marL="0">
              <a:buNone/>
            </a:pPr>
            <a:r>
              <a:rPr lang="en-US" sz="792" dirty="0">
                <a:solidFill>
                  <a:srgbClr val="E9E2D0"/>
                </a:solidFill>
                <a:latin typeface="Calibri" pitchFamily="34" charset="0"/>
                <a:ea typeface="Calibri" pitchFamily="34" charset="-122"/>
                <a:cs typeface="Calibri" pitchFamily="34" charset="-120"/>
              </a:rPr>
              <a:t>Desktop shell</a:t>
            </a:r>
            <a:endParaRPr lang="en-US" sz="792" dirty="0"/>
          </a:p>
        </p:txBody>
      </p:sp>
      <p:sp>
        <p:nvSpPr>
          <p:cNvPr id="16" name="Shape 12"/>
          <p:cNvSpPr/>
          <p:nvPr/>
        </p:nvSpPr>
        <p:spPr>
          <a:xfrm>
            <a:off x="10968253" y="2846610"/>
            <a:ext cx="513527" cy="513527"/>
          </a:xfrm>
          <a:prstGeom prst="ellipse">
            <a:avLst/>
          </a:prstGeom>
          <a:solidFill>
            <a:srgbClr val="2B2342"/>
          </a:solidFill>
          <a:ln w="9525">
            <a:solidFill>
              <a:srgbClr val="3A3152"/>
            </a:solidFill>
            <a:prstDash val="solid"/>
          </a:ln>
        </p:spPr>
      </p:sp>
      <p:pic>
        <p:nvPicPr>
          <p:cNvPr id="17" name="Image 2" descr="/tmp/claude-0/-home-user-WickedWays/bfe20d4f-91dd-58c9-a5c6-92b3d7767e5d/scratchpad/decks/icons/server.png">    </p:cNvPr>
          <p:cNvPicPr>
            <a:picLocks noChangeAspect="1"/>
          </p:cNvPicPr>
          <p:nvPr/>
        </p:nvPicPr>
        <p:blipFill>
          <a:blip r:embed="rId3"/>
          <a:stretch>
            <a:fillRect/>
          </a:stretch>
        </p:blipFill>
        <p:spPr>
          <a:xfrm>
            <a:off x="11091499" y="2969857"/>
            <a:ext cx="267034" cy="267034"/>
          </a:xfrm>
          <a:prstGeom prst="rect">
            <a:avLst/>
          </a:prstGeom>
        </p:spPr>
      </p:pic>
      <p:sp>
        <p:nvSpPr>
          <p:cNvPr id="18" name="Text 13"/>
          <p:cNvSpPr/>
          <p:nvPr/>
        </p:nvSpPr>
        <p:spPr>
          <a:xfrm>
            <a:off x="10356336" y="2480850"/>
            <a:ext cx="1737360" cy="320040"/>
          </a:xfrm>
          <a:prstGeom prst="rect">
            <a:avLst/>
          </a:prstGeom>
          <a:noFill/>
          <a:ln/>
        </p:spPr>
        <p:txBody>
          <a:bodyPr wrap="square" lIns="0" tIns="0" rIns="0" bIns="0" rtlCol="0" anchor="ctr"/>
          <a:lstStyle/>
          <a:p>
            <a:pPr algn="ctr" indent="0" marL="0">
              <a:buNone/>
            </a:pPr>
            <a:r>
              <a:rPr lang="en-US" sz="792" dirty="0">
                <a:solidFill>
                  <a:srgbClr val="E9E2D0"/>
                </a:solidFill>
                <a:latin typeface="Calibri" pitchFamily="34" charset="0"/>
                <a:ea typeface="Calibri" pitchFamily="34" charset="-122"/>
                <a:cs typeface="Calibri" pitchFamily="34" charset="-120"/>
              </a:rPr>
              <a:t>Room server</a:t>
            </a:r>
            <a:endParaRPr lang="en-US" sz="792" dirty="0"/>
          </a:p>
        </p:txBody>
      </p:sp>
      <p:sp>
        <p:nvSpPr>
          <p:cNvPr id="19" name="Shape 14"/>
          <p:cNvSpPr/>
          <p:nvPr/>
        </p:nvSpPr>
        <p:spPr>
          <a:xfrm>
            <a:off x="6989100" y="3680743"/>
            <a:ext cx="513527" cy="513527"/>
          </a:xfrm>
          <a:prstGeom prst="ellipse">
            <a:avLst/>
          </a:prstGeom>
          <a:solidFill>
            <a:srgbClr val="2B2342"/>
          </a:solidFill>
          <a:ln w="9525">
            <a:solidFill>
              <a:srgbClr val="3A3152"/>
            </a:solidFill>
            <a:prstDash val="solid"/>
          </a:ln>
        </p:spPr>
      </p:sp>
      <p:pic>
        <p:nvPicPr>
          <p:cNvPr id="20" name="Image 3" descr="/tmp/claude-0/-home-user-WickedWays/bfe20d4f-91dd-58c9-a5c6-92b3d7767e5d/scratchpad/decks/icons/code.png">    </p:cNvPr>
          <p:cNvPicPr>
            <a:picLocks noChangeAspect="1"/>
          </p:cNvPicPr>
          <p:nvPr/>
        </p:nvPicPr>
        <p:blipFill>
          <a:blip r:embed="rId4"/>
          <a:stretch>
            <a:fillRect/>
          </a:stretch>
        </p:blipFill>
        <p:spPr>
          <a:xfrm>
            <a:off x="7112347" y="3803989"/>
            <a:ext cx="267034" cy="267034"/>
          </a:xfrm>
          <a:prstGeom prst="rect">
            <a:avLst/>
          </a:prstGeom>
        </p:spPr>
      </p:pic>
      <p:sp>
        <p:nvSpPr>
          <p:cNvPr id="21" name="Text 15"/>
          <p:cNvSpPr/>
          <p:nvPr/>
        </p:nvSpPr>
        <p:spPr>
          <a:xfrm>
            <a:off x="6377184" y="4239990"/>
            <a:ext cx="1737360" cy="320040"/>
          </a:xfrm>
          <a:prstGeom prst="rect">
            <a:avLst/>
          </a:prstGeom>
          <a:noFill/>
          <a:ln/>
        </p:spPr>
        <p:txBody>
          <a:bodyPr wrap="square" lIns="0" tIns="0" rIns="0" bIns="0" rtlCol="0" anchor="ctr"/>
          <a:lstStyle/>
          <a:p>
            <a:pPr algn="ctr" indent="0" marL="0">
              <a:buNone/>
            </a:pPr>
            <a:r>
              <a:rPr lang="en-US" sz="792" dirty="0">
                <a:solidFill>
                  <a:srgbClr val="E9E2D0"/>
                </a:solidFill>
                <a:latin typeface="Calibri" pitchFamily="34" charset="0"/>
                <a:ea typeface="Calibri" pitchFamily="34" charset="-122"/>
                <a:cs typeface="Calibri" pitchFamily="34" charset="-120"/>
              </a:rPr>
              <a:t>JS embedding</a:t>
            </a:r>
            <a:endParaRPr lang="en-US" sz="792" dirty="0"/>
          </a:p>
        </p:txBody>
      </p:sp>
      <p:sp>
        <p:nvSpPr>
          <p:cNvPr id="22" name="Shape 16"/>
          <p:cNvSpPr/>
          <p:nvPr/>
        </p:nvSpPr>
        <p:spPr>
          <a:xfrm>
            <a:off x="10968253" y="3680743"/>
            <a:ext cx="513527" cy="513527"/>
          </a:xfrm>
          <a:prstGeom prst="ellipse">
            <a:avLst/>
          </a:prstGeom>
          <a:solidFill>
            <a:srgbClr val="2B2342"/>
          </a:solidFill>
          <a:ln w="9525">
            <a:solidFill>
              <a:srgbClr val="3A3152"/>
            </a:solidFill>
            <a:prstDash val="solid"/>
          </a:ln>
        </p:spPr>
      </p:sp>
      <p:pic>
        <p:nvPicPr>
          <p:cNvPr id="23" name="Image 4" descr="/tmp/claude-0/-home-user-WickedWays/bfe20d4f-91dd-58c9-a5c6-92b3d7767e5d/scratchpad/decks/icons/cpu_gold.png">    </p:cNvPr>
          <p:cNvPicPr>
            <a:picLocks noChangeAspect="1"/>
          </p:cNvPicPr>
          <p:nvPr/>
        </p:nvPicPr>
        <p:blipFill>
          <a:blip r:embed="rId5"/>
          <a:stretch>
            <a:fillRect/>
          </a:stretch>
        </p:blipFill>
        <p:spPr>
          <a:xfrm>
            <a:off x="11091499" y="3803989"/>
            <a:ext cx="267034" cy="267034"/>
          </a:xfrm>
          <a:prstGeom prst="rect">
            <a:avLst/>
          </a:prstGeom>
        </p:spPr>
      </p:pic>
      <p:sp>
        <p:nvSpPr>
          <p:cNvPr id="24" name="Text 17"/>
          <p:cNvSpPr/>
          <p:nvPr/>
        </p:nvSpPr>
        <p:spPr>
          <a:xfrm>
            <a:off x="10356336" y="4239990"/>
            <a:ext cx="1737360" cy="320040"/>
          </a:xfrm>
          <a:prstGeom prst="rect">
            <a:avLst/>
          </a:prstGeom>
          <a:noFill/>
          <a:ln/>
        </p:spPr>
        <p:txBody>
          <a:bodyPr wrap="square" lIns="0" tIns="0" rIns="0" bIns="0" rtlCol="0" anchor="ctr"/>
          <a:lstStyle/>
          <a:p>
            <a:pPr algn="ctr" indent="0" marL="0">
              <a:buNone/>
            </a:pPr>
            <a:r>
              <a:rPr lang="en-US" sz="792" dirty="0">
                <a:solidFill>
                  <a:srgbClr val="E9E2D0"/>
                </a:solidFill>
                <a:latin typeface="Calibri" pitchFamily="34" charset="0"/>
                <a:ea typeface="Calibri" pitchFamily="34" charset="-122"/>
                <a:cs typeface="Calibri" pitchFamily="34" charset="-120"/>
              </a:rPr>
              <a:t>Physical board</a:t>
            </a:r>
            <a:endParaRPr lang="en-US" sz="792" dirty="0"/>
          </a:p>
        </p:txBody>
      </p:sp>
      <p:sp>
        <p:nvSpPr>
          <p:cNvPr id="25" name="Text 18"/>
          <p:cNvSpPr/>
          <p:nvPr/>
        </p:nvSpPr>
        <p:spPr>
          <a:xfrm>
            <a:off x="685800" y="1600200"/>
            <a:ext cx="6400800" cy="274320"/>
          </a:xfrm>
          <a:prstGeom prst="rect">
            <a:avLst/>
          </a:prstGeom>
          <a:noFill/>
          <a:ln/>
        </p:spPr>
        <p:txBody>
          <a:bodyPr wrap="square" lIns="0" tIns="0" rIns="0" bIns="0" rtlCol="0" anchor="ctr"/>
          <a:lstStyle/>
          <a:p>
            <a:pPr indent="0" marL="0">
              <a:buNone/>
            </a:pPr>
            <a:r>
              <a:rPr lang="en-US" sz="1250" b="1" spc="300" kern="0" dirty="0">
                <a:solidFill>
                  <a:srgbClr val="C9A227"/>
                </a:solidFill>
                <a:latin typeface="Calibri" pitchFamily="34" charset="0"/>
                <a:ea typeface="Calibri" pitchFamily="34" charset="-122"/>
                <a:cs typeface="Calibri" pitchFamily="34" charset="-120"/>
              </a:rPr>
              <a:t>WICKED WAYS · LIGHTNING TALK · 7–10 MIN</a:t>
            </a:r>
            <a:endParaRPr lang="en-US" sz="1250" dirty="0"/>
          </a:p>
        </p:txBody>
      </p:sp>
      <p:sp>
        <p:nvSpPr>
          <p:cNvPr id="26" name="Text 19"/>
          <p:cNvSpPr/>
          <p:nvPr/>
        </p:nvSpPr>
        <p:spPr>
          <a:xfrm>
            <a:off x="685800" y="1920240"/>
            <a:ext cx="6766560" cy="2011680"/>
          </a:xfrm>
          <a:prstGeom prst="rect">
            <a:avLst/>
          </a:prstGeom>
          <a:noFill/>
          <a:ln/>
        </p:spPr>
        <p:txBody>
          <a:bodyPr wrap="square" lIns="0" tIns="0" rIns="0" bIns="0" rtlCol="0" anchor="ctr"/>
          <a:lstStyle/>
          <a:p>
            <a:pPr indent="0" marL="0">
              <a:buNone/>
            </a:pPr>
            <a:r>
              <a:rPr lang="en-US" sz="4800" b="1" dirty="0">
                <a:solidFill>
                  <a:srgbClr val="E9E2D0"/>
                </a:solidFill>
                <a:latin typeface="Cambria" pitchFamily="34" charset="0"/>
                <a:ea typeface="Cambria" pitchFamily="34" charset="-122"/>
                <a:cs typeface="Cambria" pitchFamily="34" charset="-120"/>
              </a:rPr>
              <a:t>One Engine to</a:t>
            </a:r>
            <a:endParaRPr lang="en-US" sz="4800" dirty="0"/>
          </a:p>
          <a:p>
            <a:pPr indent="0" marL="0">
              <a:buNone/>
            </a:pPr>
            <a:r>
              <a:rPr lang="en-US" sz="4800" b="1" dirty="0">
                <a:solidFill>
                  <a:srgbClr val="E9E2D0"/>
                </a:solidFill>
                <a:latin typeface="Cambria" pitchFamily="34" charset="0"/>
                <a:ea typeface="Cambria" pitchFamily="34" charset="-122"/>
                <a:cs typeface="Cambria" pitchFamily="34" charset="-120"/>
              </a:rPr>
              <a:t>Rule Them All</a:t>
            </a:r>
            <a:endParaRPr lang="en-US" sz="4800" dirty="0"/>
          </a:p>
        </p:txBody>
      </p:sp>
      <p:sp>
        <p:nvSpPr>
          <p:cNvPr id="27" name="Text 20"/>
          <p:cNvSpPr/>
          <p:nvPr/>
        </p:nvSpPr>
        <p:spPr>
          <a:xfrm>
            <a:off x="685800" y="4069080"/>
            <a:ext cx="6583680" cy="457200"/>
          </a:xfrm>
          <a:prstGeom prst="rect">
            <a:avLst/>
          </a:prstGeom>
          <a:noFill/>
          <a:ln/>
        </p:spPr>
        <p:txBody>
          <a:bodyPr wrap="square" lIns="0" tIns="0" rIns="0" bIns="0" rtlCol="0" anchor="ctr"/>
          <a:lstStyle/>
          <a:p>
            <a:pPr indent="0" marL="0">
              <a:buNone/>
            </a:pPr>
            <a:r>
              <a:rPr lang="en-US" sz="2000" i="1" dirty="0">
                <a:solidFill>
                  <a:srgbClr val="C9A227"/>
                </a:solidFill>
                <a:latin typeface="Cambria" pitchFamily="34" charset="0"/>
                <a:ea typeface="Cambria" pitchFamily="34" charset="-122"/>
                <a:cs typeface="Cambria" pitchFamily="34" charset="-120"/>
              </a:rPr>
              <a:t>Five product surfaces, zero rule duplication</a:t>
            </a:r>
            <a:endParaRPr lang="en-US" sz="2000" dirty="0"/>
          </a:p>
        </p:txBody>
      </p:sp>
      <p:sp>
        <p:nvSpPr>
          <p:cNvPr id="28" name="Text 21"/>
          <p:cNvSpPr/>
          <p:nvPr/>
        </p:nvSpPr>
        <p:spPr>
          <a:xfrm>
            <a:off x="685800" y="6126480"/>
            <a:ext cx="8229600" cy="32004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A turn-based horror-RPG engine in Rust — and the architecture bet behind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Every surface forks the rules</a:t>
            </a:r>
            <a:endParaRPr lang="en-US" sz="3000" dirty="0"/>
          </a:p>
        </p:txBody>
      </p:sp>
      <p:sp>
        <p:nvSpPr>
          <p:cNvPr id="4" name="Shape 2"/>
          <p:cNvSpPr/>
          <p:nvPr/>
        </p:nvSpPr>
        <p:spPr>
          <a:xfrm>
            <a:off x="4864608" y="1600200"/>
            <a:ext cx="2468880" cy="640080"/>
          </a:xfrm>
          <a:prstGeom prst="roundRect">
            <a:avLst>
              <a:gd name="adj" fmla="val 10000"/>
            </a:avLst>
          </a:prstGeom>
          <a:solidFill>
            <a:srgbClr val="8E2F2F"/>
          </a:solidFill>
          <a:ln w="9525">
            <a:solidFill>
              <a:srgbClr val="C9A227"/>
            </a:solidFill>
            <a:prstDash val="solid"/>
          </a:ln>
        </p:spPr>
      </p:sp>
      <p:sp>
        <p:nvSpPr>
          <p:cNvPr id="5" name="Text 3"/>
          <p:cNvSpPr/>
          <p:nvPr/>
        </p:nvSpPr>
        <p:spPr>
          <a:xfrm>
            <a:off x="4864608" y="1600200"/>
            <a:ext cx="2468880" cy="640080"/>
          </a:xfrm>
          <a:prstGeom prst="rect">
            <a:avLst/>
          </a:prstGeom>
          <a:noFill/>
          <a:ln/>
        </p:spPr>
        <p:txBody>
          <a:bodyPr wrap="square" lIns="0" tIns="0" rIns="0" bIns="0" rtlCol="0" anchor="ctr"/>
          <a:lstStyle/>
          <a:p>
            <a:pPr algn="ctr" indent="0" marL="0">
              <a:buNone/>
            </a:pPr>
            <a:r>
              <a:rPr lang="en-US" sz="1600" b="1" spc="200" kern="0" dirty="0">
                <a:solidFill>
                  <a:srgbClr val="E9E2D0"/>
                </a:solidFill>
                <a:latin typeface="Cambria" pitchFamily="34" charset="0"/>
                <a:ea typeface="Cambria" pitchFamily="34" charset="-122"/>
                <a:cs typeface="Cambria" pitchFamily="34" charset="-120"/>
              </a:rPr>
              <a:t>THE RULES</a:t>
            </a:r>
            <a:endParaRPr lang="en-US" sz="1600" dirty="0"/>
          </a:p>
        </p:txBody>
      </p:sp>
      <p:sp>
        <p:nvSpPr>
          <p:cNvPr id="6" name="Shape 4"/>
          <p:cNvSpPr/>
          <p:nvPr/>
        </p:nvSpPr>
        <p:spPr>
          <a:xfrm>
            <a:off x="548640" y="3154680"/>
            <a:ext cx="2606040" cy="1234440"/>
          </a:xfrm>
          <a:prstGeom prst="roundRect">
            <a:avLst>
              <a:gd name="adj" fmla="val 5185"/>
            </a:avLst>
          </a:prstGeom>
          <a:solidFill>
            <a:srgbClr val="221C31"/>
          </a:solidFill>
          <a:ln w="9525">
            <a:solidFill>
              <a:srgbClr val="3A3152"/>
            </a:solidFill>
            <a:prstDash val="solid"/>
          </a:ln>
        </p:spPr>
      </p:sp>
      <p:sp>
        <p:nvSpPr>
          <p:cNvPr id="7" name="Text 5"/>
          <p:cNvSpPr/>
          <p:nvPr/>
        </p:nvSpPr>
        <p:spPr>
          <a:xfrm>
            <a:off x="640080" y="3282696"/>
            <a:ext cx="2423160" cy="365760"/>
          </a:xfrm>
          <a:prstGeom prst="rect">
            <a:avLst/>
          </a:prstGeom>
          <a:noFill/>
          <a:ln/>
        </p:spPr>
        <p:txBody>
          <a:bodyPr wrap="square" lIns="0" tIns="0" rIns="0" bIns="0" rtlCol="0" anchor="ctr"/>
          <a:lstStyle/>
          <a:p>
            <a:pPr algn="ctr" indent="0" marL="0">
              <a:buNone/>
            </a:pPr>
            <a:r>
              <a:rPr lang="en-US" sz="1500" b="1" dirty="0">
                <a:solidFill>
                  <a:srgbClr val="E9E2D0"/>
                </a:solidFill>
                <a:latin typeface="Cambria" pitchFamily="34" charset="0"/>
                <a:ea typeface="Cambria" pitchFamily="34" charset="-122"/>
                <a:cs typeface="Cambria" pitchFamily="34" charset="-120"/>
              </a:rPr>
              <a:t>The server</a:t>
            </a:r>
            <a:endParaRPr lang="en-US" sz="1500" dirty="0"/>
          </a:p>
        </p:txBody>
      </p:sp>
      <p:sp>
        <p:nvSpPr>
          <p:cNvPr id="8" name="Text 6"/>
          <p:cNvSpPr/>
          <p:nvPr/>
        </p:nvSpPr>
        <p:spPr>
          <a:xfrm>
            <a:off x="640080" y="3657600"/>
            <a:ext cx="2423160" cy="32004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the authoritative rules</a:t>
            </a:r>
            <a:endParaRPr lang="en-US" sz="1150" dirty="0"/>
          </a:p>
        </p:txBody>
      </p:sp>
      <p:sp>
        <p:nvSpPr>
          <p:cNvPr id="9" name="Text 7"/>
          <p:cNvSpPr/>
          <p:nvPr/>
        </p:nvSpPr>
        <p:spPr>
          <a:xfrm>
            <a:off x="640080" y="4526280"/>
            <a:ext cx="2423160" cy="320040"/>
          </a:xfrm>
          <a:prstGeom prst="rect">
            <a:avLst/>
          </a:prstGeom>
          <a:noFill/>
          <a:ln/>
        </p:spPr>
        <p:txBody>
          <a:bodyPr wrap="square" lIns="0" tIns="0" rIns="0" bIns="0" rtlCol="0" anchor="ctr"/>
          <a:lstStyle/>
          <a:p>
            <a:pPr algn="ctr" indent="0" marL="0">
              <a:buNone/>
            </a:pPr>
            <a:r>
              <a:rPr lang="en-US" sz="1150" i="1" dirty="0">
                <a:solidFill>
                  <a:srgbClr val="D06060"/>
                </a:solidFill>
                <a:latin typeface="Calibri" pitchFamily="34" charset="0"/>
                <a:ea typeface="Calibri" pitchFamily="34" charset="-122"/>
                <a:cs typeface="Calibri" pitchFamily="34" charset="-120"/>
              </a:rPr>
              <a:t>"the real ones"</a:t>
            </a:r>
            <a:endParaRPr lang="en-US" sz="1150" dirty="0"/>
          </a:p>
        </p:txBody>
      </p:sp>
      <p:sp>
        <p:nvSpPr>
          <p:cNvPr id="10" name="Shape 8"/>
          <p:cNvSpPr/>
          <p:nvPr/>
        </p:nvSpPr>
        <p:spPr>
          <a:xfrm flipH="1">
            <a:off x="1851660" y="2240280"/>
            <a:ext cx="4247388" cy="868680"/>
          </a:xfrm>
          <a:prstGeom prst="line">
            <a:avLst/>
          </a:prstGeom>
          <a:noFill/>
          <a:ln w="19050">
            <a:solidFill>
              <a:srgbClr val="D06060"/>
            </a:solidFill>
            <a:prstDash val="solid"/>
            <a:tailEnd type="triangle"/>
          </a:ln>
        </p:spPr>
      </p:sp>
      <p:sp>
        <p:nvSpPr>
          <p:cNvPr id="11" name="Shape 9"/>
          <p:cNvSpPr/>
          <p:nvPr/>
        </p:nvSpPr>
        <p:spPr>
          <a:xfrm>
            <a:off x="3374136" y="3154680"/>
            <a:ext cx="2606040" cy="1234440"/>
          </a:xfrm>
          <a:prstGeom prst="roundRect">
            <a:avLst>
              <a:gd name="adj" fmla="val 5185"/>
            </a:avLst>
          </a:prstGeom>
          <a:solidFill>
            <a:srgbClr val="221C31"/>
          </a:solidFill>
          <a:ln w="9525">
            <a:solidFill>
              <a:srgbClr val="3A3152"/>
            </a:solidFill>
            <a:prstDash val="solid"/>
          </a:ln>
        </p:spPr>
      </p:sp>
      <p:sp>
        <p:nvSpPr>
          <p:cNvPr id="12" name="Text 10"/>
          <p:cNvSpPr/>
          <p:nvPr/>
        </p:nvSpPr>
        <p:spPr>
          <a:xfrm>
            <a:off x="3465576" y="3282696"/>
            <a:ext cx="2423160" cy="365760"/>
          </a:xfrm>
          <a:prstGeom prst="rect">
            <a:avLst/>
          </a:prstGeom>
          <a:noFill/>
          <a:ln/>
        </p:spPr>
        <p:txBody>
          <a:bodyPr wrap="square" lIns="0" tIns="0" rIns="0" bIns="0" rtlCol="0" anchor="ctr"/>
          <a:lstStyle/>
          <a:p>
            <a:pPr algn="ctr" indent="0" marL="0">
              <a:buNone/>
            </a:pPr>
            <a:r>
              <a:rPr lang="en-US" sz="1500" b="1" dirty="0">
                <a:solidFill>
                  <a:srgbClr val="E9E2D0"/>
                </a:solidFill>
                <a:latin typeface="Cambria" pitchFamily="34" charset="0"/>
                <a:ea typeface="Cambria" pitchFamily="34" charset="-122"/>
                <a:cs typeface="Cambria" pitchFamily="34" charset="-120"/>
              </a:rPr>
              <a:t>The client</a:t>
            </a:r>
            <a:endParaRPr lang="en-US" sz="1500" dirty="0"/>
          </a:p>
        </p:txBody>
      </p:sp>
      <p:sp>
        <p:nvSpPr>
          <p:cNvPr id="13" name="Text 11"/>
          <p:cNvSpPr/>
          <p:nvPr/>
        </p:nvSpPr>
        <p:spPr>
          <a:xfrm>
            <a:off x="3465576" y="3657600"/>
            <a:ext cx="2423160" cy="32004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a fast approximation</a:t>
            </a:r>
            <a:endParaRPr lang="en-US" sz="1150" dirty="0"/>
          </a:p>
        </p:txBody>
      </p:sp>
      <p:sp>
        <p:nvSpPr>
          <p:cNvPr id="14" name="Text 12"/>
          <p:cNvSpPr/>
          <p:nvPr/>
        </p:nvSpPr>
        <p:spPr>
          <a:xfrm>
            <a:off x="3465576" y="4526280"/>
            <a:ext cx="2423160" cy="320040"/>
          </a:xfrm>
          <a:prstGeom prst="rect">
            <a:avLst/>
          </a:prstGeom>
          <a:noFill/>
          <a:ln/>
        </p:spPr>
        <p:txBody>
          <a:bodyPr wrap="square" lIns="0" tIns="0" rIns="0" bIns="0" rtlCol="0" anchor="ctr"/>
          <a:lstStyle/>
          <a:p>
            <a:pPr algn="ctr" indent="0" marL="0">
              <a:buNone/>
            </a:pPr>
            <a:r>
              <a:rPr lang="en-US" sz="1150" i="1" dirty="0">
                <a:solidFill>
                  <a:srgbClr val="D06060"/>
                </a:solidFill>
                <a:latin typeface="Calibri" pitchFamily="34" charset="0"/>
                <a:ea typeface="Calibri" pitchFamily="34" charset="-122"/>
                <a:cs typeface="Calibri" pitchFamily="34" charset="-120"/>
              </a:rPr>
              <a:t>prediction + rollback drift</a:t>
            </a:r>
            <a:endParaRPr lang="en-US" sz="1150" dirty="0"/>
          </a:p>
        </p:txBody>
      </p:sp>
      <p:sp>
        <p:nvSpPr>
          <p:cNvPr id="15" name="Shape 13"/>
          <p:cNvSpPr/>
          <p:nvPr/>
        </p:nvSpPr>
        <p:spPr>
          <a:xfrm flipH="1">
            <a:off x="4677156" y="2240280"/>
            <a:ext cx="1421892" cy="868680"/>
          </a:xfrm>
          <a:prstGeom prst="line">
            <a:avLst/>
          </a:prstGeom>
          <a:noFill/>
          <a:ln w="19050">
            <a:solidFill>
              <a:srgbClr val="D06060"/>
            </a:solidFill>
            <a:prstDash val="solid"/>
            <a:tailEnd type="triangle"/>
          </a:ln>
        </p:spPr>
      </p:sp>
      <p:sp>
        <p:nvSpPr>
          <p:cNvPr id="16" name="Shape 14"/>
          <p:cNvSpPr/>
          <p:nvPr/>
        </p:nvSpPr>
        <p:spPr>
          <a:xfrm>
            <a:off x="6199632" y="3154680"/>
            <a:ext cx="2606040" cy="1234440"/>
          </a:xfrm>
          <a:prstGeom prst="roundRect">
            <a:avLst>
              <a:gd name="adj" fmla="val 5185"/>
            </a:avLst>
          </a:prstGeom>
          <a:solidFill>
            <a:srgbClr val="221C31"/>
          </a:solidFill>
          <a:ln w="9525">
            <a:solidFill>
              <a:srgbClr val="3A3152"/>
            </a:solidFill>
            <a:prstDash val="solid"/>
          </a:ln>
        </p:spPr>
      </p:sp>
      <p:sp>
        <p:nvSpPr>
          <p:cNvPr id="17" name="Text 15"/>
          <p:cNvSpPr/>
          <p:nvPr/>
        </p:nvSpPr>
        <p:spPr>
          <a:xfrm>
            <a:off x="6291072" y="3282696"/>
            <a:ext cx="2423160" cy="365760"/>
          </a:xfrm>
          <a:prstGeom prst="rect">
            <a:avLst/>
          </a:prstGeom>
          <a:noFill/>
          <a:ln/>
        </p:spPr>
        <p:txBody>
          <a:bodyPr wrap="square" lIns="0" tIns="0" rIns="0" bIns="0" rtlCol="0" anchor="ctr"/>
          <a:lstStyle/>
          <a:p>
            <a:pPr algn="ctr" indent="0" marL="0">
              <a:buNone/>
            </a:pPr>
            <a:r>
              <a:rPr lang="en-US" sz="1500" b="1" dirty="0">
                <a:solidFill>
                  <a:srgbClr val="E9E2D0"/>
                </a:solidFill>
                <a:latin typeface="Cambria" pitchFamily="34" charset="0"/>
                <a:ea typeface="Cambria" pitchFamily="34" charset="-122"/>
                <a:cs typeface="Cambria" pitchFamily="34" charset="-120"/>
              </a:rPr>
              <a:t>The tutorial</a:t>
            </a:r>
            <a:endParaRPr lang="en-US" sz="1500" dirty="0"/>
          </a:p>
        </p:txBody>
      </p:sp>
      <p:sp>
        <p:nvSpPr>
          <p:cNvPr id="18" name="Text 16"/>
          <p:cNvSpPr/>
          <p:nvPr/>
        </p:nvSpPr>
        <p:spPr>
          <a:xfrm>
            <a:off x="6291072" y="3657600"/>
            <a:ext cx="2423160" cy="32004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a scripted fake</a:t>
            </a:r>
            <a:endParaRPr lang="en-US" sz="1150" dirty="0"/>
          </a:p>
        </p:txBody>
      </p:sp>
      <p:sp>
        <p:nvSpPr>
          <p:cNvPr id="19" name="Text 17"/>
          <p:cNvSpPr/>
          <p:nvPr/>
        </p:nvSpPr>
        <p:spPr>
          <a:xfrm>
            <a:off x="6291072" y="4526280"/>
            <a:ext cx="2423160" cy="320040"/>
          </a:xfrm>
          <a:prstGeom prst="rect">
            <a:avLst/>
          </a:prstGeom>
          <a:noFill/>
          <a:ln/>
        </p:spPr>
        <p:txBody>
          <a:bodyPr wrap="square" lIns="0" tIns="0" rIns="0" bIns="0" rtlCol="0" anchor="ctr"/>
          <a:lstStyle/>
          <a:p>
            <a:pPr algn="ctr" indent="0" marL="0">
              <a:buNone/>
            </a:pPr>
            <a:r>
              <a:rPr lang="en-US" sz="1150" i="1" dirty="0">
                <a:solidFill>
                  <a:srgbClr val="D06060"/>
                </a:solidFill>
                <a:latin typeface="Calibri" pitchFamily="34" charset="0"/>
                <a:ea typeface="Calibri" pitchFamily="34" charset="-122"/>
                <a:cs typeface="Calibri" pitchFamily="34" charset="-120"/>
              </a:rPr>
              <a:t>goes stale, then lies</a:t>
            </a:r>
            <a:endParaRPr lang="en-US" sz="1150" dirty="0"/>
          </a:p>
        </p:txBody>
      </p:sp>
      <p:sp>
        <p:nvSpPr>
          <p:cNvPr id="20" name="Shape 18"/>
          <p:cNvSpPr/>
          <p:nvPr/>
        </p:nvSpPr>
        <p:spPr>
          <a:xfrm>
            <a:off x="6099048" y="2240280"/>
            <a:ext cx="1403604" cy="868680"/>
          </a:xfrm>
          <a:prstGeom prst="line">
            <a:avLst/>
          </a:prstGeom>
          <a:noFill/>
          <a:ln w="19050">
            <a:solidFill>
              <a:srgbClr val="D06060"/>
            </a:solidFill>
            <a:prstDash val="solid"/>
            <a:tailEnd type="triangle"/>
          </a:ln>
        </p:spPr>
      </p:sp>
      <p:sp>
        <p:nvSpPr>
          <p:cNvPr id="21" name="Shape 19"/>
          <p:cNvSpPr/>
          <p:nvPr/>
        </p:nvSpPr>
        <p:spPr>
          <a:xfrm>
            <a:off x="9025128" y="3154680"/>
            <a:ext cx="2606040" cy="1234440"/>
          </a:xfrm>
          <a:prstGeom prst="roundRect">
            <a:avLst>
              <a:gd name="adj" fmla="val 5185"/>
            </a:avLst>
          </a:prstGeom>
          <a:solidFill>
            <a:srgbClr val="221C31"/>
          </a:solidFill>
          <a:ln w="9525">
            <a:solidFill>
              <a:srgbClr val="3A3152"/>
            </a:solidFill>
            <a:prstDash val="solid"/>
          </a:ln>
        </p:spPr>
      </p:sp>
      <p:sp>
        <p:nvSpPr>
          <p:cNvPr id="22" name="Text 20"/>
          <p:cNvSpPr/>
          <p:nvPr/>
        </p:nvSpPr>
        <p:spPr>
          <a:xfrm>
            <a:off x="9116568" y="3282696"/>
            <a:ext cx="2423160" cy="365760"/>
          </a:xfrm>
          <a:prstGeom prst="rect">
            <a:avLst/>
          </a:prstGeom>
          <a:noFill/>
          <a:ln/>
        </p:spPr>
        <p:txBody>
          <a:bodyPr wrap="square" lIns="0" tIns="0" rIns="0" bIns="0" rtlCol="0" anchor="ctr"/>
          <a:lstStyle/>
          <a:p>
            <a:pPr algn="ctr" indent="0" marL="0">
              <a:buNone/>
            </a:pPr>
            <a:r>
              <a:rPr lang="en-US" sz="1500" b="1" dirty="0">
                <a:solidFill>
                  <a:srgbClr val="E9E2D0"/>
                </a:solidFill>
                <a:latin typeface="Cambria" pitchFamily="34" charset="0"/>
                <a:ea typeface="Cambria" pitchFamily="34" charset="-122"/>
                <a:cs typeface="Cambria" pitchFamily="34" charset="-120"/>
              </a:rPr>
              <a:t>The port</a:t>
            </a:r>
            <a:endParaRPr lang="en-US" sz="1500" dirty="0"/>
          </a:p>
        </p:txBody>
      </p:sp>
      <p:sp>
        <p:nvSpPr>
          <p:cNvPr id="23" name="Text 21"/>
          <p:cNvSpPr/>
          <p:nvPr/>
        </p:nvSpPr>
        <p:spPr>
          <a:xfrm>
            <a:off x="9116568" y="3657600"/>
            <a:ext cx="2423160" cy="32004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a separate product</a:t>
            </a:r>
            <a:endParaRPr lang="en-US" sz="1150" dirty="0"/>
          </a:p>
        </p:txBody>
      </p:sp>
      <p:sp>
        <p:nvSpPr>
          <p:cNvPr id="24" name="Text 22"/>
          <p:cNvSpPr/>
          <p:nvPr/>
        </p:nvSpPr>
        <p:spPr>
          <a:xfrm>
            <a:off x="9116568" y="4526280"/>
            <a:ext cx="2423160" cy="320040"/>
          </a:xfrm>
          <a:prstGeom prst="rect">
            <a:avLst/>
          </a:prstGeom>
          <a:noFill/>
          <a:ln/>
        </p:spPr>
        <p:txBody>
          <a:bodyPr wrap="square" lIns="0" tIns="0" rIns="0" bIns="0" rtlCol="0" anchor="ctr"/>
          <a:lstStyle/>
          <a:p>
            <a:pPr algn="ctr" indent="0" marL="0">
              <a:buNone/>
            </a:pPr>
            <a:r>
              <a:rPr lang="en-US" sz="1150" i="1" dirty="0">
                <a:solidFill>
                  <a:srgbClr val="D06060"/>
                </a:solidFill>
                <a:latin typeface="Calibri" pitchFamily="34" charset="0"/>
                <a:ea typeface="Calibri" pitchFamily="34" charset="-122"/>
                <a:cs typeface="Calibri" pitchFamily="34" charset="-120"/>
              </a:rPr>
              <a:t>diverges forever</a:t>
            </a:r>
            <a:endParaRPr lang="en-US" sz="1150" dirty="0"/>
          </a:p>
        </p:txBody>
      </p:sp>
      <p:sp>
        <p:nvSpPr>
          <p:cNvPr id="25" name="Shape 23"/>
          <p:cNvSpPr/>
          <p:nvPr/>
        </p:nvSpPr>
        <p:spPr>
          <a:xfrm>
            <a:off x="6099048" y="2240280"/>
            <a:ext cx="4229100" cy="868680"/>
          </a:xfrm>
          <a:prstGeom prst="line">
            <a:avLst/>
          </a:prstGeom>
          <a:noFill/>
          <a:ln w="19050">
            <a:solidFill>
              <a:srgbClr val="D06060"/>
            </a:solidFill>
            <a:prstDash val="solid"/>
            <a:tailEnd type="triangle"/>
          </a:ln>
        </p:spPr>
      </p:sp>
      <p:sp>
        <p:nvSpPr>
          <p:cNvPr id="26" name="Text 24"/>
          <p:cNvSpPr/>
          <p:nvPr/>
        </p:nvSpPr>
        <p:spPr>
          <a:xfrm>
            <a:off x="822960" y="5257800"/>
            <a:ext cx="10543032" cy="548640"/>
          </a:xfrm>
          <a:prstGeom prst="rect">
            <a:avLst/>
          </a:prstGeom>
          <a:noFill/>
          <a:ln/>
        </p:spPr>
        <p:txBody>
          <a:bodyPr wrap="square" lIns="0" tIns="0" rIns="0" bIns="0" rtlCol="0" anchor="ctr"/>
          <a:lstStyle/>
          <a:p>
            <a:pPr algn="ctr" indent="0" marL="0">
              <a:buNone/>
            </a:pPr>
            <a:r>
              <a:rPr lang="en-US" sz="1600" i="1" dirty="0">
                <a:solidFill>
                  <a:srgbClr val="E9E2D0"/>
                </a:solidFill>
                <a:latin typeface="Calibri" pitchFamily="34" charset="0"/>
                <a:ea typeface="Calibri" pitchFamily="34" charset="-122"/>
                <a:cs typeface="Calibri" pitchFamily="34" charset="-120"/>
              </a:rPr>
              <a:t>Every copy is a place for the rules to disagree — and they will.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SHAPE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One core, five faces</a:t>
            </a:r>
            <a:endParaRPr lang="en-US" sz="3000" dirty="0"/>
          </a:p>
        </p:txBody>
      </p:sp>
      <p:sp>
        <p:nvSpPr>
          <p:cNvPr id="4" name="Shape 2"/>
          <p:cNvSpPr/>
          <p:nvPr/>
        </p:nvSpPr>
        <p:spPr>
          <a:xfrm>
            <a:off x="6099048" y="1874520"/>
            <a:ext cx="0" cy="1874520"/>
          </a:xfrm>
          <a:prstGeom prst="line">
            <a:avLst/>
          </a:prstGeom>
          <a:noFill/>
          <a:ln w="19050">
            <a:solidFill>
              <a:srgbClr val="3A3152"/>
            </a:solidFill>
            <a:prstDash val="solid"/>
          </a:ln>
        </p:spPr>
      </p:sp>
      <p:sp>
        <p:nvSpPr>
          <p:cNvPr id="5" name="Shape 3"/>
          <p:cNvSpPr/>
          <p:nvPr/>
        </p:nvSpPr>
        <p:spPr>
          <a:xfrm>
            <a:off x="3335748" y="3169781"/>
            <a:ext cx="2763300" cy="579259"/>
          </a:xfrm>
          <a:prstGeom prst="line">
            <a:avLst/>
          </a:prstGeom>
          <a:noFill/>
          <a:ln w="19050">
            <a:solidFill>
              <a:srgbClr val="3A3152"/>
            </a:solidFill>
            <a:prstDash val="solid"/>
          </a:ln>
        </p:spPr>
      </p:sp>
      <p:sp>
        <p:nvSpPr>
          <p:cNvPr id="6" name="Shape 4"/>
          <p:cNvSpPr/>
          <p:nvPr/>
        </p:nvSpPr>
        <p:spPr>
          <a:xfrm flipH="1">
            <a:off x="6099048" y="3169781"/>
            <a:ext cx="2763300" cy="579259"/>
          </a:xfrm>
          <a:prstGeom prst="line">
            <a:avLst/>
          </a:prstGeom>
          <a:noFill/>
          <a:ln w="19050">
            <a:solidFill>
              <a:srgbClr val="3A3152"/>
            </a:solidFill>
            <a:prstDash val="solid"/>
          </a:ln>
        </p:spPr>
      </p:sp>
      <p:sp>
        <p:nvSpPr>
          <p:cNvPr id="7" name="Shape 5"/>
          <p:cNvSpPr/>
          <p:nvPr/>
        </p:nvSpPr>
        <p:spPr>
          <a:xfrm flipH="1">
            <a:off x="3335748" y="3749040"/>
            <a:ext cx="2763300" cy="579259"/>
          </a:xfrm>
          <a:prstGeom prst="line">
            <a:avLst/>
          </a:prstGeom>
          <a:noFill/>
          <a:ln w="19050">
            <a:solidFill>
              <a:srgbClr val="3A3152"/>
            </a:solidFill>
            <a:prstDash val="solid"/>
          </a:ln>
        </p:spPr>
      </p:sp>
      <p:sp>
        <p:nvSpPr>
          <p:cNvPr id="8" name="Shape 6"/>
          <p:cNvSpPr/>
          <p:nvPr/>
        </p:nvSpPr>
        <p:spPr>
          <a:xfrm>
            <a:off x="6099048" y="3749040"/>
            <a:ext cx="2763300" cy="579259"/>
          </a:xfrm>
          <a:prstGeom prst="line">
            <a:avLst/>
          </a:prstGeom>
          <a:noFill/>
          <a:ln w="19050">
            <a:solidFill>
              <a:srgbClr val="3A3152"/>
            </a:solidFill>
            <a:prstDash val="solid"/>
          </a:ln>
        </p:spPr>
      </p:sp>
      <p:sp>
        <p:nvSpPr>
          <p:cNvPr id="9" name="Shape 7"/>
          <p:cNvSpPr/>
          <p:nvPr/>
        </p:nvSpPr>
        <p:spPr>
          <a:xfrm>
            <a:off x="5116068" y="2766060"/>
            <a:ext cx="1965960" cy="1965960"/>
          </a:xfrm>
          <a:prstGeom prst="ellipse">
            <a:avLst/>
          </a:prstGeom>
          <a:solidFill>
            <a:srgbClr val="8E2F2F"/>
          </a:solidFill>
          <a:ln w="19050">
            <a:solidFill>
              <a:srgbClr val="C9A227"/>
            </a:solidFill>
            <a:prstDash val="solid"/>
          </a:ln>
        </p:spPr>
      </p:sp>
      <p:sp>
        <p:nvSpPr>
          <p:cNvPr id="10" name="Text 8"/>
          <p:cNvSpPr/>
          <p:nvPr/>
        </p:nvSpPr>
        <p:spPr>
          <a:xfrm>
            <a:off x="5116068" y="3419856"/>
            <a:ext cx="1965960" cy="365760"/>
          </a:xfrm>
          <a:prstGeom prst="rect">
            <a:avLst/>
          </a:prstGeom>
          <a:noFill/>
          <a:ln/>
        </p:spPr>
        <p:txBody>
          <a:bodyPr wrap="square" lIns="0" tIns="0" rIns="0" bIns="0" rtlCol="0" anchor="ctr"/>
          <a:lstStyle/>
          <a:p>
            <a:pPr algn="ctr" indent="0" marL="0">
              <a:buNone/>
            </a:pPr>
            <a:r>
              <a:rPr lang="en-US" sz="1200" b="1" dirty="0">
                <a:solidFill>
                  <a:srgbClr val="E9E2D0"/>
                </a:solidFill>
                <a:latin typeface="Courier New" pitchFamily="34" charset="0"/>
                <a:ea typeface="Courier New" pitchFamily="34" charset="-122"/>
                <a:cs typeface="Courier New" pitchFamily="34" charset="-120"/>
              </a:rPr>
              <a:t>wickedways-core</a:t>
            </a:r>
            <a:endParaRPr lang="en-US" sz="1200" dirty="0"/>
          </a:p>
        </p:txBody>
      </p:sp>
      <p:sp>
        <p:nvSpPr>
          <p:cNvPr id="11" name="Text 9"/>
          <p:cNvSpPr/>
          <p:nvPr/>
        </p:nvSpPr>
        <p:spPr>
          <a:xfrm>
            <a:off x="4933188" y="3767328"/>
            <a:ext cx="2331720" cy="320040"/>
          </a:xfrm>
          <a:prstGeom prst="rect">
            <a:avLst/>
          </a:prstGeom>
          <a:noFill/>
          <a:ln/>
        </p:spPr>
        <p:txBody>
          <a:bodyPr wrap="square" lIns="0" tIns="0" rIns="0" bIns="0" rtlCol="0" anchor="ctr"/>
          <a:lstStyle/>
          <a:p>
            <a:pPr algn="ctr" indent="0" marL="0">
              <a:buNone/>
            </a:pPr>
            <a:r>
              <a:rPr lang="en-US" sz="950" i="1" dirty="0">
                <a:solidFill>
                  <a:srgbClr val="E9E2D0"/>
                </a:solidFill>
                <a:latin typeface="Calibri" pitchFamily="34" charset="0"/>
                <a:ea typeface="Calibri" pitchFamily="34" charset="-122"/>
                <a:cs typeface="Calibri" pitchFamily="34" charset="-120"/>
              </a:rPr>
              <a:t>~24k lines · no_std Rust</a:t>
            </a:r>
            <a:endParaRPr lang="en-US" sz="950" dirty="0"/>
          </a:p>
        </p:txBody>
      </p:sp>
      <p:sp>
        <p:nvSpPr>
          <p:cNvPr id="12" name="Shape 10"/>
          <p:cNvSpPr/>
          <p:nvPr/>
        </p:nvSpPr>
        <p:spPr>
          <a:xfrm>
            <a:off x="5742432" y="1517904"/>
            <a:ext cx="713232" cy="713232"/>
          </a:xfrm>
          <a:prstGeom prst="ellipse">
            <a:avLst/>
          </a:prstGeom>
          <a:solidFill>
            <a:srgbClr val="2B2342"/>
          </a:solidFill>
          <a:ln w="9525">
            <a:solidFill>
              <a:srgbClr val="3A3152"/>
            </a:solidFill>
            <a:prstDash val="solid"/>
          </a:ln>
        </p:spPr>
      </p:sp>
      <p:pic>
        <p:nvPicPr>
          <p:cNvPr id="13" name="Image 0" descr="/tmp/claude-0/-home-user-WickedWays/bfe20d4f-91dd-58c9-a5c6-92b3d7767e5d/scratchpad/decks/icons/monitor.png">    </p:cNvPr>
          <p:cNvPicPr>
            <a:picLocks noChangeAspect="1"/>
          </p:cNvPicPr>
          <p:nvPr/>
        </p:nvPicPr>
        <p:blipFill>
          <a:blip r:embed="rId1"/>
          <a:stretch>
            <a:fillRect/>
          </a:stretch>
        </p:blipFill>
        <p:spPr>
          <a:xfrm>
            <a:off x="5913608" y="1689080"/>
            <a:ext cx="370881" cy="370881"/>
          </a:xfrm>
          <a:prstGeom prst="rect">
            <a:avLst/>
          </a:prstGeom>
        </p:spPr>
      </p:pic>
      <p:sp>
        <p:nvSpPr>
          <p:cNvPr id="14" name="Text 11"/>
          <p:cNvSpPr/>
          <p:nvPr/>
        </p:nvSpPr>
        <p:spPr>
          <a:xfrm>
            <a:off x="5230368" y="1152144"/>
            <a:ext cx="1737360" cy="320040"/>
          </a:xfrm>
          <a:prstGeom prst="rect">
            <a:avLst/>
          </a:prstGeom>
          <a:noFill/>
          <a:ln/>
        </p:spPr>
        <p:txBody>
          <a:bodyPr wrap="square" lIns="0" tIns="0" rIns="0" bIns="0" rtlCol="0" anchor="ctr"/>
          <a:lstStyle/>
          <a:p>
            <a:pPr algn="ctr" indent="0" marL="0">
              <a:buNone/>
            </a:pPr>
            <a:r>
              <a:rPr lang="en-US" sz="1100" dirty="0">
                <a:solidFill>
                  <a:srgbClr val="E9E2D0"/>
                </a:solidFill>
                <a:latin typeface="Calibri" pitchFamily="34" charset="0"/>
                <a:ea typeface="Calibri" pitchFamily="34" charset="-122"/>
                <a:cs typeface="Calibri" pitchFamily="34" charset="-120"/>
              </a:rPr>
              <a:t>Browser (wasm)</a:t>
            </a:r>
            <a:endParaRPr lang="en-US" sz="1100" dirty="0"/>
          </a:p>
        </p:txBody>
      </p:sp>
      <p:sp>
        <p:nvSpPr>
          <p:cNvPr id="15" name="Shape 12"/>
          <p:cNvSpPr/>
          <p:nvPr/>
        </p:nvSpPr>
        <p:spPr>
          <a:xfrm>
            <a:off x="2979132" y="2813165"/>
            <a:ext cx="713232" cy="713232"/>
          </a:xfrm>
          <a:prstGeom prst="ellipse">
            <a:avLst/>
          </a:prstGeom>
          <a:solidFill>
            <a:srgbClr val="2B2342"/>
          </a:solidFill>
          <a:ln w="9525">
            <a:solidFill>
              <a:srgbClr val="3A3152"/>
            </a:solidFill>
            <a:prstDash val="solid"/>
          </a:ln>
        </p:spPr>
      </p:sp>
      <p:pic>
        <p:nvPicPr>
          <p:cNvPr id="16" name="Image 1" descr="/tmp/claude-0/-home-user-WickedWays/bfe20d4f-91dd-58c9-a5c6-92b3d7767e5d/scratchpad/decks/icons/harddrive.png">    </p:cNvPr>
          <p:cNvPicPr>
            <a:picLocks noChangeAspect="1"/>
          </p:cNvPicPr>
          <p:nvPr/>
        </p:nvPicPr>
        <p:blipFill>
          <a:blip r:embed="rId2"/>
          <a:stretch>
            <a:fillRect/>
          </a:stretch>
        </p:blipFill>
        <p:spPr>
          <a:xfrm>
            <a:off x="3150307" y="2984341"/>
            <a:ext cx="370881" cy="370881"/>
          </a:xfrm>
          <a:prstGeom prst="rect">
            <a:avLst/>
          </a:prstGeom>
        </p:spPr>
      </p:pic>
      <p:sp>
        <p:nvSpPr>
          <p:cNvPr id="17" name="Text 13"/>
          <p:cNvSpPr/>
          <p:nvPr/>
        </p:nvSpPr>
        <p:spPr>
          <a:xfrm>
            <a:off x="2467068" y="2447405"/>
            <a:ext cx="1737360" cy="320040"/>
          </a:xfrm>
          <a:prstGeom prst="rect">
            <a:avLst/>
          </a:prstGeom>
          <a:noFill/>
          <a:ln/>
        </p:spPr>
        <p:txBody>
          <a:bodyPr wrap="square" lIns="0" tIns="0" rIns="0" bIns="0" rtlCol="0" anchor="ctr"/>
          <a:lstStyle/>
          <a:p>
            <a:pPr algn="ctr" indent="0" marL="0">
              <a:buNone/>
            </a:pPr>
            <a:r>
              <a:rPr lang="en-US" sz="1100" dirty="0">
                <a:solidFill>
                  <a:srgbClr val="E9E2D0"/>
                </a:solidFill>
                <a:latin typeface="Calibri" pitchFamily="34" charset="0"/>
                <a:ea typeface="Calibri" pitchFamily="34" charset="-122"/>
                <a:cs typeface="Calibri" pitchFamily="34" charset="-120"/>
              </a:rPr>
              <a:t>Desktop shell</a:t>
            </a:r>
            <a:endParaRPr lang="en-US" sz="1100" dirty="0"/>
          </a:p>
        </p:txBody>
      </p:sp>
      <p:sp>
        <p:nvSpPr>
          <p:cNvPr id="18" name="Shape 14"/>
          <p:cNvSpPr/>
          <p:nvPr/>
        </p:nvSpPr>
        <p:spPr>
          <a:xfrm>
            <a:off x="8505732" y="2813165"/>
            <a:ext cx="713232" cy="713232"/>
          </a:xfrm>
          <a:prstGeom prst="ellipse">
            <a:avLst/>
          </a:prstGeom>
          <a:solidFill>
            <a:srgbClr val="2B2342"/>
          </a:solidFill>
          <a:ln w="9525">
            <a:solidFill>
              <a:srgbClr val="3A3152"/>
            </a:solidFill>
            <a:prstDash val="solid"/>
          </a:ln>
        </p:spPr>
      </p:sp>
      <p:pic>
        <p:nvPicPr>
          <p:cNvPr id="19" name="Image 2" descr="/tmp/claude-0/-home-user-WickedWays/bfe20d4f-91dd-58c9-a5c6-92b3d7767e5d/scratchpad/decks/icons/server.png">    </p:cNvPr>
          <p:cNvPicPr>
            <a:picLocks noChangeAspect="1"/>
          </p:cNvPicPr>
          <p:nvPr/>
        </p:nvPicPr>
        <p:blipFill>
          <a:blip r:embed="rId3"/>
          <a:stretch>
            <a:fillRect/>
          </a:stretch>
        </p:blipFill>
        <p:spPr>
          <a:xfrm>
            <a:off x="8676908" y="2984341"/>
            <a:ext cx="370881" cy="370881"/>
          </a:xfrm>
          <a:prstGeom prst="rect">
            <a:avLst/>
          </a:prstGeom>
        </p:spPr>
      </p:pic>
      <p:sp>
        <p:nvSpPr>
          <p:cNvPr id="20" name="Text 15"/>
          <p:cNvSpPr/>
          <p:nvPr/>
        </p:nvSpPr>
        <p:spPr>
          <a:xfrm>
            <a:off x="7993668" y="2447405"/>
            <a:ext cx="1737360" cy="320040"/>
          </a:xfrm>
          <a:prstGeom prst="rect">
            <a:avLst/>
          </a:prstGeom>
          <a:noFill/>
          <a:ln/>
        </p:spPr>
        <p:txBody>
          <a:bodyPr wrap="square" lIns="0" tIns="0" rIns="0" bIns="0" rtlCol="0" anchor="ctr"/>
          <a:lstStyle/>
          <a:p>
            <a:pPr algn="ctr" indent="0" marL="0">
              <a:buNone/>
            </a:pPr>
            <a:r>
              <a:rPr lang="en-US" sz="1100" dirty="0">
                <a:solidFill>
                  <a:srgbClr val="E9E2D0"/>
                </a:solidFill>
                <a:latin typeface="Calibri" pitchFamily="34" charset="0"/>
                <a:ea typeface="Calibri" pitchFamily="34" charset="-122"/>
                <a:cs typeface="Calibri" pitchFamily="34" charset="-120"/>
              </a:rPr>
              <a:t>Room server</a:t>
            </a:r>
            <a:endParaRPr lang="en-US" sz="1100" dirty="0"/>
          </a:p>
        </p:txBody>
      </p:sp>
      <p:sp>
        <p:nvSpPr>
          <p:cNvPr id="21" name="Shape 16"/>
          <p:cNvSpPr/>
          <p:nvPr/>
        </p:nvSpPr>
        <p:spPr>
          <a:xfrm>
            <a:off x="2979132" y="3971683"/>
            <a:ext cx="713232" cy="713232"/>
          </a:xfrm>
          <a:prstGeom prst="ellipse">
            <a:avLst/>
          </a:prstGeom>
          <a:solidFill>
            <a:srgbClr val="2B2342"/>
          </a:solidFill>
          <a:ln w="9525">
            <a:solidFill>
              <a:srgbClr val="3A3152"/>
            </a:solidFill>
            <a:prstDash val="solid"/>
          </a:ln>
        </p:spPr>
      </p:sp>
      <p:pic>
        <p:nvPicPr>
          <p:cNvPr id="22" name="Image 3" descr="/tmp/claude-0/-home-user-WickedWays/bfe20d4f-91dd-58c9-a5c6-92b3d7767e5d/scratchpad/decks/icons/code.png">    </p:cNvPr>
          <p:cNvPicPr>
            <a:picLocks noChangeAspect="1"/>
          </p:cNvPicPr>
          <p:nvPr/>
        </p:nvPicPr>
        <p:blipFill>
          <a:blip r:embed="rId4"/>
          <a:stretch>
            <a:fillRect/>
          </a:stretch>
        </p:blipFill>
        <p:spPr>
          <a:xfrm>
            <a:off x="3150307" y="4142858"/>
            <a:ext cx="370881" cy="370881"/>
          </a:xfrm>
          <a:prstGeom prst="rect">
            <a:avLst/>
          </a:prstGeom>
        </p:spPr>
      </p:pic>
      <p:sp>
        <p:nvSpPr>
          <p:cNvPr id="23" name="Text 17"/>
          <p:cNvSpPr/>
          <p:nvPr/>
        </p:nvSpPr>
        <p:spPr>
          <a:xfrm>
            <a:off x="2467068" y="4730635"/>
            <a:ext cx="1737360" cy="320040"/>
          </a:xfrm>
          <a:prstGeom prst="rect">
            <a:avLst/>
          </a:prstGeom>
          <a:noFill/>
          <a:ln/>
        </p:spPr>
        <p:txBody>
          <a:bodyPr wrap="square" lIns="0" tIns="0" rIns="0" bIns="0" rtlCol="0" anchor="ctr"/>
          <a:lstStyle/>
          <a:p>
            <a:pPr algn="ctr" indent="0" marL="0">
              <a:buNone/>
            </a:pPr>
            <a:r>
              <a:rPr lang="en-US" sz="1100" dirty="0">
                <a:solidFill>
                  <a:srgbClr val="E9E2D0"/>
                </a:solidFill>
                <a:latin typeface="Calibri" pitchFamily="34" charset="0"/>
                <a:ea typeface="Calibri" pitchFamily="34" charset="-122"/>
                <a:cs typeface="Calibri" pitchFamily="34" charset="-120"/>
              </a:rPr>
              <a:t>JS embedding</a:t>
            </a:r>
            <a:endParaRPr lang="en-US" sz="1100" dirty="0"/>
          </a:p>
        </p:txBody>
      </p:sp>
      <p:sp>
        <p:nvSpPr>
          <p:cNvPr id="24" name="Shape 18"/>
          <p:cNvSpPr/>
          <p:nvPr/>
        </p:nvSpPr>
        <p:spPr>
          <a:xfrm>
            <a:off x="8505732" y="3971683"/>
            <a:ext cx="713232" cy="713232"/>
          </a:xfrm>
          <a:prstGeom prst="ellipse">
            <a:avLst/>
          </a:prstGeom>
          <a:solidFill>
            <a:srgbClr val="2B2342"/>
          </a:solidFill>
          <a:ln w="9525">
            <a:solidFill>
              <a:srgbClr val="3A3152"/>
            </a:solidFill>
            <a:prstDash val="solid"/>
          </a:ln>
        </p:spPr>
      </p:sp>
      <p:pic>
        <p:nvPicPr>
          <p:cNvPr id="25" name="Image 4" descr="/tmp/claude-0/-home-user-WickedWays/bfe20d4f-91dd-58c9-a5c6-92b3d7767e5d/scratchpad/decks/icons/cpu_gold.png">    </p:cNvPr>
          <p:cNvPicPr>
            <a:picLocks noChangeAspect="1"/>
          </p:cNvPicPr>
          <p:nvPr/>
        </p:nvPicPr>
        <p:blipFill>
          <a:blip r:embed="rId5"/>
          <a:stretch>
            <a:fillRect/>
          </a:stretch>
        </p:blipFill>
        <p:spPr>
          <a:xfrm>
            <a:off x="8676908" y="4142858"/>
            <a:ext cx="370881" cy="370881"/>
          </a:xfrm>
          <a:prstGeom prst="rect">
            <a:avLst/>
          </a:prstGeom>
        </p:spPr>
      </p:pic>
      <p:sp>
        <p:nvSpPr>
          <p:cNvPr id="26" name="Text 19"/>
          <p:cNvSpPr/>
          <p:nvPr/>
        </p:nvSpPr>
        <p:spPr>
          <a:xfrm>
            <a:off x="7993668" y="4730635"/>
            <a:ext cx="1737360" cy="320040"/>
          </a:xfrm>
          <a:prstGeom prst="rect">
            <a:avLst/>
          </a:prstGeom>
          <a:noFill/>
          <a:ln/>
        </p:spPr>
        <p:txBody>
          <a:bodyPr wrap="square" lIns="0" tIns="0" rIns="0" bIns="0" rtlCol="0" anchor="ctr"/>
          <a:lstStyle/>
          <a:p>
            <a:pPr algn="ctr" indent="0" marL="0">
              <a:buNone/>
            </a:pPr>
            <a:r>
              <a:rPr lang="en-US" sz="1100" dirty="0">
                <a:solidFill>
                  <a:srgbClr val="E9E2D0"/>
                </a:solidFill>
                <a:latin typeface="Calibri" pitchFamily="34" charset="0"/>
                <a:ea typeface="Calibri" pitchFamily="34" charset="-122"/>
                <a:cs typeface="Calibri" pitchFamily="34" charset="-120"/>
              </a:rPr>
              <a:t>Physical board</a:t>
            </a:r>
            <a:endParaRPr lang="en-US" sz="1100" dirty="0"/>
          </a:p>
        </p:txBody>
      </p:sp>
      <p:sp>
        <p:nvSpPr>
          <p:cNvPr id="27" name="Text 20"/>
          <p:cNvSpPr/>
          <p:nvPr/>
        </p:nvSpPr>
        <p:spPr>
          <a:xfrm>
            <a:off x="822960" y="6172200"/>
            <a:ext cx="10543032" cy="548640"/>
          </a:xfrm>
          <a:prstGeom prst="rect">
            <a:avLst/>
          </a:prstGeom>
          <a:noFill/>
          <a:ln/>
        </p:spPr>
        <p:txBody>
          <a:bodyPr wrap="square" lIns="0" tIns="0" rIns="0" bIns="0" rtlCol="0" anchor="ctr"/>
          <a:lstStyle/>
          <a:p>
            <a:pPr algn="ctr" indent="0" marL="0">
              <a:buNone/>
            </a:pPr>
            <a:r>
              <a:rPr lang="en-US" sz="1400" i="1" dirty="0">
                <a:solidFill>
                  <a:srgbClr val="9A92A8"/>
                </a:solidFill>
                <a:latin typeface="Calibri" pitchFamily="34" charset="0"/>
                <a:ea typeface="Calibri" pitchFamily="34" charset="-122"/>
                <a:cs typeface="Calibri" pitchFamily="34" charset="-120"/>
              </a:rPr>
              <a:t>None of these contain game logic. All speak the same closed command vocabulary to the same core.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DISCIPLINE NO. 1</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Determinism is load-bearing</a:t>
            </a:r>
            <a:endParaRPr lang="en-US" sz="3000" dirty="0"/>
          </a:p>
        </p:txBody>
      </p:sp>
      <p:sp>
        <p:nvSpPr>
          <p:cNvPr id="4" name="Shape 2"/>
          <p:cNvSpPr/>
          <p:nvPr/>
        </p:nvSpPr>
        <p:spPr>
          <a:xfrm>
            <a:off x="548640" y="1481328"/>
            <a:ext cx="11091672" cy="914400"/>
          </a:xfrm>
          <a:prstGeom prst="roundRect">
            <a:avLst>
              <a:gd name="adj" fmla="val 7000"/>
            </a:avLst>
          </a:prstGeom>
          <a:solidFill>
            <a:srgbClr val="2B2342"/>
          </a:solidFill>
          <a:ln w="9525">
            <a:solidFill>
              <a:srgbClr val="3A3152"/>
            </a:solidFill>
            <a:prstDash val="solid"/>
          </a:ln>
        </p:spPr>
      </p:sp>
      <p:sp>
        <p:nvSpPr>
          <p:cNvPr id="5" name="Text 3"/>
          <p:cNvSpPr/>
          <p:nvPr/>
        </p:nvSpPr>
        <p:spPr>
          <a:xfrm>
            <a:off x="548640" y="1572768"/>
            <a:ext cx="11091672" cy="457200"/>
          </a:xfrm>
          <a:prstGeom prst="rect">
            <a:avLst/>
          </a:prstGeom>
          <a:noFill/>
          <a:ln/>
        </p:spPr>
        <p:txBody>
          <a:bodyPr wrap="square" lIns="0" tIns="0" rIns="0" bIns="0" rtlCol="0" anchor="ctr"/>
          <a:lstStyle/>
          <a:p>
            <a:pPr algn="ctr" indent="0" marL="0">
              <a:buNone/>
            </a:pPr>
            <a:r>
              <a:rPr lang="en-US" sz="2100" b="1" dirty="0">
                <a:solidFill>
                  <a:srgbClr val="C9A227"/>
                </a:solidFill>
                <a:latin typeface="Courier New" pitchFamily="34" charset="0"/>
                <a:ea typeface="Courier New" pitchFamily="34" charset="-122"/>
                <a:cs typeface="Courier New" pitchFamily="34" charset="-120"/>
              </a:rPr>
              <a:t>genesis  +  command log  =  world state</a:t>
            </a:r>
            <a:endParaRPr lang="en-US" sz="2100" dirty="0"/>
          </a:p>
        </p:txBody>
      </p:sp>
      <p:sp>
        <p:nvSpPr>
          <p:cNvPr id="6" name="Text 4"/>
          <p:cNvSpPr/>
          <p:nvPr/>
        </p:nvSpPr>
        <p:spPr>
          <a:xfrm>
            <a:off x="548640" y="1993392"/>
            <a:ext cx="11091672" cy="320040"/>
          </a:xfrm>
          <a:prstGeom prst="rect">
            <a:avLst/>
          </a:prstGeom>
          <a:noFill/>
          <a:ln/>
        </p:spPr>
        <p:txBody>
          <a:bodyPr wrap="square" lIns="0" tIns="0" rIns="0" bIns="0" rtlCol="0" anchor="ctr"/>
          <a:lstStyle/>
          <a:p>
            <a:pPr algn="ctr" indent="0" marL="0">
              <a:buNone/>
            </a:pPr>
            <a:r>
              <a:rPr lang="en-US" sz="1300" i="1" dirty="0">
                <a:solidFill>
                  <a:srgbClr val="9A92A8"/>
                </a:solidFill>
                <a:latin typeface="Calibri" pitchFamily="34" charset="0"/>
                <a:ea typeface="Calibri" pitchFamily="34" charset="-122"/>
                <a:cs typeface="Calibri" pitchFamily="34" charset="-120"/>
              </a:rPr>
              <a:t>— everywhere, forever</a:t>
            </a:r>
            <a:endParaRPr lang="en-US" sz="1300" dirty="0"/>
          </a:p>
        </p:txBody>
      </p:sp>
      <p:sp>
        <p:nvSpPr>
          <p:cNvPr id="7" name="Shape 5"/>
          <p:cNvSpPr/>
          <p:nvPr/>
        </p:nvSpPr>
        <p:spPr>
          <a:xfrm>
            <a:off x="548640" y="2697480"/>
            <a:ext cx="3514344" cy="2606040"/>
          </a:xfrm>
          <a:prstGeom prst="roundRect">
            <a:avLst>
              <a:gd name="adj" fmla="val 2456"/>
            </a:avLst>
          </a:prstGeom>
          <a:solidFill>
            <a:srgbClr val="221C31"/>
          </a:solidFill>
          <a:ln w="9525">
            <a:solidFill>
              <a:srgbClr val="3A3152"/>
            </a:solidFill>
            <a:prstDash val="solid"/>
          </a:ln>
        </p:spPr>
      </p:sp>
      <p:sp>
        <p:nvSpPr>
          <p:cNvPr id="8" name="Shape 6"/>
          <p:cNvSpPr/>
          <p:nvPr/>
        </p:nvSpPr>
        <p:spPr>
          <a:xfrm>
            <a:off x="1930908" y="3008376"/>
            <a:ext cx="749808" cy="749808"/>
          </a:xfrm>
          <a:prstGeom prst="ellipse">
            <a:avLst/>
          </a:prstGeom>
          <a:solidFill>
            <a:srgbClr val="2B2342"/>
          </a:solidFill>
          <a:ln w="9525">
            <a:solidFill>
              <a:srgbClr val="3A3152"/>
            </a:solidFill>
            <a:prstDash val="solid"/>
          </a:ln>
        </p:spPr>
      </p:sp>
      <p:pic>
        <p:nvPicPr>
          <p:cNvPr id="9" name="Image 0" descr="/tmp/claude-0/-home-user-WickedWays/bfe20d4f-91dd-58c9-a5c6-92b3d7767e5d/scratchpad/decks/icons/dice.png">    </p:cNvPr>
          <p:cNvPicPr>
            <a:picLocks noChangeAspect="1"/>
          </p:cNvPicPr>
          <p:nvPr/>
        </p:nvPicPr>
        <p:blipFill>
          <a:blip r:embed="rId1"/>
          <a:stretch>
            <a:fillRect/>
          </a:stretch>
        </p:blipFill>
        <p:spPr>
          <a:xfrm>
            <a:off x="2110862" y="3188330"/>
            <a:ext cx="389900" cy="389900"/>
          </a:xfrm>
          <a:prstGeom prst="rect">
            <a:avLst/>
          </a:prstGeom>
        </p:spPr>
      </p:pic>
      <p:sp>
        <p:nvSpPr>
          <p:cNvPr id="10" name="Text 7"/>
          <p:cNvSpPr/>
          <p:nvPr/>
        </p:nvSpPr>
        <p:spPr>
          <a:xfrm>
            <a:off x="749808" y="3931920"/>
            <a:ext cx="3112008" cy="566928"/>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One seeded RNG</a:t>
            </a:r>
            <a:endParaRPr lang="en-US" sz="1600" dirty="0"/>
          </a:p>
        </p:txBody>
      </p:sp>
      <p:sp>
        <p:nvSpPr>
          <p:cNvPr id="11" name="Text 8"/>
          <p:cNvSpPr/>
          <p:nvPr/>
        </p:nvSpPr>
        <p:spPr>
          <a:xfrm>
            <a:off x="768096" y="4480560"/>
            <a:ext cx="3075432" cy="64008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All rolls draw from World.rng; its state rides in the snapshot. Real table dice enter as recorded commands — replays stay exact.</a:t>
            </a:r>
            <a:endParaRPr lang="en-US" sz="1200" dirty="0"/>
          </a:p>
        </p:txBody>
      </p:sp>
      <p:sp>
        <p:nvSpPr>
          <p:cNvPr id="12" name="Shape 9"/>
          <p:cNvSpPr/>
          <p:nvPr/>
        </p:nvSpPr>
        <p:spPr>
          <a:xfrm>
            <a:off x="4337304" y="2697480"/>
            <a:ext cx="3514344" cy="2606040"/>
          </a:xfrm>
          <a:prstGeom prst="roundRect">
            <a:avLst>
              <a:gd name="adj" fmla="val 2456"/>
            </a:avLst>
          </a:prstGeom>
          <a:solidFill>
            <a:srgbClr val="221C31"/>
          </a:solidFill>
          <a:ln w="9525">
            <a:solidFill>
              <a:srgbClr val="3A3152"/>
            </a:solidFill>
            <a:prstDash val="solid"/>
          </a:ln>
        </p:spPr>
      </p:sp>
      <p:sp>
        <p:nvSpPr>
          <p:cNvPr id="13" name="Shape 10"/>
          <p:cNvSpPr/>
          <p:nvPr/>
        </p:nvSpPr>
        <p:spPr>
          <a:xfrm>
            <a:off x="5719572" y="3008376"/>
            <a:ext cx="749808" cy="749808"/>
          </a:xfrm>
          <a:prstGeom prst="ellipse">
            <a:avLst/>
          </a:prstGeom>
          <a:solidFill>
            <a:srgbClr val="2B2342"/>
          </a:solidFill>
          <a:ln w="9525">
            <a:solidFill>
              <a:srgbClr val="3A3152"/>
            </a:solidFill>
            <a:prstDash val="solid"/>
          </a:ln>
        </p:spPr>
      </p:sp>
      <p:pic>
        <p:nvPicPr>
          <p:cNvPr id="14" name="Image 1" descr="/tmp/claude-0/-home-user-WickedWays/bfe20d4f-91dd-58c9-a5c6-92b3d7767e5d/scratchpad/decks/icons/clock.png">    </p:cNvPr>
          <p:cNvPicPr>
            <a:picLocks noChangeAspect="1"/>
          </p:cNvPicPr>
          <p:nvPr/>
        </p:nvPicPr>
        <p:blipFill>
          <a:blip r:embed="rId2"/>
          <a:stretch>
            <a:fillRect/>
          </a:stretch>
        </p:blipFill>
        <p:spPr>
          <a:xfrm>
            <a:off x="5899526" y="3188330"/>
            <a:ext cx="389900" cy="389900"/>
          </a:xfrm>
          <a:prstGeom prst="rect">
            <a:avLst/>
          </a:prstGeom>
        </p:spPr>
      </p:pic>
      <p:sp>
        <p:nvSpPr>
          <p:cNvPr id="15" name="Text 11"/>
          <p:cNvSpPr/>
          <p:nvPr/>
        </p:nvSpPr>
        <p:spPr>
          <a:xfrm>
            <a:off x="4538472" y="3931920"/>
            <a:ext cx="3112008" cy="566928"/>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No clock</a:t>
            </a:r>
            <a:endParaRPr lang="en-US" sz="1600" dirty="0"/>
          </a:p>
        </p:txBody>
      </p:sp>
      <p:sp>
        <p:nvSpPr>
          <p:cNvPr id="16" name="Text 12"/>
          <p:cNvSpPr/>
          <p:nvPr/>
        </p:nvSpPr>
        <p:spPr>
          <a:xfrm>
            <a:off x="4556760" y="4480560"/>
            <a:ext cx="3075432" cy="64008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Wall-time access does not exist in the engine. There is nothing to mock, because there is nothing there.</a:t>
            </a:r>
            <a:endParaRPr lang="en-US" sz="1200" dirty="0"/>
          </a:p>
        </p:txBody>
      </p:sp>
      <p:sp>
        <p:nvSpPr>
          <p:cNvPr id="17" name="Shape 13"/>
          <p:cNvSpPr/>
          <p:nvPr/>
        </p:nvSpPr>
        <p:spPr>
          <a:xfrm>
            <a:off x="8125968" y="2697480"/>
            <a:ext cx="3514344" cy="2606040"/>
          </a:xfrm>
          <a:prstGeom prst="roundRect">
            <a:avLst>
              <a:gd name="adj" fmla="val 2456"/>
            </a:avLst>
          </a:prstGeom>
          <a:solidFill>
            <a:srgbClr val="221C31"/>
          </a:solidFill>
          <a:ln w="9525">
            <a:solidFill>
              <a:srgbClr val="3A3152"/>
            </a:solidFill>
            <a:prstDash val="solid"/>
          </a:ln>
        </p:spPr>
      </p:sp>
      <p:sp>
        <p:nvSpPr>
          <p:cNvPr id="18" name="Shape 14"/>
          <p:cNvSpPr/>
          <p:nvPr/>
        </p:nvSpPr>
        <p:spPr>
          <a:xfrm>
            <a:off x="9508236" y="3008376"/>
            <a:ext cx="749808" cy="749808"/>
          </a:xfrm>
          <a:prstGeom prst="ellipse">
            <a:avLst/>
          </a:prstGeom>
          <a:solidFill>
            <a:srgbClr val="2B2342"/>
          </a:solidFill>
          <a:ln w="9525">
            <a:solidFill>
              <a:srgbClr val="3A3152"/>
            </a:solidFill>
            <a:prstDash val="solid"/>
          </a:ln>
        </p:spPr>
      </p:sp>
      <p:pic>
        <p:nvPicPr>
          <p:cNvPr id="19" name="Image 2" descr="/tmp/claude-0/-home-user-WickedWays/bfe20d4f-91dd-58c9-a5c6-92b3d7767e5d/scratchpad/decks/icons/xcircle_bone.png">    </p:cNvPr>
          <p:cNvPicPr>
            <a:picLocks noChangeAspect="1"/>
          </p:cNvPicPr>
          <p:nvPr/>
        </p:nvPicPr>
        <p:blipFill>
          <a:blip r:embed="rId3"/>
          <a:stretch>
            <a:fillRect/>
          </a:stretch>
        </p:blipFill>
        <p:spPr>
          <a:xfrm>
            <a:off x="9688190" y="3188330"/>
            <a:ext cx="389900" cy="389900"/>
          </a:xfrm>
          <a:prstGeom prst="rect">
            <a:avLst/>
          </a:prstGeom>
        </p:spPr>
      </p:pic>
      <p:sp>
        <p:nvSpPr>
          <p:cNvPr id="20" name="Text 15"/>
          <p:cNvSpPr/>
          <p:nvPr/>
        </p:nvSpPr>
        <p:spPr>
          <a:xfrm>
            <a:off x="8327136" y="3931920"/>
            <a:ext cx="3112008" cy="566928"/>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No IO</a:t>
            </a:r>
            <a:endParaRPr lang="en-US" sz="1600" dirty="0"/>
          </a:p>
        </p:txBody>
      </p:sp>
      <p:sp>
        <p:nvSpPr>
          <p:cNvPr id="21" name="Text 16"/>
          <p:cNvSpPr/>
          <p:nvPr/>
        </p:nvSpPr>
        <p:spPr>
          <a:xfrm>
            <a:off x="8345424" y="4480560"/>
            <a:ext cx="3075432" cy="64008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A pure state machine: commands in, state + cues out. Presentation subscribes; it never participates.</a:t>
            </a:r>
            <a:endParaRPr lang="en-US" sz="1200" dirty="0"/>
          </a:p>
        </p:txBody>
      </p:sp>
      <p:sp>
        <p:nvSpPr>
          <p:cNvPr id="22" name="Text 17"/>
          <p:cNvSpPr/>
          <p:nvPr/>
        </p:nvSpPr>
        <p:spPr>
          <a:xfrm>
            <a:off x="822960" y="6080760"/>
            <a:ext cx="10543032" cy="548640"/>
          </a:xfrm>
          <a:prstGeom prst="rect">
            <a:avLst/>
          </a:prstGeom>
          <a:noFill/>
          <a:ln/>
        </p:spPr>
        <p:txBody>
          <a:bodyPr wrap="square" lIns="0" tIns="0" rIns="0" bIns="0" rtlCol="0" anchor="ctr"/>
          <a:lstStyle/>
          <a:p>
            <a:pPr algn="ctr" indent="0" marL="0">
              <a:buNone/>
            </a:pPr>
            <a:r>
              <a:rPr lang="en-US" sz="1400" i="1" dirty="0">
                <a:solidFill>
                  <a:srgbClr val="9A92A8"/>
                </a:solidFill>
                <a:latin typeface="Calibri" pitchFamily="34" charset="0"/>
                <a:ea typeface="Calibri" pitchFamily="34" charset="-122"/>
                <a:cs typeface="Calibri" pitchFamily="34" charset="-120"/>
              </a:rPr>
              <a:t>Replay, save/load, multiplayer convergence, and regression pins all fall out of this one property.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DISCIPLINE NO. 2</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Every boundary is a closed vocabulary</a:t>
            </a:r>
            <a:endParaRPr lang="en-US" sz="3000" dirty="0"/>
          </a:p>
        </p:txBody>
      </p:sp>
      <p:sp>
        <p:nvSpPr>
          <p:cNvPr id="4" name="Shape 2"/>
          <p:cNvSpPr/>
          <p:nvPr/>
        </p:nvSpPr>
        <p:spPr>
          <a:xfrm>
            <a:off x="548640" y="1600200"/>
            <a:ext cx="3383280" cy="3108960"/>
          </a:xfrm>
          <a:prstGeom prst="roundRect">
            <a:avLst>
              <a:gd name="adj" fmla="val 2059"/>
            </a:avLst>
          </a:prstGeom>
          <a:solidFill>
            <a:srgbClr val="221C31"/>
          </a:solidFill>
          <a:ln w="9525">
            <a:solidFill>
              <a:srgbClr val="3A3152"/>
            </a:solidFill>
            <a:prstDash val="solid"/>
          </a:ln>
        </p:spPr>
      </p:sp>
      <p:sp>
        <p:nvSpPr>
          <p:cNvPr id="5" name="Text 3"/>
          <p:cNvSpPr/>
          <p:nvPr/>
        </p:nvSpPr>
        <p:spPr>
          <a:xfrm>
            <a:off x="548640" y="1783080"/>
            <a:ext cx="3383280" cy="320040"/>
          </a:xfrm>
          <a:prstGeom prst="rect">
            <a:avLst/>
          </a:prstGeom>
          <a:noFill/>
          <a:ln/>
        </p:spPr>
        <p:txBody>
          <a:bodyPr wrap="square" lIns="0" tIns="0" rIns="0" bIns="0" rtlCol="0" anchor="ctr"/>
          <a:lstStyle/>
          <a:p>
            <a:pPr algn="ctr" indent="0" marL="0">
              <a:buNone/>
            </a:pPr>
            <a:r>
              <a:rPr lang="en-US" sz="1300" b="1" spc="200" kern="0" dirty="0">
                <a:solidFill>
                  <a:srgbClr val="C9A227"/>
                </a:solidFill>
                <a:latin typeface="Calibri" pitchFamily="34" charset="0"/>
                <a:ea typeface="Calibri" pitchFamily="34" charset="-122"/>
                <a:cs typeface="Calibri" pitchFamily="34" charset="-120"/>
              </a:rPr>
              <a:t>COMMANDS IN</a:t>
            </a:r>
            <a:endParaRPr lang="en-US" sz="1300" dirty="0"/>
          </a:p>
        </p:txBody>
      </p:sp>
      <p:sp>
        <p:nvSpPr>
          <p:cNvPr id="6" name="Text 4"/>
          <p:cNvSpPr/>
          <p:nvPr/>
        </p:nvSpPr>
        <p:spPr>
          <a:xfrm>
            <a:off x="548640" y="2084832"/>
            <a:ext cx="3383280" cy="274320"/>
          </a:xfrm>
          <a:prstGeom prst="rect">
            <a:avLst/>
          </a:prstGeom>
          <a:noFill/>
          <a:ln/>
        </p:spPr>
        <p:txBody>
          <a:bodyPr wrap="square" lIns="0" tIns="0" rIns="0" bIns="0" rtlCol="0" anchor="ctr"/>
          <a:lstStyle/>
          <a:p>
            <a:pPr algn="ctr" indent="0" marL="0">
              <a:buNone/>
            </a:pPr>
            <a:r>
              <a:rPr lang="en-US" sz="1100" i="1" dirty="0">
                <a:solidFill>
                  <a:srgbClr val="9A92A8"/>
                </a:solidFill>
                <a:latin typeface="Calibri" pitchFamily="34" charset="0"/>
                <a:ea typeface="Calibri" pitchFamily="34" charset="-122"/>
                <a:cs typeface="Calibri" pitchFamily="34" charset="-120"/>
              </a:rPr>
              <a:t>a closed, tagged union</a:t>
            </a:r>
            <a:endParaRPr lang="en-US" sz="1100" dirty="0"/>
          </a:p>
        </p:txBody>
      </p:sp>
      <p:sp>
        <p:nvSpPr>
          <p:cNvPr id="7" name="Shape 5"/>
          <p:cNvSpPr/>
          <p:nvPr/>
        </p:nvSpPr>
        <p:spPr>
          <a:xfrm>
            <a:off x="987552" y="2606040"/>
            <a:ext cx="548640" cy="347472"/>
          </a:xfrm>
          <a:prstGeom prst="roundRect">
            <a:avLst>
              <a:gd name="adj" fmla="val 31579"/>
            </a:avLst>
          </a:prstGeom>
          <a:solidFill>
            <a:srgbClr val="2B2342"/>
          </a:solidFill>
          <a:ln w="6350">
            <a:solidFill>
              <a:srgbClr val="3A3152"/>
            </a:solidFill>
            <a:prstDash val="solid"/>
          </a:ln>
        </p:spPr>
      </p:sp>
      <p:sp>
        <p:nvSpPr>
          <p:cNvPr id="8" name="Text 6"/>
          <p:cNvSpPr/>
          <p:nvPr/>
        </p:nvSpPr>
        <p:spPr>
          <a:xfrm>
            <a:off x="987552" y="2606040"/>
            <a:ext cx="548640"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move</a:t>
            </a:r>
            <a:endParaRPr lang="en-US" sz="1050" dirty="0"/>
          </a:p>
        </p:txBody>
      </p:sp>
      <p:sp>
        <p:nvSpPr>
          <p:cNvPr id="9" name="Shape 7"/>
          <p:cNvSpPr/>
          <p:nvPr/>
        </p:nvSpPr>
        <p:spPr>
          <a:xfrm>
            <a:off x="1682496" y="2606040"/>
            <a:ext cx="704088" cy="347472"/>
          </a:xfrm>
          <a:prstGeom prst="roundRect">
            <a:avLst>
              <a:gd name="adj" fmla="val 31579"/>
            </a:avLst>
          </a:prstGeom>
          <a:solidFill>
            <a:srgbClr val="2B2342"/>
          </a:solidFill>
          <a:ln w="6350">
            <a:solidFill>
              <a:srgbClr val="3A3152"/>
            </a:solidFill>
            <a:prstDash val="solid"/>
          </a:ln>
        </p:spPr>
      </p:sp>
      <p:sp>
        <p:nvSpPr>
          <p:cNvPr id="10" name="Text 8"/>
          <p:cNvSpPr/>
          <p:nvPr/>
        </p:nvSpPr>
        <p:spPr>
          <a:xfrm>
            <a:off x="1682496" y="2606040"/>
            <a:ext cx="704088"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attack</a:t>
            </a:r>
            <a:endParaRPr lang="en-US" sz="1050" dirty="0"/>
          </a:p>
        </p:txBody>
      </p:sp>
      <p:sp>
        <p:nvSpPr>
          <p:cNvPr id="11" name="Shape 9"/>
          <p:cNvSpPr/>
          <p:nvPr/>
        </p:nvSpPr>
        <p:spPr>
          <a:xfrm>
            <a:off x="2532888" y="2606040"/>
            <a:ext cx="548640" cy="347472"/>
          </a:xfrm>
          <a:prstGeom prst="roundRect">
            <a:avLst>
              <a:gd name="adj" fmla="val 31579"/>
            </a:avLst>
          </a:prstGeom>
          <a:solidFill>
            <a:srgbClr val="2B2342"/>
          </a:solidFill>
          <a:ln w="6350">
            <a:solidFill>
              <a:srgbClr val="3A3152"/>
            </a:solidFill>
            <a:prstDash val="solid"/>
          </a:ln>
        </p:spPr>
      </p:sp>
      <p:sp>
        <p:nvSpPr>
          <p:cNvPr id="12" name="Text 10"/>
          <p:cNvSpPr/>
          <p:nvPr/>
        </p:nvSpPr>
        <p:spPr>
          <a:xfrm>
            <a:off x="2532888" y="2606040"/>
            <a:ext cx="548640"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take</a:t>
            </a:r>
            <a:endParaRPr lang="en-US" sz="1050" dirty="0"/>
          </a:p>
        </p:txBody>
      </p:sp>
      <p:sp>
        <p:nvSpPr>
          <p:cNvPr id="13" name="Shape 11"/>
          <p:cNvSpPr/>
          <p:nvPr/>
        </p:nvSpPr>
        <p:spPr>
          <a:xfrm>
            <a:off x="987552" y="3090672"/>
            <a:ext cx="548640" cy="347472"/>
          </a:xfrm>
          <a:prstGeom prst="roundRect">
            <a:avLst>
              <a:gd name="adj" fmla="val 31579"/>
            </a:avLst>
          </a:prstGeom>
          <a:solidFill>
            <a:srgbClr val="2B2342"/>
          </a:solidFill>
          <a:ln w="6350">
            <a:solidFill>
              <a:srgbClr val="3A3152"/>
            </a:solidFill>
            <a:prstDash val="solid"/>
          </a:ln>
        </p:spPr>
      </p:sp>
      <p:sp>
        <p:nvSpPr>
          <p:cNvPr id="14" name="Text 12"/>
          <p:cNvSpPr/>
          <p:nvPr/>
        </p:nvSpPr>
        <p:spPr>
          <a:xfrm>
            <a:off x="987552" y="3090672"/>
            <a:ext cx="548640"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talk</a:t>
            </a:r>
            <a:endParaRPr lang="en-US" sz="1050" dirty="0"/>
          </a:p>
        </p:txBody>
      </p:sp>
      <p:sp>
        <p:nvSpPr>
          <p:cNvPr id="15" name="Shape 13"/>
          <p:cNvSpPr/>
          <p:nvPr/>
        </p:nvSpPr>
        <p:spPr>
          <a:xfrm>
            <a:off x="1682496" y="3090672"/>
            <a:ext cx="626364" cy="347472"/>
          </a:xfrm>
          <a:prstGeom prst="roundRect">
            <a:avLst>
              <a:gd name="adj" fmla="val 31579"/>
            </a:avLst>
          </a:prstGeom>
          <a:solidFill>
            <a:srgbClr val="2B2342"/>
          </a:solidFill>
          <a:ln w="6350">
            <a:solidFill>
              <a:srgbClr val="3A3152"/>
            </a:solidFill>
            <a:prstDash val="solid"/>
          </a:ln>
        </p:spPr>
      </p:sp>
      <p:sp>
        <p:nvSpPr>
          <p:cNvPr id="16" name="Text 14"/>
          <p:cNvSpPr/>
          <p:nvPr/>
        </p:nvSpPr>
        <p:spPr>
          <a:xfrm>
            <a:off x="1682496" y="3090672"/>
            <a:ext cx="626364"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craft</a:t>
            </a:r>
            <a:endParaRPr lang="en-US" sz="1050" dirty="0"/>
          </a:p>
        </p:txBody>
      </p:sp>
      <p:sp>
        <p:nvSpPr>
          <p:cNvPr id="17" name="Shape 15"/>
          <p:cNvSpPr/>
          <p:nvPr/>
        </p:nvSpPr>
        <p:spPr>
          <a:xfrm>
            <a:off x="2455164" y="3090672"/>
            <a:ext cx="781812" cy="347472"/>
          </a:xfrm>
          <a:prstGeom prst="roundRect">
            <a:avLst>
              <a:gd name="adj" fmla="val 31579"/>
            </a:avLst>
          </a:prstGeom>
          <a:solidFill>
            <a:srgbClr val="2B2342"/>
          </a:solidFill>
          <a:ln w="6350">
            <a:solidFill>
              <a:srgbClr val="3A3152"/>
            </a:solidFill>
            <a:prstDash val="solid"/>
          </a:ln>
        </p:spPr>
      </p:sp>
      <p:sp>
        <p:nvSpPr>
          <p:cNvPr id="18" name="Text 16"/>
          <p:cNvSpPr/>
          <p:nvPr/>
        </p:nvSpPr>
        <p:spPr>
          <a:xfrm>
            <a:off x="2455164" y="3090672"/>
            <a:ext cx="781812"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endTurn</a:t>
            </a:r>
            <a:endParaRPr lang="en-US" sz="1050" dirty="0"/>
          </a:p>
        </p:txBody>
      </p:sp>
      <p:sp>
        <p:nvSpPr>
          <p:cNvPr id="19" name="Shape 17"/>
          <p:cNvSpPr/>
          <p:nvPr/>
        </p:nvSpPr>
        <p:spPr>
          <a:xfrm>
            <a:off x="987552" y="3575304"/>
            <a:ext cx="781812" cy="347472"/>
          </a:xfrm>
          <a:prstGeom prst="roundRect">
            <a:avLst>
              <a:gd name="adj" fmla="val 31579"/>
            </a:avLst>
          </a:prstGeom>
          <a:solidFill>
            <a:srgbClr val="2B2342"/>
          </a:solidFill>
          <a:ln w="6350">
            <a:solidFill>
              <a:srgbClr val="3A3152"/>
            </a:solidFill>
            <a:prstDash val="solid"/>
          </a:ln>
        </p:spPr>
      </p:sp>
      <p:sp>
        <p:nvSpPr>
          <p:cNvPr id="20" name="Text 18"/>
          <p:cNvSpPr/>
          <p:nvPr/>
        </p:nvSpPr>
        <p:spPr>
          <a:xfrm>
            <a:off x="987552" y="3575304"/>
            <a:ext cx="781812"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harvest</a:t>
            </a:r>
            <a:endParaRPr lang="en-US" sz="1050" dirty="0"/>
          </a:p>
        </p:txBody>
      </p:sp>
      <p:sp>
        <p:nvSpPr>
          <p:cNvPr id="21" name="Shape 19"/>
          <p:cNvSpPr/>
          <p:nvPr/>
        </p:nvSpPr>
        <p:spPr>
          <a:xfrm>
            <a:off x="1915668" y="3575304"/>
            <a:ext cx="470916" cy="347472"/>
          </a:xfrm>
          <a:prstGeom prst="roundRect">
            <a:avLst>
              <a:gd name="adj" fmla="val 31579"/>
            </a:avLst>
          </a:prstGeom>
          <a:solidFill>
            <a:srgbClr val="2B2342"/>
          </a:solidFill>
          <a:ln w="6350">
            <a:solidFill>
              <a:srgbClr val="3A3152"/>
            </a:solidFill>
            <a:prstDash val="solid"/>
          </a:ln>
        </p:spPr>
      </p:sp>
      <p:sp>
        <p:nvSpPr>
          <p:cNvPr id="22" name="Text 20"/>
          <p:cNvSpPr/>
          <p:nvPr/>
        </p:nvSpPr>
        <p:spPr>
          <a:xfrm>
            <a:off x="1915668" y="3575304"/>
            <a:ext cx="470916"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use</a:t>
            </a:r>
            <a:endParaRPr lang="en-US" sz="1050" dirty="0"/>
          </a:p>
        </p:txBody>
      </p:sp>
      <p:sp>
        <p:nvSpPr>
          <p:cNvPr id="23" name="Shape 21"/>
          <p:cNvSpPr/>
          <p:nvPr/>
        </p:nvSpPr>
        <p:spPr>
          <a:xfrm>
            <a:off x="2532888" y="3575304"/>
            <a:ext cx="548640" cy="347472"/>
          </a:xfrm>
          <a:prstGeom prst="roundRect">
            <a:avLst>
              <a:gd name="adj" fmla="val 31579"/>
            </a:avLst>
          </a:prstGeom>
          <a:solidFill>
            <a:srgbClr val="2B2342"/>
          </a:solidFill>
          <a:ln w="6350">
            <a:solidFill>
              <a:srgbClr val="3A3152"/>
            </a:solidFill>
            <a:prstDash val="solid"/>
          </a:ln>
        </p:spPr>
      </p:sp>
      <p:sp>
        <p:nvSpPr>
          <p:cNvPr id="24" name="Text 22"/>
          <p:cNvSpPr/>
          <p:nvPr/>
        </p:nvSpPr>
        <p:spPr>
          <a:xfrm>
            <a:off x="2532888" y="3575304"/>
            <a:ext cx="548640"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wait</a:t>
            </a:r>
            <a:endParaRPr lang="en-US" sz="1050" dirty="0"/>
          </a:p>
        </p:txBody>
      </p:sp>
      <p:sp>
        <p:nvSpPr>
          <p:cNvPr id="25" name="Shape 23"/>
          <p:cNvSpPr/>
          <p:nvPr/>
        </p:nvSpPr>
        <p:spPr>
          <a:xfrm>
            <a:off x="4434840" y="1600200"/>
            <a:ext cx="3319272" cy="3108960"/>
          </a:xfrm>
          <a:prstGeom prst="roundRect">
            <a:avLst>
              <a:gd name="adj" fmla="val 2059"/>
            </a:avLst>
          </a:prstGeom>
          <a:solidFill>
            <a:srgbClr val="8E2F2F"/>
          </a:solidFill>
          <a:ln w="9525">
            <a:solidFill>
              <a:srgbClr val="C9A227"/>
            </a:solidFill>
            <a:prstDash val="solid"/>
          </a:ln>
        </p:spPr>
      </p:sp>
      <p:sp>
        <p:nvSpPr>
          <p:cNvPr id="26" name="Shape 24"/>
          <p:cNvSpPr/>
          <p:nvPr/>
        </p:nvSpPr>
        <p:spPr>
          <a:xfrm>
            <a:off x="5687568" y="1984248"/>
            <a:ext cx="822960" cy="822960"/>
          </a:xfrm>
          <a:prstGeom prst="ellipse">
            <a:avLst/>
          </a:prstGeom>
          <a:solidFill>
            <a:srgbClr val="6E2A2A"/>
          </a:solidFill>
          <a:ln w="9525">
            <a:solidFill>
              <a:srgbClr val="3A3152"/>
            </a:solidFill>
            <a:prstDash val="solid"/>
          </a:ln>
        </p:spPr>
      </p:sp>
      <p:pic>
        <p:nvPicPr>
          <p:cNvPr id="27" name="Image 0" descr="/tmp/claude-0/-home-user-WickedWays/bfe20d4f-91dd-58c9-a5c6-92b3d7767e5d/scratchpad/decks/icons/lock_bone.png">    </p:cNvPr>
          <p:cNvPicPr>
            <a:picLocks noChangeAspect="1"/>
          </p:cNvPicPr>
          <p:nvPr/>
        </p:nvPicPr>
        <p:blipFill>
          <a:blip r:embed="rId1"/>
          <a:stretch>
            <a:fillRect/>
          </a:stretch>
        </p:blipFill>
        <p:spPr>
          <a:xfrm>
            <a:off x="5885078" y="2181758"/>
            <a:ext cx="427939" cy="427939"/>
          </a:xfrm>
          <a:prstGeom prst="rect">
            <a:avLst/>
          </a:prstGeom>
        </p:spPr>
      </p:pic>
      <p:sp>
        <p:nvSpPr>
          <p:cNvPr id="28" name="Text 25"/>
          <p:cNvSpPr/>
          <p:nvPr/>
        </p:nvSpPr>
        <p:spPr>
          <a:xfrm>
            <a:off x="4434840" y="2926080"/>
            <a:ext cx="3319272" cy="365760"/>
          </a:xfrm>
          <a:prstGeom prst="rect">
            <a:avLst/>
          </a:prstGeom>
          <a:noFill/>
          <a:ln/>
        </p:spPr>
        <p:txBody>
          <a:bodyPr wrap="square" lIns="0" tIns="0" rIns="0" bIns="0" rtlCol="0" anchor="ctr"/>
          <a:lstStyle/>
          <a:p>
            <a:pPr algn="ctr" indent="0" marL="0">
              <a:buNone/>
            </a:pPr>
            <a:r>
              <a:rPr lang="en-US" sz="1600" b="1" spc="200" kern="0" dirty="0">
                <a:solidFill>
                  <a:srgbClr val="E9E2D0"/>
                </a:solidFill>
                <a:latin typeface="Cambria" pitchFamily="34" charset="0"/>
                <a:ea typeface="Cambria" pitchFamily="34" charset="-122"/>
                <a:cs typeface="Cambria" pitchFamily="34" charset="-120"/>
              </a:rPr>
              <a:t>THE ENGINE</a:t>
            </a:r>
            <a:endParaRPr lang="en-US" sz="1600" dirty="0"/>
          </a:p>
        </p:txBody>
      </p:sp>
      <p:sp>
        <p:nvSpPr>
          <p:cNvPr id="29" name="Text 26"/>
          <p:cNvSpPr/>
          <p:nvPr/>
        </p:nvSpPr>
        <p:spPr>
          <a:xfrm>
            <a:off x="4526280" y="3310128"/>
            <a:ext cx="3136392" cy="1097280"/>
          </a:xfrm>
          <a:prstGeom prst="rect">
            <a:avLst/>
          </a:prstGeom>
          <a:noFill/>
          <a:ln/>
        </p:spPr>
        <p:txBody>
          <a:bodyPr wrap="square" lIns="0" tIns="0" rIns="0" bIns="0" rtlCol="0" anchor="ctr"/>
          <a:lstStyle/>
          <a:p>
            <a:pPr algn="ctr" indent="0" marL="0">
              <a:buNone/>
            </a:pPr>
            <a:r>
              <a:rPr lang="en-US" sz="1250" dirty="0">
                <a:solidFill>
                  <a:srgbClr val="E9E2D0"/>
                </a:solidFill>
                <a:latin typeface="Calibri" pitchFamily="34" charset="0"/>
                <a:ea typeface="Calibri" pitchFamily="34" charset="-122"/>
                <a:cs typeface="Calibri" pitchFamily="34" charset="-120"/>
              </a:rPr>
              <a:t>no raw setters —</a:t>
            </a:r>
            <a:endParaRPr lang="en-US" sz="1250" dirty="0"/>
          </a:p>
          <a:p>
            <a:pPr algn="ctr" indent="0" marL="0">
              <a:buNone/>
            </a:pPr>
            <a:r>
              <a:rPr lang="en-US" sz="1250" dirty="0">
                <a:solidFill>
                  <a:srgbClr val="E9E2D0"/>
                </a:solidFill>
                <a:latin typeface="Calibri" pitchFamily="34" charset="0"/>
                <a:ea typeface="Calibri" pitchFamily="34" charset="-122"/>
                <a:cs typeface="Calibri" pitchFamily="34" charset="-120"/>
              </a:rPr>
              <a:t>illegal moves throw</a:t>
            </a:r>
            <a:endParaRPr lang="en-US" sz="1250" dirty="0"/>
          </a:p>
          <a:p>
            <a:pPr algn="ctr" indent="0" marL="0">
              <a:buNone/>
            </a:pPr>
            <a:r>
              <a:rPr lang="en-US" sz="1250" dirty="0">
                <a:solidFill>
                  <a:srgbClr val="E9E2D0"/>
                </a:solidFill>
                <a:latin typeface="Calibri" pitchFamily="34" charset="0"/>
                <a:ea typeface="Calibri" pitchFamily="34" charset="-122"/>
                <a:cs typeface="Calibri" pitchFamily="34" charset="-120"/>
              </a:rPr>
              <a:t>ProceduralViolation</a:t>
            </a:r>
            <a:endParaRPr lang="en-US" sz="1250" dirty="0"/>
          </a:p>
        </p:txBody>
      </p:sp>
      <p:sp>
        <p:nvSpPr>
          <p:cNvPr id="30" name="Shape 27"/>
          <p:cNvSpPr/>
          <p:nvPr/>
        </p:nvSpPr>
        <p:spPr>
          <a:xfrm>
            <a:off x="8257032" y="1600200"/>
            <a:ext cx="3383280" cy="3108960"/>
          </a:xfrm>
          <a:prstGeom prst="roundRect">
            <a:avLst>
              <a:gd name="adj" fmla="val 2059"/>
            </a:avLst>
          </a:prstGeom>
          <a:solidFill>
            <a:srgbClr val="221C31"/>
          </a:solidFill>
          <a:ln w="9525">
            <a:solidFill>
              <a:srgbClr val="3A3152"/>
            </a:solidFill>
            <a:prstDash val="solid"/>
          </a:ln>
        </p:spPr>
      </p:sp>
      <p:sp>
        <p:nvSpPr>
          <p:cNvPr id="31" name="Text 28"/>
          <p:cNvSpPr/>
          <p:nvPr/>
        </p:nvSpPr>
        <p:spPr>
          <a:xfrm>
            <a:off x="8257032" y="1783080"/>
            <a:ext cx="3383280" cy="320040"/>
          </a:xfrm>
          <a:prstGeom prst="rect">
            <a:avLst/>
          </a:prstGeom>
          <a:noFill/>
          <a:ln/>
        </p:spPr>
        <p:txBody>
          <a:bodyPr wrap="square" lIns="0" tIns="0" rIns="0" bIns="0" rtlCol="0" anchor="ctr"/>
          <a:lstStyle/>
          <a:p>
            <a:pPr algn="ctr" indent="0" marL="0">
              <a:buNone/>
            </a:pPr>
            <a:r>
              <a:rPr lang="en-US" sz="1300" b="1" spc="200" kern="0" dirty="0">
                <a:solidFill>
                  <a:srgbClr val="C9A227"/>
                </a:solidFill>
                <a:latin typeface="Calibri" pitchFamily="34" charset="0"/>
                <a:ea typeface="Calibri" pitchFamily="34" charset="-122"/>
                <a:cs typeface="Calibri" pitchFamily="34" charset="-120"/>
              </a:rPr>
              <a:t>EFFECTS OUT</a:t>
            </a:r>
            <a:endParaRPr lang="en-US" sz="1300" dirty="0"/>
          </a:p>
        </p:txBody>
      </p:sp>
      <p:sp>
        <p:nvSpPr>
          <p:cNvPr id="32" name="Text 29"/>
          <p:cNvSpPr/>
          <p:nvPr/>
        </p:nvSpPr>
        <p:spPr>
          <a:xfrm>
            <a:off x="8257032" y="2084832"/>
            <a:ext cx="3383280" cy="274320"/>
          </a:xfrm>
          <a:prstGeom prst="rect">
            <a:avLst/>
          </a:prstGeom>
          <a:noFill/>
          <a:ln/>
        </p:spPr>
        <p:txBody>
          <a:bodyPr wrap="square" lIns="0" tIns="0" rIns="0" bIns="0" rtlCol="0" anchor="ctr"/>
          <a:lstStyle/>
          <a:p>
            <a:pPr algn="ctr" indent="0" marL="0">
              <a:buNone/>
            </a:pPr>
            <a:r>
              <a:rPr lang="en-US" sz="1100" i="1" dirty="0">
                <a:solidFill>
                  <a:srgbClr val="9A92A8"/>
                </a:solidFill>
                <a:latin typeface="Calibri" pitchFamily="34" charset="0"/>
                <a:ea typeface="Calibri" pitchFamily="34" charset="-122"/>
                <a:cs typeface="Calibri" pitchFamily="34" charset="-120"/>
              </a:rPr>
              <a:t>intent, clamped on apply</a:t>
            </a:r>
            <a:endParaRPr lang="en-US" sz="1100" dirty="0"/>
          </a:p>
        </p:txBody>
      </p:sp>
      <p:sp>
        <p:nvSpPr>
          <p:cNvPr id="33" name="Shape 30"/>
          <p:cNvSpPr/>
          <p:nvPr/>
        </p:nvSpPr>
        <p:spPr>
          <a:xfrm>
            <a:off x="8595360" y="2606040"/>
            <a:ext cx="704088" cy="347472"/>
          </a:xfrm>
          <a:prstGeom prst="roundRect">
            <a:avLst>
              <a:gd name="adj" fmla="val 31579"/>
            </a:avLst>
          </a:prstGeom>
          <a:solidFill>
            <a:srgbClr val="2B2342"/>
          </a:solidFill>
          <a:ln w="6350">
            <a:solidFill>
              <a:srgbClr val="3A3152"/>
            </a:solidFill>
            <a:prstDash val="solid"/>
          </a:ln>
        </p:spPr>
      </p:sp>
      <p:sp>
        <p:nvSpPr>
          <p:cNvPr id="34" name="Text 31"/>
          <p:cNvSpPr/>
          <p:nvPr/>
        </p:nvSpPr>
        <p:spPr>
          <a:xfrm>
            <a:off x="8595360" y="2606040"/>
            <a:ext cx="704088"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damage</a:t>
            </a:r>
            <a:endParaRPr lang="en-US" sz="1050" dirty="0"/>
          </a:p>
        </p:txBody>
      </p:sp>
      <p:sp>
        <p:nvSpPr>
          <p:cNvPr id="35" name="Shape 32"/>
          <p:cNvSpPr/>
          <p:nvPr/>
        </p:nvSpPr>
        <p:spPr>
          <a:xfrm>
            <a:off x="9427464" y="2606040"/>
            <a:ext cx="548640" cy="347472"/>
          </a:xfrm>
          <a:prstGeom prst="roundRect">
            <a:avLst>
              <a:gd name="adj" fmla="val 31579"/>
            </a:avLst>
          </a:prstGeom>
          <a:solidFill>
            <a:srgbClr val="2B2342"/>
          </a:solidFill>
          <a:ln w="6350">
            <a:solidFill>
              <a:srgbClr val="3A3152"/>
            </a:solidFill>
            <a:prstDash val="solid"/>
          </a:ln>
        </p:spPr>
      </p:sp>
      <p:sp>
        <p:nvSpPr>
          <p:cNvPr id="36" name="Text 33"/>
          <p:cNvSpPr/>
          <p:nvPr/>
        </p:nvSpPr>
        <p:spPr>
          <a:xfrm>
            <a:off x="9427464" y="2606040"/>
            <a:ext cx="548640"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heal</a:t>
            </a:r>
            <a:endParaRPr lang="en-US" sz="1050" dirty="0"/>
          </a:p>
        </p:txBody>
      </p:sp>
      <p:sp>
        <p:nvSpPr>
          <p:cNvPr id="37" name="Shape 34"/>
          <p:cNvSpPr/>
          <p:nvPr/>
        </p:nvSpPr>
        <p:spPr>
          <a:xfrm>
            <a:off x="10104120" y="2606040"/>
            <a:ext cx="470916" cy="347472"/>
          </a:xfrm>
          <a:prstGeom prst="roundRect">
            <a:avLst>
              <a:gd name="adj" fmla="val 31579"/>
            </a:avLst>
          </a:prstGeom>
          <a:solidFill>
            <a:srgbClr val="2B2342"/>
          </a:solidFill>
          <a:ln w="6350">
            <a:solidFill>
              <a:srgbClr val="3A3152"/>
            </a:solidFill>
            <a:prstDash val="solid"/>
          </a:ln>
        </p:spPr>
      </p:sp>
      <p:sp>
        <p:nvSpPr>
          <p:cNvPr id="38" name="Text 35"/>
          <p:cNvSpPr/>
          <p:nvPr/>
        </p:nvSpPr>
        <p:spPr>
          <a:xfrm>
            <a:off x="10104120" y="2606040"/>
            <a:ext cx="470916"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cue</a:t>
            </a:r>
            <a:endParaRPr lang="en-US" sz="1050" dirty="0"/>
          </a:p>
        </p:txBody>
      </p:sp>
      <p:sp>
        <p:nvSpPr>
          <p:cNvPr id="39" name="Shape 36"/>
          <p:cNvSpPr/>
          <p:nvPr/>
        </p:nvSpPr>
        <p:spPr>
          <a:xfrm>
            <a:off x="8595360" y="3090672"/>
            <a:ext cx="1014984" cy="347472"/>
          </a:xfrm>
          <a:prstGeom prst="roundRect">
            <a:avLst>
              <a:gd name="adj" fmla="val 31579"/>
            </a:avLst>
          </a:prstGeom>
          <a:solidFill>
            <a:srgbClr val="2B2342"/>
          </a:solidFill>
          <a:ln w="6350">
            <a:solidFill>
              <a:srgbClr val="3A3152"/>
            </a:solidFill>
            <a:prstDash val="solid"/>
          </a:ln>
        </p:spPr>
      </p:sp>
      <p:sp>
        <p:nvSpPr>
          <p:cNvPr id="40" name="Text 37"/>
          <p:cNvSpPr/>
          <p:nvPr/>
        </p:nvSpPr>
        <p:spPr>
          <a:xfrm>
            <a:off x="8595360" y="3090672"/>
            <a:ext cx="1014984"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adjustStat</a:t>
            </a:r>
            <a:endParaRPr lang="en-US" sz="1050" dirty="0"/>
          </a:p>
        </p:txBody>
      </p:sp>
      <p:sp>
        <p:nvSpPr>
          <p:cNvPr id="41" name="Shape 38"/>
          <p:cNvSpPr/>
          <p:nvPr/>
        </p:nvSpPr>
        <p:spPr>
          <a:xfrm>
            <a:off x="9738360" y="3090672"/>
            <a:ext cx="704088" cy="347472"/>
          </a:xfrm>
          <a:prstGeom prst="roundRect">
            <a:avLst>
              <a:gd name="adj" fmla="val 31579"/>
            </a:avLst>
          </a:prstGeom>
          <a:solidFill>
            <a:srgbClr val="2B2342"/>
          </a:solidFill>
          <a:ln w="6350">
            <a:solidFill>
              <a:srgbClr val="3A3152"/>
            </a:solidFill>
            <a:prstDash val="solid"/>
          </a:ln>
        </p:spPr>
      </p:sp>
      <p:sp>
        <p:nvSpPr>
          <p:cNvPr id="42" name="Text 39"/>
          <p:cNvSpPr/>
          <p:nvPr/>
        </p:nvSpPr>
        <p:spPr>
          <a:xfrm>
            <a:off x="9738360" y="3090672"/>
            <a:ext cx="704088"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status</a:t>
            </a:r>
            <a:endParaRPr lang="en-US" sz="1050" dirty="0"/>
          </a:p>
        </p:txBody>
      </p:sp>
      <p:sp>
        <p:nvSpPr>
          <p:cNvPr id="43" name="Shape 40"/>
          <p:cNvSpPr/>
          <p:nvPr/>
        </p:nvSpPr>
        <p:spPr>
          <a:xfrm>
            <a:off x="8595360" y="3575304"/>
            <a:ext cx="859536" cy="347472"/>
          </a:xfrm>
          <a:prstGeom prst="roundRect">
            <a:avLst>
              <a:gd name="adj" fmla="val 31579"/>
            </a:avLst>
          </a:prstGeom>
          <a:solidFill>
            <a:srgbClr val="2B2342"/>
          </a:solidFill>
          <a:ln w="6350">
            <a:solidFill>
              <a:srgbClr val="3A3152"/>
            </a:solidFill>
            <a:prstDash val="solid"/>
          </a:ln>
        </p:spPr>
      </p:sp>
      <p:sp>
        <p:nvSpPr>
          <p:cNvPr id="44" name="Text 41"/>
          <p:cNvSpPr/>
          <p:nvPr/>
        </p:nvSpPr>
        <p:spPr>
          <a:xfrm>
            <a:off x="8595360" y="3575304"/>
            <a:ext cx="859536"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giveItem</a:t>
            </a:r>
            <a:endParaRPr lang="en-US" sz="1050" dirty="0"/>
          </a:p>
        </p:txBody>
      </p:sp>
      <p:sp>
        <p:nvSpPr>
          <p:cNvPr id="45" name="Shape 42"/>
          <p:cNvSpPr/>
          <p:nvPr/>
        </p:nvSpPr>
        <p:spPr>
          <a:xfrm>
            <a:off x="9582912" y="3575304"/>
            <a:ext cx="1014984" cy="347472"/>
          </a:xfrm>
          <a:prstGeom prst="roundRect">
            <a:avLst>
              <a:gd name="adj" fmla="val 31579"/>
            </a:avLst>
          </a:prstGeom>
          <a:solidFill>
            <a:srgbClr val="2B2342"/>
          </a:solidFill>
          <a:ln w="6350">
            <a:solidFill>
              <a:srgbClr val="3A3152"/>
            </a:solidFill>
            <a:prstDash val="solid"/>
          </a:ln>
        </p:spPr>
      </p:sp>
      <p:sp>
        <p:nvSpPr>
          <p:cNvPr id="46" name="Text 43"/>
          <p:cNvSpPr/>
          <p:nvPr/>
        </p:nvSpPr>
        <p:spPr>
          <a:xfrm>
            <a:off x="9582912" y="3575304"/>
            <a:ext cx="1014984" cy="347472"/>
          </a:xfrm>
          <a:prstGeom prst="rect">
            <a:avLst/>
          </a:prstGeom>
          <a:noFill/>
          <a:ln/>
        </p:spPr>
        <p:txBody>
          <a:bodyPr wrap="square" lIns="0" tIns="0" rIns="0" bIns="0" rtlCol="0" anchor="ctr"/>
          <a:lstStyle/>
          <a:p>
            <a:pPr algn="ctr" indent="0" marL="0">
              <a:buNone/>
            </a:pPr>
            <a:r>
              <a:rPr lang="en-US" sz="1050" dirty="0">
                <a:solidFill>
                  <a:srgbClr val="E9E2D0"/>
                </a:solidFill>
                <a:latin typeface="Courier New" pitchFamily="34" charset="0"/>
                <a:ea typeface="Courier New" pitchFamily="34" charset="-122"/>
                <a:cs typeface="Courier New" pitchFamily="34" charset="-120"/>
              </a:rPr>
              <a:t>setVisible</a:t>
            </a:r>
            <a:endParaRPr lang="en-US" sz="1050" dirty="0"/>
          </a:p>
        </p:txBody>
      </p:sp>
      <p:sp>
        <p:nvSpPr>
          <p:cNvPr id="47" name="Shape 44"/>
          <p:cNvSpPr/>
          <p:nvPr/>
        </p:nvSpPr>
        <p:spPr>
          <a:xfrm>
            <a:off x="4023360" y="3154680"/>
            <a:ext cx="320040" cy="0"/>
          </a:xfrm>
          <a:prstGeom prst="line">
            <a:avLst/>
          </a:prstGeom>
          <a:noFill/>
          <a:ln w="25400">
            <a:solidFill>
              <a:srgbClr val="C9A227"/>
            </a:solidFill>
            <a:prstDash val="solid"/>
            <a:tailEnd type="triangle"/>
          </a:ln>
        </p:spPr>
      </p:sp>
      <p:sp>
        <p:nvSpPr>
          <p:cNvPr id="48" name="Shape 45"/>
          <p:cNvSpPr/>
          <p:nvPr/>
        </p:nvSpPr>
        <p:spPr>
          <a:xfrm>
            <a:off x="7845552" y="3154680"/>
            <a:ext cx="320040" cy="0"/>
          </a:xfrm>
          <a:prstGeom prst="line">
            <a:avLst/>
          </a:prstGeom>
          <a:noFill/>
          <a:ln w="25400">
            <a:solidFill>
              <a:srgbClr val="C9A227"/>
            </a:solidFill>
            <a:prstDash val="solid"/>
            <a:tailEnd type="triangle"/>
          </a:ln>
        </p:spPr>
      </p:sp>
      <p:sp>
        <p:nvSpPr>
          <p:cNvPr id="49" name="Text 46"/>
          <p:cNvSpPr/>
          <p:nvPr/>
        </p:nvSpPr>
        <p:spPr>
          <a:xfrm>
            <a:off x="822960" y="502920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Content compiles to a small no-loops script stored as data — user content cannot express nondeterminism.</a:t>
            </a:r>
            <a:endParaRPr lang="en-US" sz="1400" dirty="0"/>
          </a:p>
        </p:txBody>
      </p:sp>
      <p:sp>
        <p:nvSpPr>
          <p:cNvPr id="50" name="Text 47"/>
          <p:cNvSpPr/>
          <p:nvPr/>
        </p:nvSpPr>
        <p:spPr>
          <a:xfrm>
            <a:off x="822960" y="5532120"/>
            <a:ext cx="10543032" cy="548640"/>
          </a:xfrm>
          <a:prstGeom prst="rect">
            <a:avLst/>
          </a:prstGeom>
          <a:noFill/>
          <a:ln/>
        </p:spPr>
        <p:txBody>
          <a:bodyPr wrap="square" lIns="0" tIns="0" rIns="0" bIns="0" rtlCol="0" anchor="ctr"/>
          <a:lstStyle/>
          <a:p>
            <a:pPr algn="ctr" indent="0" marL="0">
              <a:buNone/>
            </a:pPr>
            <a:r>
              <a:rPr lang="en-US" sz="1300" i="1" dirty="0">
                <a:solidFill>
                  <a:srgbClr val="9A92A8"/>
                </a:solidFill>
                <a:latin typeface="Calibri" pitchFamily="34" charset="0"/>
                <a:ea typeface="Calibri" pitchFamily="34" charset="-122"/>
                <a:cs typeface="Calibri" pitchFamily="34" charset="-120"/>
              </a:rPr>
              <a:t>Extensions speak the vocabulary; they never reach raw state.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DISCIPLINE NO. 3</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Behavior is pinned, byte-for-byte</a:t>
            </a:r>
            <a:endParaRPr lang="en-US" sz="3000" dirty="0"/>
          </a:p>
        </p:txBody>
      </p:sp>
      <p:sp>
        <p:nvSpPr>
          <p:cNvPr id="4" name="Shape 2"/>
          <p:cNvSpPr/>
          <p:nvPr/>
        </p:nvSpPr>
        <p:spPr>
          <a:xfrm>
            <a:off x="548640" y="1554480"/>
            <a:ext cx="3514344" cy="1554480"/>
          </a:xfrm>
          <a:prstGeom prst="roundRect">
            <a:avLst>
              <a:gd name="adj" fmla="val 4118"/>
            </a:avLst>
          </a:prstGeom>
          <a:solidFill>
            <a:srgbClr val="221C31"/>
          </a:solidFill>
          <a:ln w="9525">
            <a:solidFill>
              <a:srgbClr val="3A3152"/>
            </a:solidFill>
            <a:prstDash val="solid"/>
          </a:ln>
        </p:spPr>
      </p:sp>
      <p:sp>
        <p:nvSpPr>
          <p:cNvPr id="5" name="Text 3"/>
          <p:cNvSpPr/>
          <p:nvPr/>
        </p:nvSpPr>
        <p:spPr>
          <a:xfrm>
            <a:off x="640080" y="1700784"/>
            <a:ext cx="3331464" cy="86868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256</a:t>
            </a:r>
            <a:endParaRPr lang="en-US" sz="4000" dirty="0"/>
          </a:p>
        </p:txBody>
      </p:sp>
      <p:sp>
        <p:nvSpPr>
          <p:cNvPr id="6" name="Text 4"/>
          <p:cNvSpPr/>
          <p:nvPr/>
        </p:nvSpPr>
        <p:spPr>
          <a:xfrm>
            <a:off x="685800" y="2542032"/>
            <a:ext cx="3240024" cy="457200"/>
          </a:xfrm>
          <a:prstGeom prst="rect">
            <a:avLst/>
          </a:prstGeom>
          <a:noFill/>
          <a:ln/>
        </p:spPr>
        <p:txBody>
          <a:bodyPr wrap="square" lIns="0" tIns="0" rIns="0" bIns="0" rtlCol="0" anchor="ctr"/>
          <a:lstStyle/>
          <a:p>
            <a:pPr algn="ctr" indent="0" marL="0">
              <a:buNone/>
            </a:pPr>
            <a:r>
              <a:rPr lang="en-US" sz="1200" dirty="0">
                <a:solidFill>
                  <a:srgbClr val="9A92A8"/>
                </a:solidFill>
                <a:latin typeface="Calibri" pitchFamily="34" charset="0"/>
                <a:ea typeface="Calibri" pitchFamily="34" charset="-122"/>
                <a:cs typeface="Calibri" pitchFamily="34" charset="-120"/>
              </a:rPr>
              <a:t>committed fixture files in conformance/fixtures/</a:t>
            </a:r>
            <a:endParaRPr lang="en-US" sz="1200" dirty="0"/>
          </a:p>
        </p:txBody>
      </p:sp>
      <p:sp>
        <p:nvSpPr>
          <p:cNvPr id="7" name="Shape 5"/>
          <p:cNvSpPr/>
          <p:nvPr/>
        </p:nvSpPr>
        <p:spPr>
          <a:xfrm>
            <a:off x="4337304" y="1554480"/>
            <a:ext cx="3514344" cy="1554480"/>
          </a:xfrm>
          <a:prstGeom prst="roundRect">
            <a:avLst>
              <a:gd name="adj" fmla="val 4118"/>
            </a:avLst>
          </a:prstGeom>
          <a:solidFill>
            <a:srgbClr val="221C31"/>
          </a:solidFill>
          <a:ln w="9525">
            <a:solidFill>
              <a:srgbClr val="3A3152"/>
            </a:solidFill>
            <a:prstDash val="solid"/>
          </a:ln>
        </p:spPr>
      </p:sp>
      <p:sp>
        <p:nvSpPr>
          <p:cNvPr id="8" name="Text 6"/>
          <p:cNvSpPr/>
          <p:nvPr/>
        </p:nvSpPr>
        <p:spPr>
          <a:xfrm>
            <a:off x="4428744" y="1700784"/>
            <a:ext cx="3331464" cy="86868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4</a:t>
            </a:r>
            <a:endParaRPr lang="en-US" sz="4000" dirty="0"/>
          </a:p>
        </p:txBody>
      </p:sp>
      <p:sp>
        <p:nvSpPr>
          <p:cNvPr id="9" name="Text 7"/>
          <p:cNvSpPr/>
          <p:nvPr/>
        </p:nvSpPr>
        <p:spPr>
          <a:xfrm>
            <a:off x="4474464" y="2542032"/>
            <a:ext cx="3240024" cy="457200"/>
          </a:xfrm>
          <a:prstGeom prst="rect">
            <a:avLst/>
          </a:prstGeom>
          <a:noFill/>
          <a:ln/>
        </p:spPr>
        <p:txBody>
          <a:bodyPr wrap="square" lIns="0" tIns="0" rIns="0" bIns="0" rtlCol="0" anchor="ctr"/>
          <a:lstStyle/>
          <a:p>
            <a:pPr algn="ctr" indent="0" marL="0">
              <a:buNone/>
            </a:pPr>
            <a:r>
              <a:rPr lang="en-US" sz="1200" dirty="0">
                <a:solidFill>
                  <a:srgbClr val="9A92A8"/>
                </a:solidFill>
                <a:latin typeface="Calibri" pitchFamily="34" charset="0"/>
                <a:ea typeface="Calibri" pitchFamily="34" charset="-122"/>
                <a:cs typeface="Calibri" pitchFamily="34" charset="-120"/>
              </a:rPr>
              <a:t>CI gates: author · assembler · replay · sync</a:t>
            </a:r>
            <a:endParaRPr lang="en-US" sz="1200" dirty="0"/>
          </a:p>
        </p:txBody>
      </p:sp>
      <p:sp>
        <p:nvSpPr>
          <p:cNvPr id="10" name="Shape 8"/>
          <p:cNvSpPr/>
          <p:nvPr/>
        </p:nvSpPr>
        <p:spPr>
          <a:xfrm>
            <a:off x="8125968" y="1554480"/>
            <a:ext cx="3514344" cy="1554480"/>
          </a:xfrm>
          <a:prstGeom prst="roundRect">
            <a:avLst>
              <a:gd name="adj" fmla="val 4118"/>
            </a:avLst>
          </a:prstGeom>
          <a:solidFill>
            <a:srgbClr val="221C31"/>
          </a:solidFill>
          <a:ln w="9525">
            <a:solidFill>
              <a:srgbClr val="3A3152"/>
            </a:solidFill>
            <a:prstDash val="solid"/>
          </a:ln>
        </p:spPr>
      </p:sp>
      <p:sp>
        <p:nvSpPr>
          <p:cNvPr id="11" name="Text 9"/>
          <p:cNvSpPr/>
          <p:nvPr/>
        </p:nvSpPr>
        <p:spPr>
          <a:xfrm>
            <a:off x="8217408" y="1700784"/>
            <a:ext cx="3331464" cy="86868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0</a:t>
            </a:r>
            <a:endParaRPr lang="en-US" sz="4000" dirty="0"/>
          </a:p>
        </p:txBody>
      </p:sp>
      <p:sp>
        <p:nvSpPr>
          <p:cNvPr id="12" name="Text 10"/>
          <p:cNvSpPr/>
          <p:nvPr/>
        </p:nvSpPr>
        <p:spPr>
          <a:xfrm>
            <a:off x="8263128" y="2542032"/>
            <a:ext cx="3240024" cy="457200"/>
          </a:xfrm>
          <a:prstGeom prst="rect">
            <a:avLst/>
          </a:prstGeom>
          <a:noFill/>
          <a:ln/>
        </p:spPr>
        <p:txBody>
          <a:bodyPr wrap="square" lIns="0" tIns="0" rIns="0" bIns="0" rtlCol="0" anchor="ctr"/>
          <a:lstStyle/>
          <a:p>
            <a:pPr algn="ctr" indent="0" marL="0">
              <a:buNone/>
            </a:pPr>
            <a:r>
              <a:rPr lang="en-US" sz="1200" dirty="0">
                <a:solidFill>
                  <a:srgbClr val="9A92A8"/>
                </a:solidFill>
                <a:latin typeface="Calibri" pitchFamily="34" charset="0"/>
                <a:ea typeface="Calibri" pitchFamily="34" charset="-122"/>
                <a:cs typeface="Calibri" pitchFamily="34" charset="-120"/>
              </a:rPr>
              <a:t>hand-edits — regenerate deliberately, review the diff like code</a:t>
            </a:r>
            <a:endParaRPr lang="en-US" sz="1200" dirty="0"/>
          </a:p>
        </p:txBody>
      </p:sp>
      <p:sp>
        <p:nvSpPr>
          <p:cNvPr id="13" name="Shape 11"/>
          <p:cNvSpPr/>
          <p:nvPr/>
        </p:nvSpPr>
        <p:spPr>
          <a:xfrm>
            <a:off x="548640" y="3794760"/>
            <a:ext cx="2395728" cy="960120"/>
          </a:xfrm>
          <a:prstGeom prst="roundRect">
            <a:avLst>
              <a:gd name="adj" fmla="val 6667"/>
            </a:avLst>
          </a:prstGeom>
          <a:solidFill>
            <a:srgbClr val="2B2342"/>
          </a:solidFill>
          <a:ln w="9525">
            <a:solidFill>
              <a:srgbClr val="3A3152"/>
            </a:solidFill>
            <a:prstDash val="solid"/>
          </a:ln>
        </p:spPr>
      </p:sp>
      <p:sp>
        <p:nvSpPr>
          <p:cNvPr id="14" name="Text 12"/>
          <p:cNvSpPr/>
          <p:nvPr/>
        </p:nvSpPr>
        <p:spPr>
          <a:xfrm>
            <a:off x="621792" y="3867912"/>
            <a:ext cx="2249424" cy="528066"/>
          </a:xfrm>
          <a:prstGeom prst="rect">
            <a:avLst/>
          </a:prstGeom>
          <a:noFill/>
          <a:ln/>
        </p:spPr>
        <p:txBody>
          <a:bodyPr wrap="square" lIns="0" tIns="0" rIns="0" bIns="0" rtlCol="0" anchor="ctr"/>
          <a:lstStyle/>
          <a:p>
            <a:pPr algn="ctr" indent="0" marL="0">
              <a:buNone/>
            </a:pPr>
            <a:r>
              <a:rPr lang="en-US" sz="1250" b="1" dirty="0">
                <a:solidFill>
                  <a:srgbClr val="E9E2D0"/>
                </a:solidFill>
                <a:latin typeface="Calibri" pitchFamily="34" charset="0"/>
                <a:ea typeface="Calibri" pitchFamily="34" charset="-122"/>
                <a:cs typeface="Calibri" pitchFamily="34" charset="-120"/>
              </a:rPr>
              <a:t>TypeScript engine</a:t>
            </a:r>
            <a:endParaRPr lang="en-US" sz="1250" dirty="0"/>
          </a:p>
        </p:txBody>
      </p:sp>
      <p:sp>
        <p:nvSpPr>
          <p:cNvPr id="15" name="Text 13"/>
          <p:cNvSpPr/>
          <p:nvPr/>
        </p:nvSpPr>
        <p:spPr>
          <a:xfrm>
            <a:off x="621792" y="4294022"/>
            <a:ext cx="2249424" cy="403250"/>
          </a:xfrm>
          <a:prstGeom prst="rect">
            <a:avLst/>
          </a:prstGeom>
          <a:noFill/>
          <a:ln/>
        </p:spPr>
        <p:txBody>
          <a:bodyPr wrap="square" lIns="0" tIns="0" rIns="0" bIns="0" rtlCol="0" anchor="ctr"/>
          <a:lstStyle/>
          <a:p>
            <a:pPr algn="ctr" indent="0" marL="0">
              <a:buNone/>
            </a:pPr>
            <a:r>
              <a:rPr lang="en-US" sz="1000" dirty="0">
                <a:solidFill>
                  <a:srgbClr val="9A92A8"/>
                </a:solidFill>
                <a:latin typeface="Calibri" pitchFamily="34" charset="0"/>
                <a:ea typeface="Calibri" pitchFamily="34" charset="-122"/>
                <a:cs typeface="Calibri" pitchFamily="34" charset="-120"/>
              </a:rPr>
              <a:t>where it began</a:t>
            </a:r>
            <a:endParaRPr lang="en-US" sz="1000" dirty="0"/>
          </a:p>
        </p:txBody>
      </p:sp>
      <p:sp>
        <p:nvSpPr>
          <p:cNvPr id="16" name="Shape 14"/>
          <p:cNvSpPr/>
          <p:nvPr/>
        </p:nvSpPr>
        <p:spPr>
          <a:xfrm>
            <a:off x="3017520" y="4274820"/>
            <a:ext cx="356616" cy="0"/>
          </a:xfrm>
          <a:prstGeom prst="line">
            <a:avLst/>
          </a:prstGeom>
          <a:noFill/>
          <a:ln w="25400">
            <a:solidFill>
              <a:srgbClr val="C9A227"/>
            </a:solidFill>
            <a:prstDash val="solid"/>
            <a:tailEnd type="triangle"/>
          </a:ln>
        </p:spPr>
      </p:sp>
      <p:sp>
        <p:nvSpPr>
          <p:cNvPr id="17" name="Shape 15"/>
          <p:cNvSpPr/>
          <p:nvPr/>
        </p:nvSpPr>
        <p:spPr>
          <a:xfrm>
            <a:off x="3447288" y="3794760"/>
            <a:ext cx="2395728" cy="960120"/>
          </a:xfrm>
          <a:prstGeom prst="roundRect">
            <a:avLst>
              <a:gd name="adj" fmla="val 6667"/>
            </a:avLst>
          </a:prstGeom>
          <a:solidFill>
            <a:srgbClr val="2B2342"/>
          </a:solidFill>
          <a:ln w="9525">
            <a:solidFill>
              <a:srgbClr val="3A3152"/>
            </a:solidFill>
            <a:prstDash val="solid"/>
          </a:ln>
        </p:spPr>
      </p:sp>
      <p:sp>
        <p:nvSpPr>
          <p:cNvPr id="18" name="Text 16"/>
          <p:cNvSpPr/>
          <p:nvPr/>
        </p:nvSpPr>
        <p:spPr>
          <a:xfrm>
            <a:off x="3520440" y="3867912"/>
            <a:ext cx="2249424" cy="528066"/>
          </a:xfrm>
          <a:prstGeom prst="rect">
            <a:avLst/>
          </a:prstGeom>
          <a:noFill/>
          <a:ln/>
        </p:spPr>
        <p:txBody>
          <a:bodyPr wrap="square" lIns="0" tIns="0" rIns="0" bIns="0" rtlCol="0" anchor="ctr"/>
          <a:lstStyle/>
          <a:p>
            <a:pPr algn="ctr" indent="0" marL="0">
              <a:buNone/>
            </a:pPr>
            <a:r>
              <a:rPr lang="en-US" sz="1250" b="1" dirty="0">
                <a:solidFill>
                  <a:srgbClr val="E9E2D0"/>
                </a:solidFill>
                <a:latin typeface="Calibri" pitchFamily="34" charset="0"/>
                <a:ea typeface="Calibri" pitchFamily="34" charset="-122"/>
                <a:cs typeface="Calibri" pitchFamily="34" charset="-120"/>
              </a:rPr>
              <a:t>Goldens minted</a:t>
            </a:r>
            <a:endParaRPr lang="en-US" sz="1250" dirty="0"/>
          </a:p>
        </p:txBody>
      </p:sp>
      <p:sp>
        <p:nvSpPr>
          <p:cNvPr id="19" name="Text 17"/>
          <p:cNvSpPr/>
          <p:nvPr/>
        </p:nvSpPr>
        <p:spPr>
          <a:xfrm>
            <a:off x="3520440" y="4294022"/>
            <a:ext cx="2249424" cy="403250"/>
          </a:xfrm>
          <a:prstGeom prst="rect">
            <a:avLst/>
          </a:prstGeom>
          <a:noFill/>
          <a:ln/>
        </p:spPr>
        <p:txBody>
          <a:bodyPr wrap="square" lIns="0" tIns="0" rIns="0" bIns="0" rtlCol="0" anchor="ctr"/>
          <a:lstStyle/>
          <a:p>
            <a:pPr algn="ctr" indent="0" marL="0">
              <a:buNone/>
            </a:pPr>
            <a:r>
              <a:rPr lang="en-US" sz="1000" dirty="0">
                <a:solidFill>
                  <a:srgbClr val="9A92A8"/>
                </a:solidFill>
                <a:latin typeface="Calibri" pitchFamily="34" charset="0"/>
                <a:ea typeface="Calibri" pitchFamily="34" charset="-122"/>
                <a:cs typeface="Calibri" pitchFamily="34" charset="-120"/>
              </a:rPr>
              <a:t>behavior pinned</a:t>
            </a:r>
            <a:endParaRPr lang="en-US" sz="1000" dirty="0"/>
          </a:p>
        </p:txBody>
      </p:sp>
      <p:sp>
        <p:nvSpPr>
          <p:cNvPr id="20" name="Shape 18"/>
          <p:cNvSpPr/>
          <p:nvPr/>
        </p:nvSpPr>
        <p:spPr>
          <a:xfrm>
            <a:off x="5916168" y="4274820"/>
            <a:ext cx="356616" cy="0"/>
          </a:xfrm>
          <a:prstGeom prst="line">
            <a:avLst/>
          </a:prstGeom>
          <a:noFill/>
          <a:ln w="25400">
            <a:solidFill>
              <a:srgbClr val="C9A227"/>
            </a:solidFill>
            <a:prstDash val="solid"/>
            <a:tailEnd type="triangle"/>
          </a:ln>
        </p:spPr>
      </p:sp>
      <p:sp>
        <p:nvSpPr>
          <p:cNvPr id="21" name="Shape 19"/>
          <p:cNvSpPr/>
          <p:nvPr/>
        </p:nvSpPr>
        <p:spPr>
          <a:xfrm>
            <a:off x="6345936" y="3794760"/>
            <a:ext cx="2395728" cy="960120"/>
          </a:xfrm>
          <a:prstGeom prst="roundRect">
            <a:avLst>
              <a:gd name="adj" fmla="val 6667"/>
            </a:avLst>
          </a:prstGeom>
          <a:solidFill>
            <a:srgbClr val="2B2342"/>
          </a:solidFill>
          <a:ln w="9525">
            <a:solidFill>
              <a:srgbClr val="3A3152"/>
            </a:solidFill>
            <a:prstDash val="solid"/>
          </a:ln>
        </p:spPr>
      </p:sp>
      <p:sp>
        <p:nvSpPr>
          <p:cNvPr id="22" name="Text 20"/>
          <p:cNvSpPr/>
          <p:nvPr/>
        </p:nvSpPr>
        <p:spPr>
          <a:xfrm>
            <a:off x="6419088" y="3867912"/>
            <a:ext cx="2249424" cy="528066"/>
          </a:xfrm>
          <a:prstGeom prst="rect">
            <a:avLst/>
          </a:prstGeom>
          <a:noFill/>
          <a:ln/>
        </p:spPr>
        <p:txBody>
          <a:bodyPr wrap="square" lIns="0" tIns="0" rIns="0" bIns="0" rtlCol="0" anchor="ctr"/>
          <a:lstStyle/>
          <a:p>
            <a:pPr algn="ctr" indent="0" marL="0">
              <a:buNone/>
            </a:pPr>
            <a:r>
              <a:rPr lang="en-US" sz="1250" b="1" dirty="0">
                <a:solidFill>
                  <a:srgbClr val="C9A227"/>
                </a:solidFill>
                <a:latin typeface="Calibri" pitchFamily="34" charset="0"/>
                <a:ea typeface="Calibri" pitchFamily="34" charset="-122"/>
                <a:cs typeface="Calibri" pitchFamily="34" charset="-120"/>
              </a:rPr>
              <a:t>Rust rewrite</a:t>
            </a:r>
            <a:endParaRPr lang="en-US" sz="1250" dirty="0"/>
          </a:p>
        </p:txBody>
      </p:sp>
      <p:sp>
        <p:nvSpPr>
          <p:cNvPr id="23" name="Text 21"/>
          <p:cNvSpPr/>
          <p:nvPr/>
        </p:nvSpPr>
        <p:spPr>
          <a:xfrm>
            <a:off x="6419088" y="4294022"/>
            <a:ext cx="2249424" cy="403250"/>
          </a:xfrm>
          <a:prstGeom prst="rect">
            <a:avLst/>
          </a:prstGeom>
          <a:noFill/>
          <a:ln/>
        </p:spPr>
        <p:txBody>
          <a:bodyPr wrap="square" lIns="0" tIns="0" rIns="0" bIns="0" rtlCol="0" anchor="ctr"/>
          <a:lstStyle/>
          <a:p>
            <a:pPr algn="ctr" indent="0" marL="0">
              <a:buNone/>
            </a:pPr>
            <a:r>
              <a:rPr lang="en-US" sz="1000" dirty="0">
                <a:solidFill>
                  <a:srgbClr val="9A92A8"/>
                </a:solidFill>
                <a:latin typeface="Calibri" pitchFamily="34" charset="0"/>
                <a:ea typeface="Calibri" pitchFamily="34" charset="-122"/>
                <a:cs typeface="Calibri" pitchFamily="34" charset="-120"/>
              </a:rPr>
              <a:t>matches byte-for-byte</a:t>
            </a:r>
            <a:endParaRPr lang="en-US" sz="1000" dirty="0"/>
          </a:p>
        </p:txBody>
      </p:sp>
      <p:sp>
        <p:nvSpPr>
          <p:cNvPr id="24" name="Shape 22"/>
          <p:cNvSpPr/>
          <p:nvPr/>
        </p:nvSpPr>
        <p:spPr>
          <a:xfrm>
            <a:off x="8814816" y="4274820"/>
            <a:ext cx="356616" cy="0"/>
          </a:xfrm>
          <a:prstGeom prst="line">
            <a:avLst/>
          </a:prstGeom>
          <a:noFill/>
          <a:ln w="25400">
            <a:solidFill>
              <a:srgbClr val="C9A227"/>
            </a:solidFill>
            <a:prstDash val="solid"/>
            <a:tailEnd type="triangle"/>
          </a:ln>
        </p:spPr>
      </p:sp>
      <p:sp>
        <p:nvSpPr>
          <p:cNvPr id="25" name="Shape 23"/>
          <p:cNvSpPr/>
          <p:nvPr/>
        </p:nvSpPr>
        <p:spPr>
          <a:xfrm>
            <a:off x="9244584" y="3794760"/>
            <a:ext cx="2395728" cy="960120"/>
          </a:xfrm>
          <a:prstGeom prst="roundRect">
            <a:avLst>
              <a:gd name="adj" fmla="val 6667"/>
            </a:avLst>
          </a:prstGeom>
          <a:solidFill>
            <a:srgbClr val="8E2F2F"/>
          </a:solidFill>
          <a:ln w="9525">
            <a:solidFill>
              <a:srgbClr val="3A3152"/>
            </a:solidFill>
            <a:prstDash val="solid"/>
          </a:ln>
        </p:spPr>
      </p:sp>
      <p:sp>
        <p:nvSpPr>
          <p:cNvPr id="26" name="Text 24"/>
          <p:cNvSpPr/>
          <p:nvPr/>
        </p:nvSpPr>
        <p:spPr>
          <a:xfrm>
            <a:off x="9317736" y="3867912"/>
            <a:ext cx="2249424" cy="528066"/>
          </a:xfrm>
          <a:prstGeom prst="rect">
            <a:avLst/>
          </a:prstGeom>
          <a:noFill/>
          <a:ln/>
        </p:spPr>
        <p:txBody>
          <a:bodyPr wrap="square" lIns="0" tIns="0" rIns="0" bIns="0" rtlCol="0" anchor="ctr"/>
          <a:lstStyle/>
          <a:p>
            <a:pPr algn="ctr" indent="0" marL="0">
              <a:buNone/>
            </a:pPr>
            <a:r>
              <a:rPr lang="en-US" sz="1250" b="1" dirty="0">
                <a:solidFill>
                  <a:srgbClr val="E9E2D0"/>
                </a:solidFill>
                <a:latin typeface="Calibri" pitchFamily="34" charset="0"/>
                <a:ea typeface="Calibri" pitchFamily="34" charset="-122"/>
                <a:cs typeface="Calibri" pitchFamily="34" charset="-120"/>
              </a:rPr>
              <a:t>TypeScript deleted</a:t>
            </a:r>
            <a:endParaRPr lang="en-US" sz="1250" dirty="0"/>
          </a:p>
        </p:txBody>
      </p:sp>
      <p:sp>
        <p:nvSpPr>
          <p:cNvPr id="27" name="Text 25"/>
          <p:cNvSpPr/>
          <p:nvPr/>
        </p:nvSpPr>
        <p:spPr>
          <a:xfrm>
            <a:off x="9317736" y="4294022"/>
            <a:ext cx="2249424" cy="403250"/>
          </a:xfrm>
          <a:prstGeom prst="rect">
            <a:avLst/>
          </a:prstGeom>
          <a:noFill/>
          <a:ln/>
        </p:spPr>
        <p:txBody>
          <a:bodyPr wrap="square" lIns="0" tIns="0" rIns="0" bIns="0" rtlCol="0" anchor="ctr"/>
          <a:lstStyle/>
          <a:p>
            <a:pPr algn="ctr" indent="0" marL="0">
              <a:buNone/>
            </a:pPr>
            <a:r>
              <a:rPr lang="en-US" sz="1000" dirty="0">
                <a:solidFill>
                  <a:srgbClr val="9A92A8"/>
                </a:solidFill>
                <a:latin typeface="Calibri" pitchFamily="34" charset="0"/>
                <a:ea typeface="Calibri" pitchFamily="34" charset="-122"/>
                <a:cs typeface="Calibri" pitchFamily="34" charset="-120"/>
              </a:rPr>
              <a:t>the tests remained</a:t>
            </a:r>
            <a:endParaRPr lang="en-US" sz="1000" dirty="0"/>
          </a:p>
        </p:txBody>
      </p:sp>
      <p:sp>
        <p:nvSpPr>
          <p:cNvPr id="28" name="Text 26"/>
          <p:cNvSpPr/>
          <p:nvPr/>
        </p:nvSpPr>
        <p:spPr>
          <a:xfrm>
            <a:off x="822960" y="539496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The corpus was the migration oracle — tests that can carry a rewrite across a language pin the right things.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PAYOFF</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What you get paid</a:t>
            </a:r>
            <a:endParaRPr lang="en-US" sz="3000" dirty="0"/>
          </a:p>
        </p:txBody>
      </p:sp>
      <p:sp>
        <p:nvSpPr>
          <p:cNvPr id="4" name="Shape 2"/>
          <p:cNvSpPr/>
          <p:nvPr/>
        </p:nvSpPr>
        <p:spPr>
          <a:xfrm>
            <a:off x="548640" y="1645920"/>
            <a:ext cx="3514344" cy="3749040"/>
          </a:xfrm>
          <a:prstGeom prst="roundRect">
            <a:avLst>
              <a:gd name="adj" fmla="val 1821"/>
            </a:avLst>
          </a:prstGeom>
          <a:solidFill>
            <a:srgbClr val="221C31"/>
          </a:solidFill>
          <a:ln w="9525">
            <a:solidFill>
              <a:srgbClr val="3A3152"/>
            </a:solidFill>
            <a:prstDash val="solid"/>
          </a:ln>
        </p:spPr>
      </p:sp>
      <p:sp>
        <p:nvSpPr>
          <p:cNvPr id="5" name="Shape 3"/>
          <p:cNvSpPr/>
          <p:nvPr/>
        </p:nvSpPr>
        <p:spPr>
          <a:xfrm>
            <a:off x="1930908"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users.png">    </p:cNvPr>
          <p:cNvPicPr>
            <a:picLocks noChangeAspect="1"/>
          </p:cNvPicPr>
          <p:nvPr/>
        </p:nvPicPr>
        <p:blipFill>
          <a:blip r:embed="rId1"/>
          <a:stretch>
            <a:fillRect/>
          </a:stretch>
        </p:blipFill>
        <p:spPr>
          <a:xfrm>
            <a:off x="2110862" y="2136770"/>
            <a:ext cx="389900" cy="389900"/>
          </a:xfrm>
          <a:prstGeom prst="rect">
            <a:avLst/>
          </a:prstGeom>
        </p:spPr>
      </p:pic>
      <p:sp>
        <p:nvSpPr>
          <p:cNvPr id="7" name="Text 4"/>
          <p:cNvSpPr/>
          <p:nvPr/>
        </p:nvSpPr>
        <p:spPr>
          <a:xfrm>
            <a:off x="749808" y="2880360"/>
            <a:ext cx="3112008" cy="566928"/>
          </a:xfrm>
          <a:prstGeom prst="rect">
            <a:avLst/>
          </a:prstGeom>
          <a:noFill/>
          <a:ln/>
        </p:spPr>
        <p:txBody>
          <a:bodyPr wrap="square" lIns="0" tIns="0" rIns="0" bIns="0" rtlCol="0" anchor="ctr"/>
          <a:lstStyle/>
          <a:p>
            <a:pPr algn="ctr" indent="0" marL="0">
              <a:buNone/>
            </a:pPr>
            <a:r>
              <a:rPr lang="en-US" sz="1700" b="1" dirty="0">
                <a:solidFill>
                  <a:srgbClr val="E9E2D0"/>
                </a:solidFill>
                <a:latin typeface="Cambria" pitchFamily="34" charset="0"/>
                <a:ea typeface="Cambria" pitchFamily="34" charset="-122"/>
                <a:cs typeface="Cambria" pitchFamily="34" charset="-120"/>
              </a:rPr>
              <a:t>Multiplayer,</a:t>
            </a:r>
            <a:endParaRPr lang="en-US" sz="1700" dirty="0"/>
          </a:p>
          <a:p>
            <a:pPr algn="ctr" indent="0" marL="0">
              <a:buNone/>
            </a:pPr>
            <a:r>
              <a:rPr lang="en-US" sz="1700" b="1" dirty="0">
                <a:solidFill>
                  <a:srgbClr val="E9E2D0"/>
                </a:solidFill>
                <a:latin typeface="Cambria" pitchFamily="34" charset="0"/>
                <a:ea typeface="Cambria" pitchFamily="34" charset="-122"/>
                <a:cs typeface="Cambria" pitchFamily="34" charset="-120"/>
              </a:rPr>
              <a:t>no netcode team</a:t>
            </a:r>
            <a:endParaRPr lang="en-US" sz="1700" dirty="0"/>
          </a:p>
        </p:txBody>
      </p:sp>
      <p:sp>
        <p:nvSpPr>
          <p:cNvPr id="8" name="Text 5"/>
          <p:cNvSpPr/>
          <p:nvPr/>
        </p:nvSpPr>
        <p:spPr>
          <a:xfrm>
            <a:off x="768096" y="3840480"/>
            <a:ext cx="3075432" cy="137160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Clients submit commands; the authority resolves; replicas apply deltas — a DeltaApplier that patches state and never runs rules. No prediction. No rollback. Single-player is the same authority with a solo flag.</a:t>
            </a:r>
            <a:endParaRPr lang="en-US" sz="1250" dirty="0"/>
          </a:p>
        </p:txBody>
      </p:sp>
      <p:sp>
        <p:nvSpPr>
          <p:cNvPr id="9" name="Shape 6"/>
          <p:cNvSpPr/>
          <p:nvPr/>
        </p:nvSpPr>
        <p:spPr>
          <a:xfrm>
            <a:off x="4337304" y="1645920"/>
            <a:ext cx="3514344" cy="3749040"/>
          </a:xfrm>
          <a:prstGeom prst="roundRect">
            <a:avLst>
              <a:gd name="adj" fmla="val 1821"/>
            </a:avLst>
          </a:prstGeom>
          <a:solidFill>
            <a:srgbClr val="221C31"/>
          </a:solidFill>
          <a:ln w="9525">
            <a:solidFill>
              <a:srgbClr val="3A3152"/>
            </a:solidFill>
            <a:prstDash val="solid"/>
          </a:ln>
        </p:spPr>
      </p:sp>
      <p:sp>
        <p:nvSpPr>
          <p:cNvPr id="10" name="Shape 7"/>
          <p:cNvSpPr/>
          <p:nvPr/>
        </p:nvSpPr>
        <p:spPr>
          <a:xfrm>
            <a:off x="5719572"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harddrive.png">    </p:cNvPr>
          <p:cNvPicPr>
            <a:picLocks noChangeAspect="1"/>
          </p:cNvPicPr>
          <p:nvPr/>
        </p:nvPicPr>
        <p:blipFill>
          <a:blip r:embed="rId2"/>
          <a:stretch>
            <a:fillRect/>
          </a:stretch>
        </p:blipFill>
        <p:spPr>
          <a:xfrm>
            <a:off x="5899526" y="2136770"/>
            <a:ext cx="389900" cy="389900"/>
          </a:xfrm>
          <a:prstGeom prst="rect">
            <a:avLst/>
          </a:prstGeom>
        </p:spPr>
      </p:pic>
      <p:sp>
        <p:nvSpPr>
          <p:cNvPr id="12" name="Text 8"/>
          <p:cNvSpPr/>
          <p:nvPr/>
        </p:nvSpPr>
        <p:spPr>
          <a:xfrm>
            <a:off x="4538472" y="2880360"/>
            <a:ext cx="3112008" cy="566928"/>
          </a:xfrm>
          <a:prstGeom prst="rect">
            <a:avLst/>
          </a:prstGeom>
          <a:noFill/>
          <a:ln/>
        </p:spPr>
        <p:txBody>
          <a:bodyPr wrap="square" lIns="0" tIns="0" rIns="0" bIns="0" rtlCol="0" anchor="ctr"/>
          <a:lstStyle/>
          <a:p>
            <a:pPr algn="ctr" indent="0" marL="0">
              <a:buNone/>
            </a:pPr>
            <a:r>
              <a:rPr lang="en-US" sz="1700" b="1" dirty="0">
                <a:solidFill>
                  <a:srgbClr val="E9E2D0"/>
                </a:solidFill>
                <a:latin typeface="Cambria" pitchFamily="34" charset="0"/>
                <a:ea typeface="Cambria" pitchFamily="34" charset="-122"/>
                <a:cs typeface="Cambria" pitchFamily="34" charset="-120"/>
              </a:rPr>
              <a:t>Desktop,</a:t>
            </a:r>
            <a:endParaRPr lang="en-US" sz="1700" dirty="0"/>
          </a:p>
          <a:p>
            <a:pPr algn="ctr" indent="0" marL="0">
              <a:buNone/>
            </a:pPr>
            <a:r>
              <a:rPr lang="en-US" sz="1700" b="1" dirty="0">
                <a:solidFill>
                  <a:srgbClr val="E9E2D0"/>
                </a:solidFill>
                <a:latin typeface="Cambria" pitchFamily="34" charset="0"/>
                <a:ea typeface="Cambria" pitchFamily="34" charset="-122"/>
                <a:cs typeface="Cambria" pitchFamily="34" charset="-120"/>
              </a:rPr>
              <a:t>a shell</a:t>
            </a:r>
            <a:endParaRPr lang="en-US" sz="1700" dirty="0"/>
          </a:p>
        </p:txBody>
      </p:sp>
      <p:sp>
        <p:nvSpPr>
          <p:cNvPr id="13" name="Text 9"/>
          <p:cNvSpPr/>
          <p:nvPr/>
        </p:nvSpPr>
        <p:spPr>
          <a:xfrm>
            <a:off x="4556760" y="3840480"/>
            <a:ext cx="3075432" cy="137160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The same client code in a webview shell — kept out of the main build so its OS-level GUI libraries never infect everything else. Ships .deb / .dmg / .msi.</a:t>
            </a:r>
            <a:endParaRPr lang="en-US" sz="1250" dirty="0"/>
          </a:p>
        </p:txBody>
      </p:sp>
      <p:sp>
        <p:nvSpPr>
          <p:cNvPr id="14" name="Shape 10"/>
          <p:cNvSpPr/>
          <p:nvPr/>
        </p:nvSpPr>
        <p:spPr>
          <a:xfrm>
            <a:off x="8125968" y="1645920"/>
            <a:ext cx="3514344" cy="3749040"/>
          </a:xfrm>
          <a:prstGeom prst="roundRect">
            <a:avLst>
              <a:gd name="adj" fmla="val 1821"/>
            </a:avLst>
          </a:prstGeom>
          <a:solidFill>
            <a:srgbClr val="221C31"/>
          </a:solidFill>
          <a:ln w="9525">
            <a:solidFill>
              <a:srgbClr val="3A3152"/>
            </a:solidFill>
            <a:prstDash val="solid"/>
          </a:ln>
        </p:spPr>
      </p:sp>
      <p:sp>
        <p:nvSpPr>
          <p:cNvPr id="15" name="Shape 11"/>
          <p:cNvSpPr/>
          <p:nvPr/>
        </p:nvSpPr>
        <p:spPr>
          <a:xfrm>
            <a:off x="9508236"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cpu_gold.png">    </p:cNvPr>
          <p:cNvPicPr>
            <a:picLocks noChangeAspect="1"/>
          </p:cNvPicPr>
          <p:nvPr/>
        </p:nvPicPr>
        <p:blipFill>
          <a:blip r:embed="rId3"/>
          <a:stretch>
            <a:fillRect/>
          </a:stretch>
        </p:blipFill>
        <p:spPr>
          <a:xfrm>
            <a:off x="9688190" y="2136770"/>
            <a:ext cx="389900" cy="389900"/>
          </a:xfrm>
          <a:prstGeom prst="rect">
            <a:avLst/>
          </a:prstGeom>
        </p:spPr>
      </p:pic>
      <p:sp>
        <p:nvSpPr>
          <p:cNvPr id="17" name="Text 12"/>
          <p:cNvSpPr/>
          <p:nvPr/>
        </p:nvSpPr>
        <p:spPr>
          <a:xfrm>
            <a:off x="8327136" y="2880360"/>
            <a:ext cx="3112008" cy="566928"/>
          </a:xfrm>
          <a:prstGeom prst="rect">
            <a:avLst/>
          </a:prstGeom>
          <a:noFill/>
          <a:ln/>
        </p:spPr>
        <p:txBody>
          <a:bodyPr wrap="square" lIns="0" tIns="0" rIns="0" bIns="0" rtlCol="0" anchor="ctr"/>
          <a:lstStyle/>
          <a:p>
            <a:pPr algn="ctr" indent="0" marL="0">
              <a:buNone/>
            </a:pPr>
            <a:r>
              <a:rPr lang="en-US" sz="1700" b="1" dirty="0">
                <a:solidFill>
                  <a:srgbClr val="E9E2D0"/>
                </a:solidFill>
                <a:latin typeface="Cambria" pitchFamily="34" charset="0"/>
                <a:ea typeface="Cambria" pitchFamily="34" charset="-122"/>
                <a:cs typeface="Cambria" pitchFamily="34" charset="-120"/>
              </a:rPr>
              <a:t>A physical board,</a:t>
            </a:r>
            <a:endParaRPr lang="en-US" sz="1700" dirty="0"/>
          </a:p>
          <a:p>
            <a:pPr algn="ctr" indent="0" marL="0">
              <a:buNone/>
            </a:pPr>
            <a:r>
              <a:rPr lang="en-US" sz="1700" b="1" dirty="0">
                <a:solidFill>
                  <a:srgbClr val="E9E2D0"/>
                </a:solidFill>
                <a:latin typeface="Cambria" pitchFamily="34" charset="0"/>
                <a:ea typeface="Cambria" pitchFamily="34" charset="-122"/>
                <a:cs typeface="Cambria" pitchFamily="34" charset="-120"/>
              </a:rPr>
              <a:t>1.4k lines</a:t>
            </a:r>
            <a:endParaRPr lang="en-US" sz="1700" dirty="0"/>
          </a:p>
        </p:txBody>
      </p:sp>
      <p:sp>
        <p:nvSpPr>
          <p:cNvPr id="18" name="Text 13"/>
          <p:cNvSpPr/>
          <p:nvPr/>
        </p:nvSpPr>
        <p:spPr>
          <a:xfrm>
            <a:off x="8345424" y="3840480"/>
            <a:ext cx="3075432" cy="137160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Real e-ink tiles, NFC pieces — and real dice: a rolled d20 enters the engine as a recorded command, so replays hold. The bridge maps views to device commands and events back. The rules never knew.</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TOLL</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What it costs</a:t>
            </a:r>
            <a:endParaRPr lang="en-US" sz="3000" dirty="0"/>
          </a:p>
        </p:txBody>
      </p:sp>
      <p:sp>
        <p:nvSpPr>
          <p:cNvPr id="4" name="Shape 2"/>
          <p:cNvSpPr/>
          <p:nvPr/>
        </p:nvSpPr>
        <p:spPr>
          <a:xfrm>
            <a:off x="548640" y="1572768"/>
            <a:ext cx="11091672" cy="969264"/>
          </a:xfrm>
          <a:prstGeom prst="roundRect">
            <a:avLst>
              <a:gd name="adj" fmla="val 6604"/>
            </a:avLst>
          </a:prstGeom>
          <a:solidFill>
            <a:srgbClr val="221C31"/>
          </a:solidFill>
          <a:ln w="9525">
            <a:solidFill>
              <a:srgbClr val="3A3152"/>
            </a:solidFill>
            <a:prstDash val="solid"/>
          </a:ln>
        </p:spPr>
      </p:sp>
      <p:sp>
        <p:nvSpPr>
          <p:cNvPr id="5" name="Shape 3"/>
          <p:cNvSpPr/>
          <p:nvPr/>
        </p:nvSpPr>
        <p:spPr>
          <a:xfrm>
            <a:off x="905256" y="1728216"/>
            <a:ext cx="658368" cy="65836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dice_bone.png">    </p:cNvPr>
          <p:cNvPicPr>
            <a:picLocks noChangeAspect="1"/>
          </p:cNvPicPr>
          <p:nvPr/>
        </p:nvPicPr>
        <p:blipFill>
          <a:blip r:embed="rId1"/>
          <a:stretch>
            <a:fillRect/>
          </a:stretch>
        </p:blipFill>
        <p:spPr>
          <a:xfrm>
            <a:off x="1063264" y="1886224"/>
            <a:ext cx="342351" cy="342351"/>
          </a:xfrm>
          <a:prstGeom prst="rect">
            <a:avLst/>
          </a:prstGeom>
        </p:spPr>
      </p:pic>
      <p:sp>
        <p:nvSpPr>
          <p:cNvPr id="7" name="Text 4"/>
          <p:cNvSpPr/>
          <p:nvPr/>
        </p:nvSpPr>
        <p:spPr>
          <a:xfrm>
            <a:off x="1828800" y="1691640"/>
            <a:ext cx="3108960" cy="731520"/>
          </a:xfrm>
          <a:prstGeom prst="rect">
            <a:avLst/>
          </a:prstGeom>
          <a:noFill/>
          <a:ln/>
        </p:spPr>
        <p:txBody>
          <a:bodyPr wrap="square" lIns="0" tIns="0" rIns="0" bIns="0" rtlCol="0" anchor="ctr"/>
          <a:lstStyle/>
          <a:p>
            <a:pPr indent="0" marL="0">
              <a:buNone/>
            </a:pPr>
            <a:r>
              <a:rPr lang="en-US" sz="1600" b="1" dirty="0">
                <a:solidFill>
                  <a:srgbClr val="E9E2D0"/>
                </a:solidFill>
                <a:latin typeface="Cambria" pitchFamily="34" charset="0"/>
                <a:ea typeface="Cambria" pitchFamily="34" charset="-122"/>
                <a:cs typeface="Cambria" pitchFamily="34" charset="-120"/>
              </a:rPr>
              <a:t>The determinism tax</a:t>
            </a:r>
            <a:endParaRPr lang="en-US" sz="1600" dirty="0"/>
          </a:p>
        </p:txBody>
      </p:sp>
      <p:sp>
        <p:nvSpPr>
          <p:cNvPr id="8" name="Text 5"/>
          <p:cNvSpPr/>
          <p:nvPr/>
        </p:nvSpPr>
        <p:spPr>
          <a:xfrm>
            <a:off x="5029200" y="1664208"/>
            <a:ext cx="6355080" cy="822960"/>
          </a:xfrm>
          <a:prstGeom prst="rect">
            <a:avLst/>
          </a:prstGeom>
          <a:noFill/>
          <a:ln/>
        </p:spPr>
        <p:txBody>
          <a:bodyPr wrap="square" lIns="0" tIns="0" rIns="0" bIns="0" rtlCol="0" anchor="ctr"/>
          <a:lstStyle/>
          <a:p>
            <a:pPr indent="0" marL="0">
              <a:buNone/>
            </a:pPr>
            <a:r>
              <a:rPr lang="en-US" sz="1250" dirty="0">
                <a:solidFill>
                  <a:srgbClr val="9A92A8"/>
                </a:solidFill>
                <a:latin typeface="Calibri" pitchFamily="34" charset="0"/>
                <a:ea typeface="Calibri" pitchFamily="34" charset="-122"/>
                <a:cs typeface="Calibri" pitchFamily="34" charset="-120"/>
              </a:rPr>
              <a:t>No ambient anything — every feature routes randomness through the injected RNG and gets replay-tested. Paid daily.</a:t>
            </a:r>
            <a:endParaRPr lang="en-US" sz="1250" dirty="0"/>
          </a:p>
        </p:txBody>
      </p:sp>
      <p:sp>
        <p:nvSpPr>
          <p:cNvPr id="9" name="Shape 6"/>
          <p:cNvSpPr/>
          <p:nvPr/>
        </p:nvSpPr>
        <p:spPr>
          <a:xfrm>
            <a:off x="548640" y="2688336"/>
            <a:ext cx="11091672" cy="969264"/>
          </a:xfrm>
          <a:prstGeom prst="roundRect">
            <a:avLst>
              <a:gd name="adj" fmla="val 6604"/>
            </a:avLst>
          </a:prstGeom>
          <a:solidFill>
            <a:srgbClr val="221C31"/>
          </a:solidFill>
          <a:ln w="9525">
            <a:solidFill>
              <a:srgbClr val="3A3152"/>
            </a:solidFill>
            <a:prstDash val="solid"/>
          </a:ln>
        </p:spPr>
      </p:sp>
      <p:sp>
        <p:nvSpPr>
          <p:cNvPr id="10" name="Shape 7"/>
          <p:cNvSpPr/>
          <p:nvPr/>
        </p:nvSpPr>
        <p:spPr>
          <a:xfrm>
            <a:off x="905256" y="2843784"/>
            <a:ext cx="658368" cy="65836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lock_bone.png">    </p:cNvPr>
          <p:cNvPicPr>
            <a:picLocks noChangeAspect="1"/>
          </p:cNvPicPr>
          <p:nvPr/>
        </p:nvPicPr>
        <p:blipFill>
          <a:blip r:embed="rId2"/>
          <a:stretch>
            <a:fillRect/>
          </a:stretch>
        </p:blipFill>
        <p:spPr>
          <a:xfrm>
            <a:off x="1063264" y="3001792"/>
            <a:ext cx="342351" cy="342351"/>
          </a:xfrm>
          <a:prstGeom prst="rect">
            <a:avLst/>
          </a:prstGeom>
        </p:spPr>
      </p:pic>
      <p:sp>
        <p:nvSpPr>
          <p:cNvPr id="12" name="Text 8"/>
          <p:cNvSpPr/>
          <p:nvPr/>
        </p:nvSpPr>
        <p:spPr>
          <a:xfrm>
            <a:off x="1828800" y="2807208"/>
            <a:ext cx="3108960" cy="731520"/>
          </a:xfrm>
          <a:prstGeom prst="rect">
            <a:avLst/>
          </a:prstGeom>
          <a:noFill/>
          <a:ln/>
        </p:spPr>
        <p:txBody>
          <a:bodyPr wrap="square" lIns="0" tIns="0" rIns="0" bIns="0" rtlCol="0" anchor="ctr"/>
          <a:lstStyle/>
          <a:p>
            <a:pPr indent="0" marL="0">
              <a:buNone/>
            </a:pPr>
            <a:r>
              <a:rPr lang="en-US" sz="1600" b="1" dirty="0">
                <a:solidFill>
                  <a:srgbClr val="E9E2D0"/>
                </a:solidFill>
                <a:latin typeface="Cambria" pitchFamily="34" charset="0"/>
                <a:ea typeface="Cambria" pitchFamily="34" charset="-122"/>
                <a:cs typeface="Cambria" pitchFamily="34" charset="-120"/>
              </a:rPr>
              <a:t>Saying no</a:t>
            </a:r>
            <a:endParaRPr lang="en-US" sz="1600" dirty="0"/>
          </a:p>
        </p:txBody>
      </p:sp>
      <p:sp>
        <p:nvSpPr>
          <p:cNvPr id="13" name="Text 9"/>
          <p:cNvSpPr/>
          <p:nvPr/>
        </p:nvSpPr>
        <p:spPr>
          <a:xfrm>
            <a:off x="5029200" y="2779776"/>
            <a:ext cx="6355080" cy="822960"/>
          </a:xfrm>
          <a:prstGeom prst="rect">
            <a:avLst/>
          </a:prstGeom>
          <a:noFill/>
          <a:ln/>
        </p:spPr>
        <p:txBody>
          <a:bodyPr wrap="square" lIns="0" tIns="0" rIns="0" bIns="0" rtlCol="0" anchor="ctr"/>
          <a:lstStyle/>
          <a:p>
            <a:pPr indent="0" marL="0">
              <a:buNone/>
            </a:pPr>
            <a:r>
              <a:rPr lang="en-US" sz="1250" dirty="0">
                <a:solidFill>
                  <a:srgbClr val="9A92A8"/>
                </a:solidFill>
                <a:latin typeface="Calibri" pitchFamily="34" charset="0"/>
                <a:ea typeface="Calibri" pitchFamily="34" charset="-122"/>
                <a:cs typeface="Calibri" pitchFamily="34" charset="-120"/>
              </a:rPr>
              <a:t>The effect union deliberately excludes spawning mobs, ending campaigns, forging items. Extensions wait for the vocabulary — not the other way around.</a:t>
            </a:r>
            <a:endParaRPr lang="en-US" sz="1250" dirty="0"/>
          </a:p>
        </p:txBody>
      </p:sp>
      <p:sp>
        <p:nvSpPr>
          <p:cNvPr id="14" name="Shape 10"/>
          <p:cNvSpPr/>
          <p:nvPr/>
        </p:nvSpPr>
        <p:spPr>
          <a:xfrm>
            <a:off x="548640" y="3803904"/>
            <a:ext cx="11091672" cy="969264"/>
          </a:xfrm>
          <a:prstGeom prst="roundRect">
            <a:avLst>
              <a:gd name="adj" fmla="val 6604"/>
            </a:avLst>
          </a:prstGeom>
          <a:solidFill>
            <a:srgbClr val="221C31"/>
          </a:solidFill>
          <a:ln w="9525">
            <a:solidFill>
              <a:srgbClr val="3A3152"/>
            </a:solidFill>
            <a:prstDash val="solid"/>
          </a:ln>
        </p:spPr>
      </p:sp>
      <p:sp>
        <p:nvSpPr>
          <p:cNvPr id="15" name="Shape 11"/>
          <p:cNvSpPr/>
          <p:nvPr/>
        </p:nvSpPr>
        <p:spPr>
          <a:xfrm>
            <a:off x="905256" y="3959352"/>
            <a:ext cx="658368" cy="65836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pin.png">    </p:cNvPr>
          <p:cNvPicPr>
            <a:picLocks noChangeAspect="1"/>
          </p:cNvPicPr>
          <p:nvPr/>
        </p:nvPicPr>
        <p:blipFill>
          <a:blip r:embed="rId3"/>
          <a:stretch>
            <a:fillRect/>
          </a:stretch>
        </p:blipFill>
        <p:spPr>
          <a:xfrm>
            <a:off x="1063264" y="4117360"/>
            <a:ext cx="342351" cy="342351"/>
          </a:xfrm>
          <a:prstGeom prst="rect">
            <a:avLst/>
          </a:prstGeom>
        </p:spPr>
      </p:pic>
      <p:sp>
        <p:nvSpPr>
          <p:cNvPr id="17" name="Text 12"/>
          <p:cNvSpPr/>
          <p:nvPr/>
        </p:nvSpPr>
        <p:spPr>
          <a:xfrm>
            <a:off x="1828800" y="3922776"/>
            <a:ext cx="3108960" cy="731520"/>
          </a:xfrm>
          <a:prstGeom prst="rect">
            <a:avLst/>
          </a:prstGeom>
          <a:noFill/>
          <a:ln/>
        </p:spPr>
        <p:txBody>
          <a:bodyPr wrap="square" lIns="0" tIns="0" rIns="0" bIns="0" rtlCol="0" anchor="ctr"/>
          <a:lstStyle/>
          <a:p>
            <a:pPr indent="0" marL="0">
              <a:buNone/>
            </a:pPr>
            <a:r>
              <a:rPr lang="en-US" sz="1600" b="1" dirty="0">
                <a:solidFill>
                  <a:srgbClr val="E9E2D0"/>
                </a:solidFill>
                <a:latin typeface="Cambria" pitchFamily="34" charset="0"/>
                <a:ea typeface="Cambria" pitchFamily="34" charset="-122"/>
                <a:cs typeface="Cambria" pitchFamily="34" charset="-120"/>
              </a:rPr>
              <a:t>Reviewable diffs</a:t>
            </a:r>
            <a:endParaRPr lang="en-US" sz="1600" dirty="0"/>
          </a:p>
        </p:txBody>
      </p:sp>
      <p:sp>
        <p:nvSpPr>
          <p:cNvPr id="18" name="Text 13"/>
          <p:cNvSpPr/>
          <p:nvPr/>
        </p:nvSpPr>
        <p:spPr>
          <a:xfrm>
            <a:off x="5029200" y="3895344"/>
            <a:ext cx="6355080" cy="822960"/>
          </a:xfrm>
          <a:prstGeom prst="rect">
            <a:avLst/>
          </a:prstGeom>
          <a:noFill/>
          <a:ln/>
        </p:spPr>
        <p:txBody>
          <a:bodyPr wrap="square" lIns="0" tIns="0" rIns="0" bIns="0" rtlCol="0" anchor="ctr"/>
          <a:lstStyle/>
          <a:p>
            <a:pPr indent="0" marL="0">
              <a:buNone/>
            </a:pPr>
            <a:r>
              <a:rPr lang="en-US" sz="1250" dirty="0">
                <a:solidFill>
                  <a:srgbClr val="9A92A8"/>
                </a:solidFill>
                <a:latin typeface="Calibri" pitchFamily="34" charset="0"/>
                <a:ea typeface="Calibri" pitchFamily="34" charset="-122"/>
                <a:cs typeface="Calibri" pitchFamily="34" charset="-120"/>
              </a:rPr>
              <a:t>Every behavior change produces a golden diff someone must actually read. Slower than "just ship it" — which is the point.</a:t>
            </a:r>
            <a:endParaRPr lang="en-US" sz="1250" dirty="0"/>
          </a:p>
        </p:txBody>
      </p:sp>
      <p:sp>
        <p:nvSpPr>
          <p:cNvPr id="19" name="Shape 14"/>
          <p:cNvSpPr/>
          <p:nvPr/>
        </p:nvSpPr>
        <p:spPr>
          <a:xfrm>
            <a:off x="548640" y="5120640"/>
            <a:ext cx="11091672" cy="960120"/>
          </a:xfrm>
          <a:prstGeom prst="roundRect">
            <a:avLst>
              <a:gd name="adj" fmla="val 6667"/>
            </a:avLst>
          </a:prstGeom>
          <a:solidFill>
            <a:srgbClr val="2B2342"/>
          </a:solidFill>
          <a:ln w="9525">
            <a:solidFill>
              <a:srgbClr val="3A3152"/>
            </a:solidFill>
            <a:prstDash val="solid"/>
          </a:ln>
        </p:spPr>
      </p:sp>
      <p:sp>
        <p:nvSpPr>
          <p:cNvPr id="20" name="Text 15"/>
          <p:cNvSpPr/>
          <p:nvPr/>
        </p:nvSpPr>
        <p:spPr>
          <a:xfrm>
            <a:off x="822960" y="5193792"/>
            <a:ext cx="10543032" cy="822960"/>
          </a:xfrm>
          <a:prstGeom prst="rect">
            <a:avLst/>
          </a:prstGeom>
          <a:noFill/>
          <a:ln/>
        </p:spPr>
        <p:txBody>
          <a:bodyPr wrap="square" lIns="0" tIns="0" rIns="0" bIns="0" rtlCol="0" anchor="ctr"/>
          <a:lstStyle/>
          <a:p>
            <a:pPr algn="ctr" indent="0" marL="0">
              <a:buNone/>
            </a:pPr>
            <a:r>
              <a:rPr lang="en-US" sz="1450" i="1" dirty="0">
                <a:solidFill>
                  <a:srgbClr val="E9E2D0"/>
                </a:solidFill>
                <a:latin typeface="Calibri" pitchFamily="34" charset="0"/>
                <a:ea typeface="Calibri" pitchFamily="34" charset="-122"/>
                <a:cs typeface="Calibri" pitchFamily="34" charset="-120"/>
              </a:rPr>
              <a:t>You pay in ceremony at the boundaries.</a:t>
            </a:r>
            <a:endParaRPr lang="en-US" sz="1450" dirty="0"/>
          </a:p>
          <a:p>
            <a:pPr algn="ctr" indent="0" marL="0">
              <a:buNone/>
            </a:pPr>
            <a:r>
              <a:rPr lang="en-US" sz="1450" i="1" dirty="0">
                <a:solidFill>
                  <a:srgbClr val="E9E2D0"/>
                </a:solidFill>
                <a:latin typeface="Calibri" pitchFamily="34" charset="0"/>
                <a:ea typeface="Calibri" pitchFamily="34" charset="-122"/>
                <a:cs typeface="Calibri" pitchFamily="34" charset="-120"/>
              </a:rPr>
              <a:t>You get paid in never debugging a rules disagreement between surfaces — there is nothing to disagree.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01B"/>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TAKEAWAY</a:t>
            </a:r>
            <a:endParaRPr lang="en-US" sz="1200" dirty="0"/>
          </a:p>
        </p:txBody>
      </p:sp>
      <p:sp>
        <p:nvSpPr>
          <p:cNvPr id="3" name="Shape 1"/>
          <p:cNvSpPr/>
          <p:nvPr/>
        </p:nvSpPr>
        <p:spPr>
          <a:xfrm>
            <a:off x="2011680" y="1234440"/>
            <a:ext cx="1828800" cy="502920"/>
          </a:xfrm>
          <a:prstGeom prst="roundRect">
            <a:avLst>
              <a:gd name="adj" fmla="val 12727"/>
            </a:avLst>
          </a:prstGeom>
          <a:solidFill>
            <a:srgbClr val="171321"/>
          </a:solidFill>
          <a:ln w="9525">
            <a:solidFill>
              <a:srgbClr val="3A3152"/>
            </a:solidFill>
            <a:prstDash val="solid"/>
          </a:ln>
        </p:spPr>
      </p:sp>
      <p:sp>
        <p:nvSpPr>
          <p:cNvPr id="4" name="Text 2"/>
          <p:cNvSpPr/>
          <p:nvPr/>
        </p:nvSpPr>
        <p:spPr>
          <a:xfrm>
            <a:off x="2011680" y="1234440"/>
            <a:ext cx="1828800" cy="50292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The server</a:t>
            </a:r>
            <a:endParaRPr lang="en-US" sz="1150" dirty="0"/>
          </a:p>
        </p:txBody>
      </p:sp>
      <p:sp>
        <p:nvSpPr>
          <p:cNvPr id="5" name="Shape 3"/>
          <p:cNvSpPr/>
          <p:nvPr/>
        </p:nvSpPr>
        <p:spPr>
          <a:xfrm>
            <a:off x="2926080" y="1783080"/>
            <a:ext cx="3172968" cy="731520"/>
          </a:xfrm>
          <a:prstGeom prst="line">
            <a:avLst/>
          </a:prstGeom>
          <a:noFill/>
          <a:ln w="15875">
            <a:solidFill>
              <a:srgbClr val="3A3152"/>
            </a:solidFill>
            <a:prstDash val="solid"/>
            <a:tailEnd type="triangle"/>
          </a:ln>
        </p:spPr>
      </p:sp>
      <p:sp>
        <p:nvSpPr>
          <p:cNvPr id="6" name="Shape 4"/>
          <p:cNvSpPr/>
          <p:nvPr/>
        </p:nvSpPr>
        <p:spPr>
          <a:xfrm>
            <a:off x="4206240" y="1234440"/>
            <a:ext cx="1828800" cy="502920"/>
          </a:xfrm>
          <a:prstGeom prst="roundRect">
            <a:avLst>
              <a:gd name="adj" fmla="val 12727"/>
            </a:avLst>
          </a:prstGeom>
          <a:solidFill>
            <a:srgbClr val="171321"/>
          </a:solidFill>
          <a:ln w="9525">
            <a:solidFill>
              <a:srgbClr val="3A3152"/>
            </a:solidFill>
            <a:prstDash val="solid"/>
          </a:ln>
        </p:spPr>
      </p:sp>
      <p:sp>
        <p:nvSpPr>
          <p:cNvPr id="7" name="Text 5"/>
          <p:cNvSpPr/>
          <p:nvPr/>
        </p:nvSpPr>
        <p:spPr>
          <a:xfrm>
            <a:off x="4206240" y="1234440"/>
            <a:ext cx="1828800" cy="50292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The client</a:t>
            </a:r>
            <a:endParaRPr lang="en-US" sz="1150" dirty="0"/>
          </a:p>
        </p:txBody>
      </p:sp>
      <p:sp>
        <p:nvSpPr>
          <p:cNvPr id="8" name="Shape 6"/>
          <p:cNvSpPr/>
          <p:nvPr/>
        </p:nvSpPr>
        <p:spPr>
          <a:xfrm>
            <a:off x="5120640" y="1783080"/>
            <a:ext cx="978408" cy="731520"/>
          </a:xfrm>
          <a:prstGeom prst="line">
            <a:avLst/>
          </a:prstGeom>
          <a:noFill/>
          <a:ln w="15875">
            <a:solidFill>
              <a:srgbClr val="3A3152"/>
            </a:solidFill>
            <a:prstDash val="solid"/>
            <a:tailEnd type="triangle"/>
          </a:ln>
        </p:spPr>
      </p:sp>
      <p:sp>
        <p:nvSpPr>
          <p:cNvPr id="9" name="Shape 7"/>
          <p:cNvSpPr/>
          <p:nvPr/>
        </p:nvSpPr>
        <p:spPr>
          <a:xfrm>
            <a:off x="6400800" y="1234440"/>
            <a:ext cx="1828800" cy="502920"/>
          </a:xfrm>
          <a:prstGeom prst="roundRect">
            <a:avLst>
              <a:gd name="adj" fmla="val 12727"/>
            </a:avLst>
          </a:prstGeom>
          <a:solidFill>
            <a:srgbClr val="171321"/>
          </a:solidFill>
          <a:ln w="9525">
            <a:solidFill>
              <a:srgbClr val="3A3152"/>
            </a:solidFill>
            <a:prstDash val="solid"/>
          </a:ln>
        </p:spPr>
      </p:sp>
      <p:sp>
        <p:nvSpPr>
          <p:cNvPr id="10" name="Text 8"/>
          <p:cNvSpPr/>
          <p:nvPr/>
        </p:nvSpPr>
        <p:spPr>
          <a:xfrm>
            <a:off x="6400800" y="1234440"/>
            <a:ext cx="1828800" cy="50292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The tutorial</a:t>
            </a:r>
            <a:endParaRPr lang="en-US" sz="1150" dirty="0"/>
          </a:p>
        </p:txBody>
      </p:sp>
      <p:sp>
        <p:nvSpPr>
          <p:cNvPr id="11" name="Shape 9"/>
          <p:cNvSpPr/>
          <p:nvPr/>
        </p:nvSpPr>
        <p:spPr>
          <a:xfrm flipH="1">
            <a:off x="6099048" y="1783080"/>
            <a:ext cx="1216152" cy="731520"/>
          </a:xfrm>
          <a:prstGeom prst="line">
            <a:avLst/>
          </a:prstGeom>
          <a:noFill/>
          <a:ln w="15875">
            <a:solidFill>
              <a:srgbClr val="3A3152"/>
            </a:solidFill>
            <a:prstDash val="solid"/>
            <a:tailEnd type="triangle"/>
          </a:ln>
        </p:spPr>
      </p:sp>
      <p:sp>
        <p:nvSpPr>
          <p:cNvPr id="12" name="Shape 10"/>
          <p:cNvSpPr/>
          <p:nvPr/>
        </p:nvSpPr>
        <p:spPr>
          <a:xfrm>
            <a:off x="8595360" y="1234440"/>
            <a:ext cx="1828800" cy="502920"/>
          </a:xfrm>
          <a:prstGeom prst="roundRect">
            <a:avLst>
              <a:gd name="adj" fmla="val 12727"/>
            </a:avLst>
          </a:prstGeom>
          <a:solidFill>
            <a:srgbClr val="171321"/>
          </a:solidFill>
          <a:ln w="9525">
            <a:solidFill>
              <a:srgbClr val="3A3152"/>
            </a:solidFill>
            <a:prstDash val="solid"/>
          </a:ln>
        </p:spPr>
      </p:sp>
      <p:sp>
        <p:nvSpPr>
          <p:cNvPr id="13" name="Text 11"/>
          <p:cNvSpPr/>
          <p:nvPr/>
        </p:nvSpPr>
        <p:spPr>
          <a:xfrm>
            <a:off x="8595360" y="1234440"/>
            <a:ext cx="1828800" cy="502920"/>
          </a:xfrm>
          <a:prstGeom prst="rect">
            <a:avLst/>
          </a:prstGeom>
          <a:noFill/>
          <a:ln/>
        </p:spPr>
        <p:txBody>
          <a:bodyPr wrap="square" lIns="0" tIns="0" rIns="0" bIns="0" rtlCol="0" anchor="ctr"/>
          <a:lstStyle/>
          <a:p>
            <a:pPr algn="ctr" indent="0" marL="0">
              <a:buNone/>
            </a:pPr>
            <a:r>
              <a:rPr lang="en-US" sz="1150" dirty="0">
                <a:solidFill>
                  <a:srgbClr val="9A92A8"/>
                </a:solidFill>
                <a:latin typeface="Calibri" pitchFamily="34" charset="0"/>
                <a:ea typeface="Calibri" pitchFamily="34" charset="-122"/>
                <a:cs typeface="Calibri" pitchFamily="34" charset="-120"/>
              </a:rPr>
              <a:t>The port</a:t>
            </a:r>
            <a:endParaRPr lang="en-US" sz="1150" dirty="0"/>
          </a:p>
        </p:txBody>
      </p:sp>
      <p:sp>
        <p:nvSpPr>
          <p:cNvPr id="14" name="Shape 12"/>
          <p:cNvSpPr/>
          <p:nvPr/>
        </p:nvSpPr>
        <p:spPr>
          <a:xfrm flipH="1">
            <a:off x="6099048" y="1783080"/>
            <a:ext cx="3410712" cy="731520"/>
          </a:xfrm>
          <a:prstGeom prst="line">
            <a:avLst/>
          </a:prstGeom>
          <a:noFill/>
          <a:ln w="15875">
            <a:solidFill>
              <a:srgbClr val="3A3152"/>
            </a:solidFill>
            <a:prstDash val="solid"/>
            <a:tailEnd type="triangle"/>
          </a:ln>
        </p:spPr>
      </p:sp>
      <p:sp>
        <p:nvSpPr>
          <p:cNvPr id="15" name="Shape 13"/>
          <p:cNvSpPr/>
          <p:nvPr/>
        </p:nvSpPr>
        <p:spPr>
          <a:xfrm>
            <a:off x="4727448" y="2606040"/>
            <a:ext cx="2743200" cy="731520"/>
          </a:xfrm>
          <a:prstGeom prst="roundRect">
            <a:avLst>
              <a:gd name="adj" fmla="val 8750"/>
            </a:avLst>
          </a:prstGeom>
          <a:solidFill>
            <a:srgbClr val="8E2F2F"/>
          </a:solidFill>
          <a:ln w="9525">
            <a:solidFill>
              <a:srgbClr val="C9A227"/>
            </a:solidFill>
            <a:prstDash val="solid"/>
          </a:ln>
        </p:spPr>
      </p:sp>
      <p:sp>
        <p:nvSpPr>
          <p:cNvPr id="16" name="Text 14"/>
          <p:cNvSpPr/>
          <p:nvPr/>
        </p:nvSpPr>
        <p:spPr>
          <a:xfrm>
            <a:off x="4727448" y="2606040"/>
            <a:ext cx="2743200" cy="731520"/>
          </a:xfrm>
          <a:prstGeom prst="rect">
            <a:avLst/>
          </a:prstGeom>
          <a:noFill/>
          <a:ln/>
        </p:spPr>
        <p:txBody>
          <a:bodyPr wrap="square" lIns="0" tIns="0" rIns="0" bIns="0" rtlCol="0" anchor="ctr"/>
          <a:lstStyle/>
          <a:p>
            <a:pPr algn="ctr" indent="0" marL="0">
              <a:buNone/>
            </a:pPr>
            <a:r>
              <a:rPr lang="en-US" sz="1700" b="1" spc="200" kern="0" dirty="0">
                <a:solidFill>
                  <a:srgbClr val="E9E2D0"/>
                </a:solidFill>
                <a:latin typeface="Cambria" pitchFamily="34" charset="0"/>
                <a:ea typeface="Cambria" pitchFamily="34" charset="-122"/>
                <a:cs typeface="Cambria" pitchFamily="34" charset="-120"/>
              </a:rPr>
              <a:t>THE RULES × 1</a:t>
            </a:r>
            <a:endParaRPr lang="en-US" sz="1700" dirty="0"/>
          </a:p>
        </p:txBody>
      </p:sp>
      <p:sp>
        <p:nvSpPr>
          <p:cNvPr id="17" name="Text 15"/>
          <p:cNvSpPr/>
          <p:nvPr/>
        </p:nvSpPr>
        <p:spPr>
          <a:xfrm>
            <a:off x="548640" y="3977640"/>
            <a:ext cx="11091672" cy="457200"/>
          </a:xfrm>
          <a:prstGeom prst="rect">
            <a:avLst/>
          </a:prstGeom>
          <a:noFill/>
          <a:ln/>
        </p:spPr>
        <p:txBody>
          <a:bodyPr wrap="square" lIns="0" tIns="0" rIns="0" bIns="0" rtlCol="0" anchor="ctr"/>
          <a:lstStyle/>
          <a:p>
            <a:pPr algn="ctr" indent="0" marL="0">
              <a:buNone/>
            </a:pPr>
            <a:r>
              <a:rPr lang="en-US" sz="1700" b="1" spc="150" kern="0" dirty="0">
                <a:solidFill>
                  <a:srgbClr val="C9A227"/>
                </a:solidFill>
                <a:latin typeface="Cambria" pitchFamily="34" charset="0"/>
                <a:ea typeface="Cambria" pitchFamily="34" charset="-122"/>
                <a:cs typeface="Cambria" pitchFamily="34" charset="-120"/>
              </a:rPr>
              <a:t>DETERMINISM      ·      CLOSED VOCABULARIES      ·      GOLDEN PINS</a:t>
            </a:r>
            <a:endParaRPr lang="en-US" sz="1700" dirty="0"/>
          </a:p>
        </p:txBody>
      </p:sp>
      <p:sp>
        <p:nvSpPr>
          <p:cNvPr id="18" name="Text 16"/>
          <p:cNvSpPr/>
          <p:nvPr/>
        </p:nvSpPr>
        <p:spPr>
          <a:xfrm>
            <a:off x="548640" y="4892040"/>
            <a:ext cx="11091672" cy="640080"/>
          </a:xfrm>
          <a:prstGeom prst="rect">
            <a:avLst/>
          </a:prstGeom>
          <a:noFill/>
          <a:ln/>
        </p:spPr>
        <p:txBody>
          <a:bodyPr wrap="square" lIns="0" tIns="0" rIns="0" bIns="0" rtlCol="0" anchor="ctr"/>
          <a:lstStyle/>
          <a:p>
            <a:pPr algn="ctr" indent="0" marL="0">
              <a:buNone/>
            </a:pPr>
            <a:r>
              <a:rPr lang="en-US" sz="2800" i="1" dirty="0">
                <a:solidFill>
                  <a:srgbClr val="E9E2D0"/>
                </a:solidFill>
                <a:latin typeface="Cambria" pitchFamily="34" charset="0"/>
                <a:ea typeface="Cambria" pitchFamily="34" charset="-122"/>
                <a:cs typeface="Cambria" pitchFamily="34" charset="-120"/>
              </a:rPr>
              <a:t>One engine. Many faces. The faces are cheap.</a:t>
            </a:r>
            <a:endParaRPr lang="en-US" sz="2800" dirty="0"/>
          </a:p>
        </p:txBody>
      </p:sp>
      <p:sp>
        <p:nvSpPr>
          <p:cNvPr id="19" name="Text 17"/>
          <p:cNvSpPr/>
          <p:nvPr/>
        </p:nvSpPr>
        <p:spPr>
          <a:xfrm>
            <a:off x="548640" y="6172200"/>
            <a:ext cx="11091672" cy="320040"/>
          </a:xfrm>
          <a:prstGeom prst="rect">
            <a:avLst/>
          </a:prstGeom>
          <a:noFill/>
          <a:ln/>
        </p:spPr>
        <p:txBody>
          <a:bodyPr wrap="square" lIns="0" tIns="0" rIns="0" bIns="0" rtlCol="0" anchor="ctr"/>
          <a:lstStyle/>
          <a:p>
            <a:pPr algn="ctr" indent="0" marL="0">
              <a:buNone/>
            </a:pPr>
            <a:r>
              <a:rPr lang="en-US" sz="1200" dirty="0">
                <a:solidFill>
                  <a:srgbClr val="9A92A8"/>
                </a:solidFill>
                <a:latin typeface="Courier New" pitchFamily="34" charset="0"/>
                <a:ea typeface="Courier New" pitchFamily="34" charset="-122"/>
                <a:cs typeface="Courier New" pitchFamily="34" charset="-120"/>
              </a:rPr>
              <a:t>github.com/daniel0mullins/WickedWays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Engine to Rule Them All — lightning talk</dc:title>
  <dc:subject>PptxGenJS Presentation</dc:subject>
  <dc:creator>Wicked Ways</dc:creator>
  <cp:lastModifiedBy>Wicked Ways</cp:lastModifiedBy>
  <cp:revision>1</cp:revision>
  <dcterms:created xsi:type="dcterms:W3CDTF">2026-08-04T18:12:07Z</dcterms:created>
  <dcterms:modified xsi:type="dcterms:W3CDTF">2026-08-04T18:12:07Z</dcterms:modified>
</cp:coreProperties>
</file>