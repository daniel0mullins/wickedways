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Ten minutes, one promise: most of Rust is already familiar to you, and exactly three ideas are genuinely new. I am going to name those three, spend the talk on them, and let everything else ride on the analogy to JavaScript. Every slide from here is a pair — JavaScript on the left, code you could have written this week; Rust on the right, doing the same job. This is an honest sketch in ten minutes, not a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to look. One: it ships where you already ship — Rust compiles to WebAssembly and runs in the browser next to your JavaScript; the game engine behind this talk is a single Rust crate that runs in the browser, on a server, and on a microcontroller, one codebase for all three. Two: the types do not evaporate. TypeScript's types describe your intent to the editor and are gone at runtime; Rust's survive into the machine code, and the build fails if you break them. Three: no garbage collector, and no manual free either — Rust works out when memory dies at compile time. That is the one genuinely alien idea, and it is the next slide. Delivery: about a minute; do not oversell, the code does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new ideas, the reassurance: most of the toolchain is a rename. npm becomes cargo — except cargo is also the test runner, the doc generator and the formatter runner, so there is no webpack-babel-jest constellation to assemble. The npm registry becomes crates.io, and packages are called crates. package.json is Cargo.toml; the lockfile is Cargo.lock, same idea and same reason. nvm becomes rustup, and the .nvmrc equivalent actually installs the toolchain for anyone who clones. ESLint and Prettier become clippy and rustfmt — official, one way, no bikeshedding. Workspaces are workspaces. And console.log is println. Delivery: read three rows, not eight — this slide is reassurance, not content. Land it on: cargo new, cargo add, cargo test, cargo run. If you can drive npm you can drive cargo on day one; what is left to learn is the language, and mostly three ideas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idea number one, and the only genuinely alien one. On the left, JavaScript you have written: you pass an array to a function, and the call site tells you nothing about whether it mutates — you read the source, or you find out. On the right, the same job in Rust: the ampersand-mut is right there at the call site, so mutation is visible where it happens. Two rules do all the work. First, every value has exactly one owner, and when the owner goes out of scope the value is freed — that is the entire garbage collector, decided at compile time instead of at runtime. Second, everyone else borrows: either a shared read-only reference, or exactly one exclusive mutable one, and the compiler checks every borrow. Then the bottom of the Rust panel, which trips up every newcomer once and never again: assign a vector to a new name and it MOVES — the old name no longer owns it and using it is a compile error. In JavaScript both names would point at the same array and you would go hunting aliasing bugs at runtime; Rust makes you say which one owns it. That is the borrow checker. It is the hard part, it takes about two weeks, and then it stops. Delivery: 2 minutes, the biggest single spend in the talk. Do not rush the move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idea number two: there is no null. On the left, the classic find bug — array-dot-find returns undefined when nothing matches, you reach straight through it, and the TypeError arrives at two in the morning. On the right, the same search returns an Option: either Some value, or None. And you cannot get at the value without handling the nothing case — the if-let is the compiler making you deal with it. Option is not a special language feature, by the way; it is an ordinary enum with two cases, which is the next slide. The line to land: there is no null and no undefined anywhere in the language, so the billion-dollar mistake is not a discipline you maintain — it is a state you cannot express. TypeScript's strictNullChecks is chasing exactly this; Rust started there. Delivery: 75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idea, other half: there are no exceptions either. On the left, a try-catch around a parse — and the honest question underneath it, which calls in that block can actually throw? You read the docs, or you find out in production. On the right, the function says in its return type that it can fail: Result of a Campaign or an Error. Result is the other everyday enum — Ok with a value, or Err with a problem. And the question mark is the ergonomic bit: one character meaning "if this failed, stop here and hand the error to my caller." It reads about as lightly as await, which is why Rust error handling does not feel like Go's. The land: failure lives in the type signature, so nothing throws at you from three layers down. Delivery: 75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idea number three, and this is the slide TypeScript people lean forward at, because you already write this shape. On the left, a discriminated union: three variants, each with its own payload, and a switch over the kind field. Notice what happens if you forget the cue case — it compiles fine and silently does nothing. On the right, the same thing as a first-class language feature: an enum whose variants carry data. And match is EXHAUSTIVE — handle every variant or the build fails, with an error that literally names the one you missed: "pattern Cue not covered." Here is why that matters beyond the slide: add a fourth effect a year later, and the compiler hands you a to-do list of every place in the entire codebase that now has to deal with it, before you run anything. That is the real effect type from this project's engine, and the command set is the same shape — which is how "we forgot to handle that" becomes a class of bug that cannot reach a player. Delivery: 1 minute 45. This and the ownership slide ARE the talk; if you are behind, take time from the two before, not from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Familiar territory with one upgrade. A trait is an interface: a set of methods a type promises to have. The difference is on the right — the implementation is written apart from the type, in its own impl block, rather than declared on the class. That means you can implement your own trait for a type you did not define: the sane version of patching Array.prototype, except scoped to the module that imports it, and checked. And the derive attribute is the closest thing to a decorator you will meet: one line asking a library to write an implementation for your type at compile time — that is how JSON serialization works in Rust, and you will meet it in hour one. Delivery: this slide is the flex cut. If the clock is tight, drop it and go straight from match to async; nothing later depends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trap, because the syntax is identical and the semantics are not. Both lines say await. But a JavaScript promise is already running the moment you create it, and a Rust future does nothing at all until you await it — so the create-now-await-later pattern you use in JS behaves differently here, and that is most people's first async bug. Second: there is no event loop in the box. Node ships one; Rust makes you choose a runtime, and the answer is tokio unless you know exactly why it is not. Third, the good news: the question mark works here too, so async error handling is the same single character from two slides ago — the pieces compose. And the honest note: async is the sharpest corner of the language. The good default is to keep async at the edges, in the I/O and the server, and keep the core of your program plain synchronous functions — which is exactly what this project does. Delivery: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 the toll out loud, or nobody believes the rest of the talk. One: the borrow checker will fight you for two or three weeks. Everyone, not just you. And then it stops, because you start writing the code that was going to be correct anyway. Two: builds are not nodemon — incremental builds are seconds, clean builds are minutes, and you will feel it on a big dependency tree. Three: there are far fewer libraries than npm, a lot fewer — but the ones that matter are unusually well made, and cargo has never handed you a node_modules directory to explain to anyone. And then the boundary, which is the bit people actually came for: for glue, CRUD and scripts, this ceremony buys you nothing at all. Rust pays where correctness, portability, or performance IS the product. Delivery: never cut this slide — a Rust talk without the toll reads as a sales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on-ramp, three lines. Install rustup — one installer, and it manages versions the way nvm does. cargo new something small. And read the Book, which is free and genuinely good. The recommendation that matters: make your first project a port of a small utility you already wrote in JavaScript. You will be learning one thing, the language, instead of two — the language and the problem. And if you want to read a real one, this project is public: a horror RPG engine whose Rust core runs in the browser, on a server, and on a physical board; the architecture talks are in the same folder as this one. Close on the line: you already know half of it, and the other half is three ideas and about two weeks.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01B"/>
        </a:solidFill>
      </p:bgPr>
    </p:bg>
    <p:spTree>
      <p:nvGrpSpPr>
        <p:cNvPr id="1" name=""/>
        <p:cNvGrpSpPr/>
        <p:nvPr/>
      </p:nvGrpSpPr>
      <p:grpSpPr>
        <a:xfrm>
          <a:off x="0" y="0"/>
          <a:ext cx="0" cy="0"/>
          <a:chOff x="0" y="0"/>
          <a:chExt cx="0" cy="0"/>
        </a:xfrm>
      </p:grpSpPr>
      <p:sp>
        <p:nvSpPr>
          <p:cNvPr id="2" name="Shape 0"/>
          <p:cNvSpPr/>
          <p:nvPr/>
        </p:nvSpPr>
        <p:spPr>
          <a:xfrm>
            <a:off x="8842248" y="1435608"/>
            <a:ext cx="786384" cy="786384"/>
          </a:xfrm>
          <a:prstGeom prst="ellipse">
            <a:avLst/>
          </a:prstGeom>
          <a:solidFill>
            <a:srgbClr val="2B2342"/>
          </a:solidFill>
          <a:ln w="9525">
            <a:solidFill>
              <a:srgbClr val="3A3152"/>
            </a:solidFill>
            <a:prstDash val="solid"/>
          </a:ln>
        </p:spPr>
      </p:sp>
      <p:pic>
        <p:nvPicPr>
          <p:cNvPr id="3" name="Image 0" descr="/tmp/claude-0/-home-user-WickedWays/bfe20d4f-91dd-58c9-a5c6-92b3d7767e5d/scratchpad/decks/icons/code.png">    </p:cNvPr>
          <p:cNvPicPr>
            <a:picLocks noChangeAspect="1"/>
          </p:cNvPicPr>
          <p:nvPr/>
        </p:nvPicPr>
        <p:blipFill>
          <a:blip r:embed="rId1"/>
          <a:stretch>
            <a:fillRect/>
          </a:stretch>
        </p:blipFill>
        <p:spPr>
          <a:xfrm>
            <a:off x="9030980" y="1624340"/>
            <a:ext cx="408920" cy="408920"/>
          </a:xfrm>
          <a:prstGeom prst="rect">
            <a:avLst/>
          </a:prstGeom>
        </p:spPr>
      </p:pic>
      <p:sp>
        <p:nvSpPr>
          <p:cNvPr id="4" name="Shape 1"/>
          <p:cNvSpPr/>
          <p:nvPr/>
        </p:nvSpPr>
        <p:spPr>
          <a:xfrm>
            <a:off x="9848088" y="2624328"/>
            <a:ext cx="786384" cy="786384"/>
          </a:xfrm>
          <a:prstGeom prst="ellipse">
            <a:avLst/>
          </a:prstGeom>
          <a:solidFill>
            <a:srgbClr val="2B2342"/>
          </a:solidFill>
          <a:ln w="9525">
            <a:solidFill>
              <a:srgbClr val="3A3152"/>
            </a:solidFill>
            <a:prstDash val="solid"/>
          </a:ln>
        </p:spPr>
      </p:sp>
      <p:pic>
        <p:nvPicPr>
          <p:cNvPr id="5" name="Image 1" descr="/tmp/claude-0/-home-user-WickedWays/bfe20d4f-91dd-58c9-a5c6-92b3d7767e5d/scratchpad/decks/icons/layers.png">    </p:cNvPr>
          <p:cNvPicPr>
            <a:picLocks noChangeAspect="1"/>
          </p:cNvPicPr>
          <p:nvPr/>
        </p:nvPicPr>
        <p:blipFill>
          <a:blip r:embed="rId2"/>
          <a:stretch>
            <a:fillRect/>
          </a:stretch>
        </p:blipFill>
        <p:spPr>
          <a:xfrm>
            <a:off x="10036820" y="2813060"/>
            <a:ext cx="408920" cy="408920"/>
          </a:xfrm>
          <a:prstGeom prst="rect">
            <a:avLst/>
          </a:prstGeom>
        </p:spPr>
      </p:pic>
      <p:sp>
        <p:nvSpPr>
          <p:cNvPr id="6" name="Shape 2"/>
          <p:cNvSpPr/>
          <p:nvPr/>
        </p:nvSpPr>
        <p:spPr>
          <a:xfrm>
            <a:off x="9848088" y="4087368"/>
            <a:ext cx="786384" cy="786384"/>
          </a:xfrm>
          <a:prstGeom prst="ellipse">
            <a:avLst/>
          </a:prstGeom>
          <a:solidFill>
            <a:srgbClr val="2B2342"/>
          </a:solidFill>
          <a:ln w="9525">
            <a:solidFill>
              <a:srgbClr val="3A3152"/>
            </a:solidFill>
            <a:prstDash val="solid"/>
          </a:ln>
        </p:spPr>
      </p:sp>
      <p:pic>
        <p:nvPicPr>
          <p:cNvPr id="7" name="Image 2" descr="/tmp/claude-0/-home-user-WickedWays/bfe20d4f-91dd-58c9-a5c6-92b3d7767e5d/scratchpad/decks/icons/shield.png">    </p:cNvPr>
          <p:cNvPicPr>
            <a:picLocks noChangeAspect="1"/>
          </p:cNvPicPr>
          <p:nvPr/>
        </p:nvPicPr>
        <p:blipFill>
          <a:blip r:embed="rId3"/>
          <a:stretch>
            <a:fillRect/>
          </a:stretch>
        </p:blipFill>
        <p:spPr>
          <a:xfrm>
            <a:off x="10036820" y="4276100"/>
            <a:ext cx="408920" cy="408920"/>
          </a:xfrm>
          <a:prstGeom prst="rect">
            <a:avLst/>
          </a:prstGeom>
        </p:spPr>
      </p:pic>
      <p:sp>
        <p:nvSpPr>
          <p:cNvPr id="8" name="Shape 3"/>
          <p:cNvSpPr/>
          <p:nvPr/>
        </p:nvSpPr>
        <p:spPr>
          <a:xfrm>
            <a:off x="8842248" y="5276088"/>
            <a:ext cx="786384" cy="786384"/>
          </a:xfrm>
          <a:prstGeom prst="ellipse">
            <a:avLst/>
          </a:prstGeom>
          <a:solidFill>
            <a:srgbClr val="2B2342"/>
          </a:solidFill>
          <a:ln w="9525">
            <a:solidFill>
              <a:srgbClr val="3A3152"/>
            </a:solidFill>
            <a:prstDash val="solid"/>
          </a:ln>
        </p:spPr>
      </p:sp>
      <p:pic>
        <p:nvPicPr>
          <p:cNvPr id="9" name="Image 3" descr="/tmp/claude-0/-home-user-WickedWays/bfe20d4f-91dd-58c9-a5c6-92b3d7767e5d/scratchpad/decks/icons/check.png">    </p:cNvPr>
          <p:cNvPicPr>
            <a:picLocks noChangeAspect="1"/>
          </p:cNvPicPr>
          <p:nvPr/>
        </p:nvPicPr>
        <p:blipFill>
          <a:blip r:embed="rId4"/>
          <a:stretch>
            <a:fillRect/>
          </a:stretch>
        </p:blipFill>
        <p:spPr>
          <a:xfrm>
            <a:off x="9030980" y="5464820"/>
            <a:ext cx="408920" cy="408920"/>
          </a:xfrm>
          <a:prstGeom prst="rect">
            <a:avLst/>
          </a:prstGeom>
        </p:spPr>
      </p:pic>
      <p:sp>
        <p:nvSpPr>
          <p:cNvPr id="10" name="Text 4"/>
          <p:cNvSpPr/>
          <p:nvPr/>
        </p:nvSpPr>
        <p:spPr>
          <a:xfrm>
            <a:off x="685800" y="1737360"/>
            <a:ext cx="7315200" cy="274320"/>
          </a:xfrm>
          <a:prstGeom prst="rect">
            <a:avLst/>
          </a:prstGeom>
          <a:noFill/>
          <a:ln/>
        </p:spPr>
        <p:txBody>
          <a:bodyPr wrap="square" lIns="0" tIns="0" rIns="0" bIns="0" rtlCol="0" anchor="ctr"/>
          <a:lstStyle/>
          <a:p>
            <a:pPr indent="0" marL="0">
              <a:buNone/>
            </a:pPr>
            <a:r>
              <a:rPr lang="en-US" sz="1250" b="1" spc="300" kern="0" dirty="0">
                <a:solidFill>
                  <a:srgbClr val="C9A227"/>
                </a:solidFill>
                <a:latin typeface="Calibri" pitchFamily="34" charset="0"/>
                <a:ea typeface="Calibri" pitchFamily="34" charset="-122"/>
                <a:cs typeface="Calibri" pitchFamily="34" charset="-120"/>
              </a:rPr>
              <a:t>FOR JAVASCRIPT DEVELOPERS · 10 MINUTES</a:t>
            </a:r>
            <a:endParaRPr lang="en-US" sz="1250" dirty="0"/>
          </a:p>
        </p:txBody>
      </p:sp>
      <p:sp>
        <p:nvSpPr>
          <p:cNvPr id="11" name="Text 5"/>
          <p:cNvSpPr/>
          <p:nvPr/>
        </p:nvSpPr>
        <p:spPr>
          <a:xfrm>
            <a:off x="685800" y="2057400"/>
            <a:ext cx="7680960" cy="2011680"/>
          </a:xfrm>
          <a:prstGeom prst="rect">
            <a:avLst/>
          </a:prstGeom>
          <a:noFill/>
          <a:ln/>
        </p:spPr>
        <p:txBody>
          <a:bodyPr wrap="square" lIns="0" tIns="0" rIns="0" bIns="0" rtlCol="0" anchor="ctr"/>
          <a:lstStyle/>
          <a:p>
            <a:pPr indent="0" marL="0">
              <a:buNone/>
            </a:pPr>
            <a:r>
              <a:rPr lang="en-US" sz="4600" b="1" dirty="0">
                <a:solidFill>
                  <a:srgbClr val="E9E2D0"/>
                </a:solidFill>
                <a:latin typeface="Cambria" pitchFamily="34" charset="0"/>
                <a:ea typeface="Cambria" pitchFamily="34" charset="-122"/>
                <a:cs typeface="Cambria" pitchFamily="34" charset="-120"/>
              </a:rPr>
              <a:t>You Already</a:t>
            </a:r>
            <a:endParaRPr lang="en-US" sz="4600" dirty="0"/>
          </a:p>
          <a:p>
            <a:pPr indent="0" marL="0">
              <a:buNone/>
            </a:pPr>
            <a:r>
              <a:rPr lang="en-US" sz="4600" b="1" dirty="0">
                <a:solidFill>
                  <a:srgbClr val="E9E2D0"/>
                </a:solidFill>
                <a:latin typeface="Cambria" pitchFamily="34" charset="0"/>
                <a:ea typeface="Cambria" pitchFamily="34" charset="-122"/>
                <a:cs typeface="Cambria" pitchFamily="34" charset="-120"/>
              </a:rPr>
              <a:t>Know Half of This</a:t>
            </a:r>
            <a:endParaRPr lang="en-US" sz="4600" dirty="0"/>
          </a:p>
        </p:txBody>
      </p:sp>
      <p:sp>
        <p:nvSpPr>
          <p:cNvPr id="12" name="Text 6"/>
          <p:cNvSpPr/>
          <p:nvPr/>
        </p:nvSpPr>
        <p:spPr>
          <a:xfrm>
            <a:off x="685800" y="4206240"/>
            <a:ext cx="7680960" cy="457200"/>
          </a:xfrm>
          <a:prstGeom prst="rect">
            <a:avLst/>
          </a:prstGeom>
          <a:noFill/>
          <a:ln/>
        </p:spPr>
        <p:txBody>
          <a:bodyPr wrap="square" lIns="0" tIns="0" rIns="0" bIns="0" rtlCol="0" anchor="ctr"/>
          <a:lstStyle/>
          <a:p>
            <a:pPr indent="0" marL="0">
              <a:buNone/>
            </a:pPr>
            <a:r>
              <a:rPr lang="en-US" sz="2000" i="1" dirty="0">
                <a:solidFill>
                  <a:srgbClr val="C9A227"/>
                </a:solidFill>
                <a:latin typeface="Cambria" pitchFamily="34" charset="0"/>
                <a:ea typeface="Cambria" pitchFamily="34" charset="-122"/>
                <a:cs typeface="Cambria" pitchFamily="34" charset="-120"/>
              </a:rPr>
              <a:t>Rust, for people who ship JavaScript</a:t>
            </a:r>
            <a:endParaRPr lang="en-US" sz="2000" dirty="0"/>
          </a:p>
        </p:txBody>
      </p:sp>
      <p:sp>
        <p:nvSpPr>
          <p:cNvPr id="13" name="Text 7"/>
          <p:cNvSpPr/>
          <p:nvPr/>
        </p:nvSpPr>
        <p:spPr>
          <a:xfrm>
            <a:off x="685800" y="6126480"/>
            <a:ext cx="8229600" cy="320040"/>
          </a:xfrm>
          <a:prstGeom prst="rect">
            <a:avLst/>
          </a:prstGeom>
          <a:noFill/>
          <a:ln/>
        </p:spPr>
        <p:txBody>
          <a:bodyPr wrap="square" lIns="0" tIns="0" rIns="0" bIns="0" rtlCol="0" anchor="ctr"/>
          <a:lstStyle/>
          <a:p>
            <a:pPr indent="0" marL="0">
              <a:buNone/>
            </a:pPr>
            <a:r>
              <a:rPr lang="en-US" sz="1300" dirty="0">
                <a:solidFill>
                  <a:srgbClr val="9A92A8"/>
                </a:solidFill>
                <a:latin typeface="Calibri" pitchFamily="34" charset="0"/>
                <a:ea typeface="Calibri" pitchFamily="34" charset="-122"/>
                <a:cs typeface="Calibri" pitchFamily="34" charset="-120"/>
              </a:rPr>
              <a:t>Three ideas are new. Everything else you can already drive.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WHY LOOK AT ALL</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Three reasons a JS dev should care</a:t>
            </a:r>
            <a:endParaRPr lang="en-US" sz="3000" dirty="0"/>
          </a:p>
        </p:txBody>
      </p:sp>
      <p:sp>
        <p:nvSpPr>
          <p:cNvPr id="4" name="Shape 2"/>
          <p:cNvSpPr/>
          <p:nvPr/>
        </p:nvSpPr>
        <p:spPr>
          <a:xfrm>
            <a:off x="548640" y="1600200"/>
            <a:ext cx="3514344" cy="3657600"/>
          </a:xfrm>
          <a:prstGeom prst="roundRect">
            <a:avLst>
              <a:gd name="adj" fmla="val 1821"/>
            </a:avLst>
          </a:prstGeom>
          <a:solidFill>
            <a:srgbClr val="221C31"/>
          </a:solidFill>
          <a:ln w="9525">
            <a:solidFill>
              <a:srgbClr val="3A3152"/>
            </a:solidFill>
            <a:prstDash val="solid"/>
          </a:ln>
        </p:spPr>
      </p:sp>
      <p:sp>
        <p:nvSpPr>
          <p:cNvPr id="5" name="Shape 3"/>
          <p:cNvSpPr/>
          <p:nvPr/>
        </p:nvSpPr>
        <p:spPr>
          <a:xfrm>
            <a:off x="1930908" y="1911096"/>
            <a:ext cx="749808" cy="749808"/>
          </a:xfrm>
          <a:prstGeom prst="ellipse">
            <a:avLst/>
          </a:prstGeom>
          <a:solidFill>
            <a:srgbClr val="2B2342"/>
          </a:solidFill>
          <a:ln w="9525">
            <a:solidFill>
              <a:srgbClr val="3A3152"/>
            </a:solidFill>
            <a:prstDash val="solid"/>
          </a:ln>
        </p:spPr>
      </p:sp>
      <p:pic>
        <p:nvPicPr>
          <p:cNvPr id="6" name="Image 0" descr="/tmp/claude-0/-home-user-WickedWays/bfe20d4f-91dd-58c9-a5c6-92b3d7767e5d/scratchpad/decks/icons/monitor.png">    </p:cNvPr>
          <p:cNvPicPr>
            <a:picLocks noChangeAspect="1"/>
          </p:cNvPicPr>
          <p:nvPr/>
        </p:nvPicPr>
        <p:blipFill>
          <a:blip r:embed="rId1"/>
          <a:stretch>
            <a:fillRect/>
          </a:stretch>
        </p:blipFill>
        <p:spPr>
          <a:xfrm>
            <a:off x="2110862" y="2091050"/>
            <a:ext cx="389900" cy="389900"/>
          </a:xfrm>
          <a:prstGeom prst="rect">
            <a:avLst/>
          </a:prstGeom>
        </p:spPr>
      </p:pic>
      <p:sp>
        <p:nvSpPr>
          <p:cNvPr id="7" name="Text 4"/>
          <p:cNvSpPr/>
          <p:nvPr/>
        </p:nvSpPr>
        <p:spPr>
          <a:xfrm>
            <a:off x="749808" y="2834640"/>
            <a:ext cx="3112008" cy="548640"/>
          </a:xfrm>
          <a:prstGeom prst="rect">
            <a:avLst/>
          </a:prstGeom>
          <a:noFill/>
          <a:ln/>
        </p:spPr>
        <p:txBody>
          <a:bodyPr wrap="square" lIns="0" tIns="0" rIns="0" bIns="0" rtlCol="0" anchor="ctr"/>
          <a:lstStyle/>
          <a:p>
            <a:pPr algn="ctr" indent="0" marL="0">
              <a:buNone/>
            </a:pPr>
            <a:r>
              <a:rPr lang="en-US" sz="1600" b="1" dirty="0">
                <a:solidFill>
                  <a:srgbClr val="E9E2D0"/>
                </a:solidFill>
                <a:latin typeface="Cambria" pitchFamily="34" charset="0"/>
                <a:ea typeface="Cambria" pitchFamily="34" charset="-122"/>
                <a:cs typeface="Cambria" pitchFamily="34" charset="-120"/>
              </a:rPr>
              <a:t>It ships where</a:t>
            </a:r>
            <a:endParaRPr lang="en-US" sz="1600" dirty="0"/>
          </a:p>
          <a:p>
            <a:pPr algn="ctr" indent="0" marL="0">
              <a:buNone/>
            </a:pPr>
            <a:r>
              <a:rPr lang="en-US" sz="1600" b="1" dirty="0">
                <a:solidFill>
                  <a:srgbClr val="E9E2D0"/>
                </a:solidFill>
                <a:latin typeface="Cambria" pitchFamily="34" charset="0"/>
                <a:ea typeface="Cambria" pitchFamily="34" charset="-122"/>
                <a:cs typeface="Cambria" pitchFamily="34" charset="-120"/>
              </a:rPr>
              <a:t>you ship</a:t>
            </a:r>
            <a:endParaRPr lang="en-US" sz="1600" dirty="0"/>
          </a:p>
        </p:txBody>
      </p:sp>
      <p:sp>
        <p:nvSpPr>
          <p:cNvPr id="8" name="Text 5"/>
          <p:cNvSpPr/>
          <p:nvPr/>
        </p:nvSpPr>
        <p:spPr>
          <a:xfrm>
            <a:off x="768096" y="3794760"/>
            <a:ext cx="3075432" cy="1298448"/>
          </a:xfrm>
          <a:prstGeom prst="rect">
            <a:avLst/>
          </a:prstGeom>
          <a:noFill/>
          <a:ln/>
        </p:spPr>
        <p:txBody>
          <a:bodyPr wrap="square" lIns="0" tIns="0" rIns="0" bIns="0" rtlCol="0" anchor="t"/>
          <a:lstStyle/>
          <a:p>
            <a:pPr algn="ctr" indent="0" marL="0">
              <a:buNone/>
            </a:pPr>
            <a:r>
              <a:rPr lang="en-US" sz="1200" dirty="0">
                <a:solidFill>
                  <a:srgbClr val="9A92A8"/>
                </a:solidFill>
                <a:latin typeface="Calibri" pitchFamily="34" charset="0"/>
                <a:ea typeface="Calibri" pitchFamily="34" charset="-122"/>
                <a:cs typeface="Calibri" pitchFamily="34" charset="-120"/>
              </a:rPr>
              <a:t>Rust compiles to WebAssembly, so it runs in the browser beside your JS. The engine behind this talk is one Rust crate that runs in a browser, on a server, and on a microcontroller.</a:t>
            </a:r>
            <a:endParaRPr lang="en-US" sz="1200" dirty="0"/>
          </a:p>
        </p:txBody>
      </p:sp>
      <p:sp>
        <p:nvSpPr>
          <p:cNvPr id="9" name="Shape 6"/>
          <p:cNvSpPr/>
          <p:nvPr/>
        </p:nvSpPr>
        <p:spPr>
          <a:xfrm>
            <a:off x="4337304" y="1600200"/>
            <a:ext cx="3514344" cy="3657600"/>
          </a:xfrm>
          <a:prstGeom prst="roundRect">
            <a:avLst>
              <a:gd name="adj" fmla="val 1821"/>
            </a:avLst>
          </a:prstGeom>
          <a:solidFill>
            <a:srgbClr val="221C31"/>
          </a:solidFill>
          <a:ln w="9525">
            <a:solidFill>
              <a:srgbClr val="3A3152"/>
            </a:solidFill>
            <a:prstDash val="solid"/>
          </a:ln>
        </p:spPr>
      </p:sp>
      <p:sp>
        <p:nvSpPr>
          <p:cNvPr id="10" name="Shape 7"/>
          <p:cNvSpPr/>
          <p:nvPr/>
        </p:nvSpPr>
        <p:spPr>
          <a:xfrm>
            <a:off x="5719572" y="1911096"/>
            <a:ext cx="749808" cy="749808"/>
          </a:xfrm>
          <a:prstGeom prst="ellipse">
            <a:avLst/>
          </a:prstGeom>
          <a:solidFill>
            <a:srgbClr val="2B2342"/>
          </a:solidFill>
          <a:ln w="9525">
            <a:solidFill>
              <a:srgbClr val="3A3152"/>
            </a:solidFill>
            <a:prstDash val="solid"/>
          </a:ln>
        </p:spPr>
      </p:sp>
      <p:pic>
        <p:nvPicPr>
          <p:cNvPr id="11" name="Image 1" descr="/tmp/claude-0/-home-user-WickedWays/bfe20d4f-91dd-58c9-a5c6-92b3d7767e5d/scratchpad/decks/icons/shield.png">    </p:cNvPr>
          <p:cNvPicPr>
            <a:picLocks noChangeAspect="1"/>
          </p:cNvPicPr>
          <p:nvPr/>
        </p:nvPicPr>
        <p:blipFill>
          <a:blip r:embed="rId2"/>
          <a:stretch>
            <a:fillRect/>
          </a:stretch>
        </p:blipFill>
        <p:spPr>
          <a:xfrm>
            <a:off x="5899526" y="2091050"/>
            <a:ext cx="389900" cy="389900"/>
          </a:xfrm>
          <a:prstGeom prst="rect">
            <a:avLst/>
          </a:prstGeom>
        </p:spPr>
      </p:pic>
      <p:sp>
        <p:nvSpPr>
          <p:cNvPr id="12" name="Text 8"/>
          <p:cNvSpPr/>
          <p:nvPr/>
        </p:nvSpPr>
        <p:spPr>
          <a:xfrm>
            <a:off x="4538472" y="2834640"/>
            <a:ext cx="3112008" cy="548640"/>
          </a:xfrm>
          <a:prstGeom prst="rect">
            <a:avLst/>
          </a:prstGeom>
          <a:noFill/>
          <a:ln/>
        </p:spPr>
        <p:txBody>
          <a:bodyPr wrap="square" lIns="0" tIns="0" rIns="0" bIns="0" rtlCol="0" anchor="ctr"/>
          <a:lstStyle/>
          <a:p>
            <a:pPr algn="ctr" indent="0" marL="0">
              <a:buNone/>
            </a:pPr>
            <a:r>
              <a:rPr lang="en-US" sz="1600" b="1" dirty="0">
                <a:solidFill>
                  <a:srgbClr val="E9E2D0"/>
                </a:solidFill>
                <a:latin typeface="Cambria" pitchFamily="34" charset="0"/>
                <a:ea typeface="Cambria" pitchFamily="34" charset="-122"/>
                <a:cs typeface="Cambria" pitchFamily="34" charset="-120"/>
              </a:rPr>
              <a:t>The types</a:t>
            </a:r>
            <a:endParaRPr lang="en-US" sz="1600" dirty="0"/>
          </a:p>
          <a:p>
            <a:pPr algn="ctr" indent="0" marL="0">
              <a:buNone/>
            </a:pPr>
            <a:r>
              <a:rPr lang="en-US" sz="1600" b="1" dirty="0">
                <a:solidFill>
                  <a:srgbClr val="E9E2D0"/>
                </a:solidFill>
                <a:latin typeface="Cambria" pitchFamily="34" charset="0"/>
                <a:ea typeface="Cambria" pitchFamily="34" charset="-122"/>
                <a:cs typeface="Cambria" pitchFamily="34" charset="-120"/>
              </a:rPr>
              <a:t>do not evaporate</a:t>
            </a:r>
            <a:endParaRPr lang="en-US" sz="1600" dirty="0"/>
          </a:p>
        </p:txBody>
      </p:sp>
      <p:sp>
        <p:nvSpPr>
          <p:cNvPr id="13" name="Text 9"/>
          <p:cNvSpPr/>
          <p:nvPr/>
        </p:nvSpPr>
        <p:spPr>
          <a:xfrm>
            <a:off x="4556760" y="3794760"/>
            <a:ext cx="3075432" cy="1298448"/>
          </a:xfrm>
          <a:prstGeom prst="rect">
            <a:avLst/>
          </a:prstGeom>
          <a:noFill/>
          <a:ln/>
        </p:spPr>
        <p:txBody>
          <a:bodyPr wrap="square" lIns="0" tIns="0" rIns="0" bIns="0" rtlCol="0" anchor="t"/>
          <a:lstStyle/>
          <a:p>
            <a:pPr algn="ctr" indent="0" marL="0">
              <a:buNone/>
            </a:pPr>
            <a:r>
              <a:rPr lang="en-US" sz="1200" dirty="0">
                <a:solidFill>
                  <a:srgbClr val="9A92A8"/>
                </a:solidFill>
                <a:latin typeface="Calibri" pitchFamily="34" charset="0"/>
                <a:ea typeface="Calibri" pitchFamily="34" charset="-122"/>
                <a:cs typeface="Calibri" pitchFamily="34" charset="-120"/>
              </a:rPr>
              <a:t>TypeScript describes your intent to the editor and is gone at runtime. Rust's types survive into the machine code, and the compiler refuses to build if you break them.</a:t>
            </a:r>
            <a:endParaRPr lang="en-US" sz="1200" dirty="0"/>
          </a:p>
        </p:txBody>
      </p:sp>
      <p:sp>
        <p:nvSpPr>
          <p:cNvPr id="14" name="Shape 10"/>
          <p:cNvSpPr/>
          <p:nvPr/>
        </p:nvSpPr>
        <p:spPr>
          <a:xfrm>
            <a:off x="8125968" y="1600200"/>
            <a:ext cx="3514344" cy="3657600"/>
          </a:xfrm>
          <a:prstGeom prst="roundRect">
            <a:avLst>
              <a:gd name="adj" fmla="val 1821"/>
            </a:avLst>
          </a:prstGeom>
          <a:solidFill>
            <a:srgbClr val="221C31"/>
          </a:solidFill>
          <a:ln w="9525">
            <a:solidFill>
              <a:srgbClr val="3A3152"/>
            </a:solidFill>
            <a:prstDash val="solid"/>
          </a:ln>
        </p:spPr>
      </p:sp>
      <p:sp>
        <p:nvSpPr>
          <p:cNvPr id="15" name="Shape 11"/>
          <p:cNvSpPr/>
          <p:nvPr/>
        </p:nvSpPr>
        <p:spPr>
          <a:xfrm>
            <a:off x="9508236" y="1911096"/>
            <a:ext cx="749808" cy="749808"/>
          </a:xfrm>
          <a:prstGeom prst="ellipse">
            <a:avLst/>
          </a:prstGeom>
          <a:solidFill>
            <a:srgbClr val="2B2342"/>
          </a:solidFill>
          <a:ln w="9525">
            <a:solidFill>
              <a:srgbClr val="3A3152"/>
            </a:solidFill>
            <a:prstDash val="solid"/>
          </a:ln>
        </p:spPr>
      </p:sp>
      <p:pic>
        <p:nvPicPr>
          <p:cNvPr id="16" name="Image 2" descr="/tmp/claude-0/-home-user-WickedWays/bfe20d4f-91dd-58c9-a5c6-92b3d7767e5d/scratchpad/decks/icons/zap_bone.png">    </p:cNvPr>
          <p:cNvPicPr>
            <a:picLocks noChangeAspect="1"/>
          </p:cNvPicPr>
          <p:nvPr/>
        </p:nvPicPr>
        <p:blipFill>
          <a:blip r:embed="rId3"/>
          <a:stretch>
            <a:fillRect/>
          </a:stretch>
        </p:blipFill>
        <p:spPr>
          <a:xfrm>
            <a:off x="9688190" y="2091050"/>
            <a:ext cx="389900" cy="389900"/>
          </a:xfrm>
          <a:prstGeom prst="rect">
            <a:avLst/>
          </a:prstGeom>
        </p:spPr>
      </p:pic>
      <p:sp>
        <p:nvSpPr>
          <p:cNvPr id="17" name="Text 12"/>
          <p:cNvSpPr/>
          <p:nvPr/>
        </p:nvSpPr>
        <p:spPr>
          <a:xfrm>
            <a:off x="8327136" y="2834640"/>
            <a:ext cx="3112008" cy="548640"/>
          </a:xfrm>
          <a:prstGeom prst="rect">
            <a:avLst/>
          </a:prstGeom>
          <a:noFill/>
          <a:ln/>
        </p:spPr>
        <p:txBody>
          <a:bodyPr wrap="square" lIns="0" tIns="0" rIns="0" bIns="0" rtlCol="0" anchor="ctr"/>
          <a:lstStyle/>
          <a:p>
            <a:pPr algn="ctr" indent="0" marL="0">
              <a:buNone/>
            </a:pPr>
            <a:r>
              <a:rPr lang="en-US" sz="1600" b="1" dirty="0">
                <a:solidFill>
                  <a:srgbClr val="E9E2D0"/>
                </a:solidFill>
                <a:latin typeface="Cambria" pitchFamily="34" charset="0"/>
                <a:ea typeface="Cambria" pitchFamily="34" charset="-122"/>
                <a:cs typeface="Cambria" pitchFamily="34" charset="-120"/>
              </a:rPr>
              <a:t>No GC, and no</a:t>
            </a:r>
            <a:endParaRPr lang="en-US" sz="1600" dirty="0"/>
          </a:p>
          <a:p>
            <a:pPr algn="ctr" indent="0" marL="0">
              <a:buNone/>
            </a:pPr>
            <a:r>
              <a:rPr lang="en-US" sz="1600" b="1" dirty="0">
                <a:solidFill>
                  <a:srgbClr val="E9E2D0"/>
                </a:solidFill>
                <a:latin typeface="Cambria" pitchFamily="34" charset="0"/>
                <a:ea typeface="Cambria" pitchFamily="34" charset="-122"/>
                <a:cs typeface="Cambria" pitchFamily="34" charset="-120"/>
              </a:rPr>
              <a:t>manual free()</a:t>
            </a:r>
            <a:endParaRPr lang="en-US" sz="1600" dirty="0"/>
          </a:p>
        </p:txBody>
      </p:sp>
      <p:sp>
        <p:nvSpPr>
          <p:cNvPr id="18" name="Text 13"/>
          <p:cNvSpPr/>
          <p:nvPr/>
        </p:nvSpPr>
        <p:spPr>
          <a:xfrm>
            <a:off x="8345424" y="3794760"/>
            <a:ext cx="3075432" cy="1298448"/>
          </a:xfrm>
          <a:prstGeom prst="rect">
            <a:avLst/>
          </a:prstGeom>
          <a:noFill/>
          <a:ln/>
        </p:spPr>
        <p:txBody>
          <a:bodyPr wrap="square" lIns="0" tIns="0" rIns="0" bIns="0" rtlCol="0" anchor="t"/>
          <a:lstStyle/>
          <a:p>
            <a:pPr algn="ctr" indent="0" marL="0">
              <a:buNone/>
            </a:pPr>
            <a:r>
              <a:rPr lang="en-US" sz="1200" dirty="0">
                <a:solidFill>
                  <a:srgbClr val="9A92A8"/>
                </a:solidFill>
                <a:latin typeface="Calibri" pitchFamily="34" charset="0"/>
                <a:ea typeface="Calibri" pitchFamily="34" charset="-122"/>
                <a:cs typeface="Calibri" pitchFamily="34" charset="-120"/>
              </a:rPr>
              <a:t>Rust works out when memory dies at compile time. That is the one genuinely alien idea in the language — and it is the very next slide.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THE HALF YOU ALREADY KNOW</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Same ergonomics, different names</a:t>
            </a:r>
            <a:endParaRPr lang="en-US" sz="3000" dirty="0"/>
          </a:p>
        </p:txBody>
      </p:sp>
      <p:sp>
        <p:nvSpPr>
          <p:cNvPr id="4" name="Shape 2"/>
          <p:cNvSpPr/>
          <p:nvPr/>
        </p:nvSpPr>
        <p:spPr>
          <a:xfrm>
            <a:off x="548640" y="1517904"/>
            <a:ext cx="11091672" cy="484632"/>
          </a:xfrm>
          <a:prstGeom prst="roundRect">
            <a:avLst>
              <a:gd name="adj" fmla="val 13208"/>
            </a:avLst>
          </a:prstGeom>
          <a:solidFill>
            <a:srgbClr val="221C31"/>
          </a:solidFill>
          <a:ln w="9525">
            <a:solidFill>
              <a:srgbClr val="3A3152"/>
            </a:solidFill>
            <a:prstDash val="solid"/>
          </a:ln>
        </p:spPr>
      </p:sp>
      <p:sp>
        <p:nvSpPr>
          <p:cNvPr id="5" name="Text 3"/>
          <p:cNvSpPr/>
          <p:nvPr/>
        </p:nvSpPr>
        <p:spPr>
          <a:xfrm>
            <a:off x="868680" y="1517904"/>
            <a:ext cx="3200400" cy="484632"/>
          </a:xfrm>
          <a:prstGeom prst="rect">
            <a:avLst/>
          </a:prstGeom>
          <a:noFill/>
          <a:ln/>
        </p:spPr>
        <p:txBody>
          <a:bodyPr wrap="square" lIns="0" tIns="0" rIns="0" bIns="0" rtlCol="0" anchor="ctr"/>
          <a:lstStyle/>
          <a:p>
            <a:pPr indent="0" marL="0">
              <a:buNone/>
            </a:pPr>
            <a:r>
              <a:rPr lang="en-US" sz="1200" dirty="0">
                <a:solidFill>
                  <a:srgbClr val="9A92A8"/>
                </a:solidFill>
                <a:latin typeface="Courier New" pitchFamily="34" charset="0"/>
                <a:ea typeface="Courier New" pitchFamily="34" charset="-122"/>
                <a:cs typeface="Courier New" pitchFamily="34" charset="-120"/>
              </a:rPr>
              <a:t>npm / yarn</a:t>
            </a:r>
            <a:endParaRPr lang="en-US" sz="1200" dirty="0"/>
          </a:p>
        </p:txBody>
      </p:sp>
      <p:sp>
        <p:nvSpPr>
          <p:cNvPr id="6" name="Text 4"/>
          <p:cNvSpPr/>
          <p:nvPr/>
        </p:nvSpPr>
        <p:spPr>
          <a:xfrm>
            <a:off x="4114800" y="1517904"/>
            <a:ext cx="365760" cy="484632"/>
          </a:xfrm>
          <a:prstGeom prst="rect">
            <a:avLst/>
          </a:prstGeom>
          <a:noFill/>
          <a:ln/>
        </p:spPr>
        <p:txBody>
          <a:bodyPr wrap="square" lIns="0" tIns="0" rIns="0" bIns="0" rtlCol="0" anchor="ctr"/>
          <a:lstStyle/>
          <a:p>
            <a:pPr algn="ctr" indent="0" marL="0">
              <a:buNone/>
            </a:pPr>
            <a:r>
              <a:rPr lang="en-US" sz="1200" dirty="0">
                <a:solidFill>
                  <a:srgbClr val="3A3152"/>
                </a:solidFill>
              </a:rPr>
              <a:t>→</a:t>
            </a:r>
            <a:endParaRPr lang="en-US" sz="1200" dirty="0"/>
          </a:p>
        </p:txBody>
      </p:sp>
      <p:sp>
        <p:nvSpPr>
          <p:cNvPr id="7" name="Text 5"/>
          <p:cNvSpPr/>
          <p:nvPr/>
        </p:nvSpPr>
        <p:spPr>
          <a:xfrm>
            <a:off x="4572000" y="1517904"/>
            <a:ext cx="6766560" cy="484632"/>
          </a:xfrm>
          <a:prstGeom prst="rect">
            <a:avLst/>
          </a:prstGeom>
          <a:noFill/>
          <a:ln/>
        </p:spPr>
        <p:txBody>
          <a:bodyPr wrap="square" lIns="0" tIns="0" rIns="0" bIns="0" rtlCol="0" anchor="ctr"/>
          <a:lstStyle/>
          <a:p>
            <a:pPr indent="0" marL="0">
              <a:buNone/>
            </a:pPr>
            <a:r>
              <a:rPr lang="en-US" sz="1200" b="1" dirty="0">
                <a:solidFill>
                  <a:srgbClr val="C9A227"/>
                </a:solidFill>
                <a:latin typeface="Courier New" pitchFamily="34" charset="0"/>
                <a:ea typeface="Courier New" pitchFamily="34" charset="-122"/>
                <a:cs typeface="Courier New" pitchFamily="34" charset="-120"/>
              </a:rPr>
              <a:t>cargo — also the test runner, doc tool and formatter</a:t>
            </a:r>
            <a:endParaRPr lang="en-US" sz="1200" dirty="0"/>
          </a:p>
        </p:txBody>
      </p:sp>
      <p:sp>
        <p:nvSpPr>
          <p:cNvPr id="8" name="Shape 6"/>
          <p:cNvSpPr/>
          <p:nvPr/>
        </p:nvSpPr>
        <p:spPr>
          <a:xfrm>
            <a:off x="548640" y="2093976"/>
            <a:ext cx="11091672" cy="484632"/>
          </a:xfrm>
          <a:prstGeom prst="roundRect">
            <a:avLst>
              <a:gd name="adj" fmla="val 13208"/>
            </a:avLst>
          </a:prstGeom>
          <a:solidFill>
            <a:srgbClr val="221C31"/>
          </a:solidFill>
          <a:ln w="9525">
            <a:solidFill>
              <a:srgbClr val="3A3152"/>
            </a:solidFill>
            <a:prstDash val="solid"/>
          </a:ln>
        </p:spPr>
      </p:sp>
      <p:sp>
        <p:nvSpPr>
          <p:cNvPr id="9" name="Text 7"/>
          <p:cNvSpPr/>
          <p:nvPr/>
        </p:nvSpPr>
        <p:spPr>
          <a:xfrm>
            <a:off x="868680" y="2093976"/>
            <a:ext cx="3200400" cy="484632"/>
          </a:xfrm>
          <a:prstGeom prst="rect">
            <a:avLst/>
          </a:prstGeom>
          <a:noFill/>
          <a:ln/>
        </p:spPr>
        <p:txBody>
          <a:bodyPr wrap="square" lIns="0" tIns="0" rIns="0" bIns="0" rtlCol="0" anchor="ctr"/>
          <a:lstStyle/>
          <a:p>
            <a:pPr indent="0" marL="0">
              <a:buNone/>
            </a:pPr>
            <a:r>
              <a:rPr lang="en-US" sz="1200" dirty="0">
                <a:solidFill>
                  <a:srgbClr val="9A92A8"/>
                </a:solidFill>
                <a:latin typeface="Courier New" pitchFamily="34" charset="0"/>
                <a:ea typeface="Courier New" pitchFamily="34" charset="-122"/>
                <a:cs typeface="Courier New" pitchFamily="34" charset="-120"/>
              </a:rPr>
              <a:t>the npm registry</a:t>
            </a:r>
            <a:endParaRPr lang="en-US" sz="1200" dirty="0"/>
          </a:p>
        </p:txBody>
      </p:sp>
      <p:sp>
        <p:nvSpPr>
          <p:cNvPr id="10" name="Text 8"/>
          <p:cNvSpPr/>
          <p:nvPr/>
        </p:nvSpPr>
        <p:spPr>
          <a:xfrm>
            <a:off x="4114800" y="2093976"/>
            <a:ext cx="365760" cy="484632"/>
          </a:xfrm>
          <a:prstGeom prst="rect">
            <a:avLst/>
          </a:prstGeom>
          <a:noFill/>
          <a:ln/>
        </p:spPr>
        <p:txBody>
          <a:bodyPr wrap="square" lIns="0" tIns="0" rIns="0" bIns="0" rtlCol="0" anchor="ctr"/>
          <a:lstStyle/>
          <a:p>
            <a:pPr algn="ctr" indent="0" marL="0">
              <a:buNone/>
            </a:pPr>
            <a:r>
              <a:rPr lang="en-US" sz="1200" dirty="0">
                <a:solidFill>
                  <a:srgbClr val="3A3152"/>
                </a:solidFill>
              </a:rPr>
              <a:t>→</a:t>
            </a:r>
            <a:endParaRPr lang="en-US" sz="1200" dirty="0"/>
          </a:p>
        </p:txBody>
      </p:sp>
      <p:sp>
        <p:nvSpPr>
          <p:cNvPr id="11" name="Text 9"/>
          <p:cNvSpPr/>
          <p:nvPr/>
        </p:nvSpPr>
        <p:spPr>
          <a:xfrm>
            <a:off x="4572000" y="2093976"/>
            <a:ext cx="6766560" cy="484632"/>
          </a:xfrm>
          <a:prstGeom prst="rect">
            <a:avLst/>
          </a:prstGeom>
          <a:noFill/>
          <a:ln/>
        </p:spPr>
        <p:txBody>
          <a:bodyPr wrap="square" lIns="0" tIns="0" rIns="0" bIns="0" rtlCol="0" anchor="ctr"/>
          <a:lstStyle/>
          <a:p>
            <a:pPr indent="0" marL="0">
              <a:buNone/>
            </a:pPr>
            <a:r>
              <a:rPr lang="en-US" sz="1200" b="1" dirty="0">
                <a:solidFill>
                  <a:srgbClr val="C9A227"/>
                </a:solidFill>
                <a:latin typeface="Courier New" pitchFamily="34" charset="0"/>
                <a:ea typeface="Courier New" pitchFamily="34" charset="-122"/>
                <a:cs typeface="Courier New" pitchFamily="34" charset="-120"/>
              </a:rPr>
              <a:t>crates.io — packages are called crates</a:t>
            </a:r>
            <a:endParaRPr lang="en-US" sz="1200" dirty="0"/>
          </a:p>
        </p:txBody>
      </p:sp>
      <p:sp>
        <p:nvSpPr>
          <p:cNvPr id="12" name="Shape 10"/>
          <p:cNvSpPr/>
          <p:nvPr/>
        </p:nvSpPr>
        <p:spPr>
          <a:xfrm>
            <a:off x="548640" y="2670048"/>
            <a:ext cx="11091672" cy="484632"/>
          </a:xfrm>
          <a:prstGeom prst="roundRect">
            <a:avLst>
              <a:gd name="adj" fmla="val 13208"/>
            </a:avLst>
          </a:prstGeom>
          <a:solidFill>
            <a:srgbClr val="221C31"/>
          </a:solidFill>
          <a:ln w="9525">
            <a:solidFill>
              <a:srgbClr val="3A3152"/>
            </a:solidFill>
            <a:prstDash val="solid"/>
          </a:ln>
        </p:spPr>
      </p:sp>
      <p:sp>
        <p:nvSpPr>
          <p:cNvPr id="13" name="Text 11"/>
          <p:cNvSpPr/>
          <p:nvPr/>
        </p:nvSpPr>
        <p:spPr>
          <a:xfrm>
            <a:off x="868680" y="2670048"/>
            <a:ext cx="3200400" cy="484632"/>
          </a:xfrm>
          <a:prstGeom prst="rect">
            <a:avLst/>
          </a:prstGeom>
          <a:noFill/>
          <a:ln/>
        </p:spPr>
        <p:txBody>
          <a:bodyPr wrap="square" lIns="0" tIns="0" rIns="0" bIns="0" rtlCol="0" anchor="ctr"/>
          <a:lstStyle/>
          <a:p>
            <a:pPr indent="0" marL="0">
              <a:buNone/>
            </a:pPr>
            <a:r>
              <a:rPr lang="en-US" sz="1200" dirty="0">
                <a:solidFill>
                  <a:srgbClr val="9A92A8"/>
                </a:solidFill>
                <a:latin typeface="Courier New" pitchFamily="34" charset="0"/>
                <a:ea typeface="Courier New" pitchFamily="34" charset="-122"/>
                <a:cs typeface="Courier New" pitchFamily="34" charset="-120"/>
              </a:rPr>
              <a:t>package.json</a:t>
            </a:r>
            <a:endParaRPr lang="en-US" sz="1200" dirty="0"/>
          </a:p>
        </p:txBody>
      </p:sp>
      <p:sp>
        <p:nvSpPr>
          <p:cNvPr id="14" name="Text 12"/>
          <p:cNvSpPr/>
          <p:nvPr/>
        </p:nvSpPr>
        <p:spPr>
          <a:xfrm>
            <a:off x="4114800" y="2670048"/>
            <a:ext cx="365760" cy="484632"/>
          </a:xfrm>
          <a:prstGeom prst="rect">
            <a:avLst/>
          </a:prstGeom>
          <a:noFill/>
          <a:ln/>
        </p:spPr>
        <p:txBody>
          <a:bodyPr wrap="square" lIns="0" tIns="0" rIns="0" bIns="0" rtlCol="0" anchor="ctr"/>
          <a:lstStyle/>
          <a:p>
            <a:pPr algn="ctr" indent="0" marL="0">
              <a:buNone/>
            </a:pPr>
            <a:r>
              <a:rPr lang="en-US" sz="1200" dirty="0">
                <a:solidFill>
                  <a:srgbClr val="3A3152"/>
                </a:solidFill>
              </a:rPr>
              <a:t>→</a:t>
            </a:r>
            <a:endParaRPr lang="en-US" sz="1200" dirty="0"/>
          </a:p>
        </p:txBody>
      </p:sp>
      <p:sp>
        <p:nvSpPr>
          <p:cNvPr id="15" name="Text 13"/>
          <p:cNvSpPr/>
          <p:nvPr/>
        </p:nvSpPr>
        <p:spPr>
          <a:xfrm>
            <a:off x="4572000" y="2670048"/>
            <a:ext cx="6766560" cy="484632"/>
          </a:xfrm>
          <a:prstGeom prst="rect">
            <a:avLst/>
          </a:prstGeom>
          <a:noFill/>
          <a:ln/>
        </p:spPr>
        <p:txBody>
          <a:bodyPr wrap="square" lIns="0" tIns="0" rIns="0" bIns="0" rtlCol="0" anchor="ctr"/>
          <a:lstStyle/>
          <a:p>
            <a:pPr indent="0" marL="0">
              <a:buNone/>
            </a:pPr>
            <a:r>
              <a:rPr lang="en-US" sz="1200" b="1" dirty="0">
                <a:solidFill>
                  <a:srgbClr val="C9A227"/>
                </a:solidFill>
                <a:latin typeface="Courier New" pitchFamily="34" charset="0"/>
                <a:ea typeface="Courier New" pitchFamily="34" charset="-122"/>
                <a:cs typeface="Courier New" pitchFamily="34" charset="-120"/>
              </a:rPr>
              <a:t>Cargo.toml</a:t>
            </a:r>
            <a:endParaRPr lang="en-US" sz="1200" dirty="0"/>
          </a:p>
        </p:txBody>
      </p:sp>
      <p:sp>
        <p:nvSpPr>
          <p:cNvPr id="16" name="Shape 14"/>
          <p:cNvSpPr/>
          <p:nvPr/>
        </p:nvSpPr>
        <p:spPr>
          <a:xfrm>
            <a:off x="548640" y="3246120"/>
            <a:ext cx="11091672" cy="484632"/>
          </a:xfrm>
          <a:prstGeom prst="roundRect">
            <a:avLst>
              <a:gd name="adj" fmla="val 13208"/>
            </a:avLst>
          </a:prstGeom>
          <a:solidFill>
            <a:srgbClr val="221C31"/>
          </a:solidFill>
          <a:ln w="9525">
            <a:solidFill>
              <a:srgbClr val="3A3152"/>
            </a:solidFill>
            <a:prstDash val="solid"/>
          </a:ln>
        </p:spPr>
      </p:sp>
      <p:sp>
        <p:nvSpPr>
          <p:cNvPr id="17" name="Text 15"/>
          <p:cNvSpPr/>
          <p:nvPr/>
        </p:nvSpPr>
        <p:spPr>
          <a:xfrm>
            <a:off x="868680" y="3246120"/>
            <a:ext cx="3200400" cy="484632"/>
          </a:xfrm>
          <a:prstGeom prst="rect">
            <a:avLst/>
          </a:prstGeom>
          <a:noFill/>
          <a:ln/>
        </p:spPr>
        <p:txBody>
          <a:bodyPr wrap="square" lIns="0" tIns="0" rIns="0" bIns="0" rtlCol="0" anchor="ctr"/>
          <a:lstStyle/>
          <a:p>
            <a:pPr indent="0" marL="0">
              <a:buNone/>
            </a:pPr>
            <a:r>
              <a:rPr lang="en-US" sz="1200" dirty="0">
                <a:solidFill>
                  <a:srgbClr val="9A92A8"/>
                </a:solidFill>
                <a:latin typeface="Courier New" pitchFamily="34" charset="0"/>
                <a:ea typeface="Courier New" pitchFamily="34" charset="-122"/>
                <a:cs typeface="Courier New" pitchFamily="34" charset="-120"/>
              </a:rPr>
              <a:t>package-lock.json</a:t>
            </a:r>
            <a:endParaRPr lang="en-US" sz="1200" dirty="0"/>
          </a:p>
        </p:txBody>
      </p:sp>
      <p:sp>
        <p:nvSpPr>
          <p:cNvPr id="18" name="Text 16"/>
          <p:cNvSpPr/>
          <p:nvPr/>
        </p:nvSpPr>
        <p:spPr>
          <a:xfrm>
            <a:off x="4114800" y="3246120"/>
            <a:ext cx="365760" cy="484632"/>
          </a:xfrm>
          <a:prstGeom prst="rect">
            <a:avLst/>
          </a:prstGeom>
          <a:noFill/>
          <a:ln/>
        </p:spPr>
        <p:txBody>
          <a:bodyPr wrap="square" lIns="0" tIns="0" rIns="0" bIns="0" rtlCol="0" anchor="ctr"/>
          <a:lstStyle/>
          <a:p>
            <a:pPr algn="ctr" indent="0" marL="0">
              <a:buNone/>
            </a:pPr>
            <a:r>
              <a:rPr lang="en-US" sz="1200" dirty="0">
                <a:solidFill>
                  <a:srgbClr val="3A3152"/>
                </a:solidFill>
              </a:rPr>
              <a:t>→</a:t>
            </a:r>
            <a:endParaRPr lang="en-US" sz="1200" dirty="0"/>
          </a:p>
        </p:txBody>
      </p:sp>
      <p:sp>
        <p:nvSpPr>
          <p:cNvPr id="19" name="Text 17"/>
          <p:cNvSpPr/>
          <p:nvPr/>
        </p:nvSpPr>
        <p:spPr>
          <a:xfrm>
            <a:off x="4572000" y="3246120"/>
            <a:ext cx="6766560" cy="484632"/>
          </a:xfrm>
          <a:prstGeom prst="rect">
            <a:avLst/>
          </a:prstGeom>
          <a:noFill/>
          <a:ln/>
        </p:spPr>
        <p:txBody>
          <a:bodyPr wrap="square" lIns="0" tIns="0" rIns="0" bIns="0" rtlCol="0" anchor="ctr"/>
          <a:lstStyle/>
          <a:p>
            <a:pPr indent="0" marL="0">
              <a:buNone/>
            </a:pPr>
            <a:r>
              <a:rPr lang="en-US" sz="1200" b="1" dirty="0">
                <a:solidFill>
                  <a:srgbClr val="C9A227"/>
                </a:solidFill>
                <a:latin typeface="Courier New" pitchFamily="34" charset="0"/>
                <a:ea typeface="Courier New" pitchFamily="34" charset="-122"/>
                <a:cs typeface="Courier New" pitchFamily="34" charset="-120"/>
              </a:rPr>
              <a:t>Cargo.lock — same idea, same reason</a:t>
            </a:r>
            <a:endParaRPr lang="en-US" sz="1200" dirty="0"/>
          </a:p>
        </p:txBody>
      </p:sp>
      <p:sp>
        <p:nvSpPr>
          <p:cNvPr id="20" name="Shape 18"/>
          <p:cNvSpPr/>
          <p:nvPr/>
        </p:nvSpPr>
        <p:spPr>
          <a:xfrm>
            <a:off x="548640" y="3822192"/>
            <a:ext cx="11091672" cy="484632"/>
          </a:xfrm>
          <a:prstGeom prst="roundRect">
            <a:avLst>
              <a:gd name="adj" fmla="val 13208"/>
            </a:avLst>
          </a:prstGeom>
          <a:solidFill>
            <a:srgbClr val="221C31"/>
          </a:solidFill>
          <a:ln w="9525">
            <a:solidFill>
              <a:srgbClr val="3A3152"/>
            </a:solidFill>
            <a:prstDash val="solid"/>
          </a:ln>
        </p:spPr>
      </p:sp>
      <p:sp>
        <p:nvSpPr>
          <p:cNvPr id="21" name="Text 19"/>
          <p:cNvSpPr/>
          <p:nvPr/>
        </p:nvSpPr>
        <p:spPr>
          <a:xfrm>
            <a:off x="868680" y="3822192"/>
            <a:ext cx="3200400" cy="484632"/>
          </a:xfrm>
          <a:prstGeom prst="rect">
            <a:avLst/>
          </a:prstGeom>
          <a:noFill/>
          <a:ln/>
        </p:spPr>
        <p:txBody>
          <a:bodyPr wrap="square" lIns="0" tIns="0" rIns="0" bIns="0" rtlCol="0" anchor="ctr"/>
          <a:lstStyle/>
          <a:p>
            <a:pPr indent="0" marL="0">
              <a:buNone/>
            </a:pPr>
            <a:r>
              <a:rPr lang="en-US" sz="1200" dirty="0">
                <a:solidFill>
                  <a:srgbClr val="9A92A8"/>
                </a:solidFill>
                <a:latin typeface="Courier New" pitchFamily="34" charset="0"/>
                <a:ea typeface="Courier New" pitchFamily="34" charset="-122"/>
                <a:cs typeface="Courier New" pitchFamily="34" charset="-120"/>
              </a:rPr>
              <a:t>nvm / .nvmrc</a:t>
            </a:r>
            <a:endParaRPr lang="en-US" sz="1200" dirty="0"/>
          </a:p>
        </p:txBody>
      </p:sp>
      <p:sp>
        <p:nvSpPr>
          <p:cNvPr id="22" name="Text 20"/>
          <p:cNvSpPr/>
          <p:nvPr/>
        </p:nvSpPr>
        <p:spPr>
          <a:xfrm>
            <a:off x="4114800" y="3822192"/>
            <a:ext cx="365760" cy="484632"/>
          </a:xfrm>
          <a:prstGeom prst="rect">
            <a:avLst/>
          </a:prstGeom>
          <a:noFill/>
          <a:ln/>
        </p:spPr>
        <p:txBody>
          <a:bodyPr wrap="square" lIns="0" tIns="0" rIns="0" bIns="0" rtlCol="0" anchor="ctr"/>
          <a:lstStyle/>
          <a:p>
            <a:pPr algn="ctr" indent="0" marL="0">
              <a:buNone/>
            </a:pPr>
            <a:r>
              <a:rPr lang="en-US" sz="1200" dirty="0">
                <a:solidFill>
                  <a:srgbClr val="3A3152"/>
                </a:solidFill>
              </a:rPr>
              <a:t>→</a:t>
            </a:r>
            <a:endParaRPr lang="en-US" sz="1200" dirty="0"/>
          </a:p>
        </p:txBody>
      </p:sp>
      <p:sp>
        <p:nvSpPr>
          <p:cNvPr id="23" name="Text 21"/>
          <p:cNvSpPr/>
          <p:nvPr/>
        </p:nvSpPr>
        <p:spPr>
          <a:xfrm>
            <a:off x="4572000" y="3822192"/>
            <a:ext cx="6766560" cy="484632"/>
          </a:xfrm>
          <a:prstGeom prst="rect">
            <a:avLst/>
          </a:prstGeom>
          <a:noFill/>
          <a:ln/>
        </p:spPr>
        <p:txBody>
          <a:bodyPr wrap="square" lIns="0" tIns="0" rIns="0" bIns="0" rtlCol="0" anchor="ctr"/>
          <a:lstStyle/>
          <a:p>
            <a:pPr indent="0" marL="0">
              <a:buNone/>
            </a:pPr>
            <a:r>
              <a:rPr lang="en-US" sz="1200" b="1" dirty="0">
                <a:solidFill>
                  <a:srgbClr val="C9A227"/>
                </a:solidFill>
                <a:latin typeface="Courier New" pitchFamily="34" charset="0"/>
                <a:ea typeface="Courier New" pitchFamily="34" charset="-122"/>
                <a:cs typeface="Courier New" pitchFamily="34" charset="-120"/>
              </a:rPr>
              <a:t>rustup / rust-toolchain.toml — and it installs it for you</a:t>
            </a:r>
            <a:endParaRPr lang="en-US" sz="1200" dirty="0"/>
          </a:p>
        </p:txBody>
      </p:sp>
      <p:sp>
        <p:nvSpPr>
          <p:cNvPr id="24" name="Shape 22"/>
          <p:cNvSpPr/>
          <p:nvPr/>
        </p:nvSpPr>
        <p:spPr>
          <a:xfrm>
            <a:off x="548640" y="4398264"/>
            <a:ext cx="11091672" cy="484632"/>
          </a:xfrm>
          <a:prstGeom prst="roundRect">
            <a:avLst>
              <a:gd name="adj" fmla="val 13208"/>
            </a:avLst>
          </a:prstGeom>
          <a:solidFill>
            <a:srgbClr val="221C31"/>
          </a:solidFill>
          <a:ln w="9525">
            <a:solidFill>
              <a:srgbClr val="3A3152"/>
            </a:solidFill>
            <a:prstDash val="solid"/>
          </a:ln>
        </p:spPr>
      </p:sp>
      <p:sp>
        <p:nvSpPr>
          <p:cNvPr id="25" name="Text 23"/>
          <p:cNvSpPr/>
          <p:nvPr/>
        </p:nvSpPr>
        <p:spPr>
          <a:xfrm>
            <a:off x="868680" y="4398264"/>
            <a:ext cx="3200400" cy="484632"/>
          </a:xfrm>
          <a:prstGeom prst="rect">
            <a:avLst/>
          </a:prstGeom>
          <a:noFill/>
          <a:ln/>
        </p:spPr>
        <p:txBody>
          <a:bodyPr wrap="square" lIns="0" tIns="0" rIns="0" bIns="0" rtlCol="0" anchor="ctr"/>
          <a:lstStyle/>
          <a:p>
            <a:pPr indent="0" marL="0">
              <a:buNone/>
            </a:pPr>
            <a:r>
              <a:rPr lang="en-US" sz="1200" dirty="0">
                <a:solidFill>
                  <a:srgbClr val="9A92A8"/>
                </a:solidFill>
                <a:latin typeface="Courier New" pitchFamily="34" charset="0"/>
                <a:ea typeface="Courier New" pitchFamily="34" charset="-122"/>
                <a:cs typeface="Courier New" pitchFamily="34" charset="-120"/>
              </a:rPr>
              <a:t>ESLint + Prettier</a:t>
            </a:r>
            <a:endParaRPr lang="en-US" sz="1200" dirty="0"/>
          </a:p>
        </p:txBody>
      </p:sp>
      <p:sp>
        <p:nvSpPr>
          <p:cNvPr id="26" name="Text 24"/>
          <p:cNvSpPr/>
          <p:nvPr/>
        </p:nvSpPr>
        <p:spPr>
          <a:xfrm>
            <a:off x="4114800" y="4398264"/>
            <a:ext cx="365760" cy="484632"/>
          </a:xfrm>
          <a:prstGeom prst="rect">
            <a:avLst/>
          </a:prstGeom>
          <a:noFill/>
          <a:ln/>
        </p:spPr>
        <p:txBody>
          <a:bodyPr wrap="square" lIns="0" tIns="0" rIns="0" bIns="0" rtlCol="0" anchor="ctr"/>
          <a:lstStyle/>
          <a:p>
            <a:pPr algn="ctr" indent="0" marL="0">
              <a:buNone/>
            </a:pPr>
            <a:r>
              <a:rPr lang="en-US" sz="1200" dirty="0">
                <a:solidFill>
                  <a:srgbClr val="3A3152"/>
                </a:solidFill>
              </a:rPr>
              <a:t>→</a:t>
            </a:r>
            <a:endParaRPr lang="en-US" sz="1200" dirty="0"/>
          </a:p>
        </p:txBody>
      </p:sp>
      <p:sp>
        <p:nvSpPr>
          <p:cNvPr id="27" name="Text 25"/>
          <p:cNvSpPr/>
          <p:nvPr/>
        </p:nvSpPr>
        <p:spPr>
          <a:xfrm>
            <a:off x="4572000" y="4398264"/>
            <a:ext cx="6766560" cy="484632"/>
          </a:xfrm>
          <a:prstGeom prst="rect">
            <a:avLst/>
          </a:prstGeom>
          <a:noFill/>
          <a:ln/>
        </p:spPr>
        <p:txBody>
          <a:bodyPr wrap="square" lIns="0" tIns="0" rIns="0" bIns="0" rtlCol="0" anchor="ctr"/>
          <a:lstStyle/>
          <a:p>
            <a:pPr indent="0" marL="0">
              <a:buNone/>
            </a:pPr>
            <a:r>
              <a:rPr lang="en-US" sz="1200" b="1" dirty="0">
                <a:solidFill>
                  <a:srgbClr val="C9A227"/>
                </a:solidFill>
                <a:latin typeface="Courier New" pitchFamily="34" charset="0"/>
                <a:ea typeface="Courier New" pitchFamily="34" charset="-122"/>
                <a:cs typeface="Courier New" pitchFamily="34" charset="-120"/>
              </a:rPr>
              <a:t>clippy + rustfmt — official, no bikeshedding</a:t>
            </a:r>
            <a:endParaRPr lang="en-US" sz="1200" dirty="0"/>
          </a:p>
        </p:txBody>
      </p:sp>
      <p:sp>
        <p:nvSpPr>
          <p:cNvPr id="28" name="Shape 26"/>
          <p:cNvSpPr/>
          <p:nvPr/>
        </p:nvSpPr>
        <p:spPr>
          <a:xfrm>
            <a:off x="548640" y="4974336"/>
            <a:ext cx="11091672" cy="484632"/>
          </a:xfrm>
          <a:prstGeom prst="roundRect">
            <a:avLst>
              <a:gd name="adj" fmla="val 13208"/>
            </a:avLst>
          </a:prstGeom>
          <a:solidFill>
            <a:srgbClr val="221C31"/>
          </a:solidFill>
          <a:ln w="9525">
            <a:solidFill>
              <a:srgbClr val="3A3152"/>
            </a:solidFill>
            <a:prstDash val="solid"/>
          </a:ln>
        </p:spPr>
      </p:sp>
      <p:sp>
        <p:nvSpPr>
          <p:cNvPr id="29" name="Text 27"/>
          <p:cNvSpPr/>
          <p:nvPr/>
        </p:nvSpPr>
        <p:spPr>
          <a:xfrm>
            <a:off x="868680" y="4974336"/>
            <a:ext cx="3200400" cy="484632"/>
          </a:xfrm>
          <a:prstGeom prst="rect">
            <a:avLst/>
          </a:prstGeom>
          <a:noFill/>
          <a:ln/>
        </p:spPr>
        <p:txBody>
          <a:bodyPr wrap="square" lIns="0" tIns="0" rIns="0" bIns="0" rtlCol="0" anchor="ctr"/>
          <a:lstStyle/>
          <a:p>
            <a:pPr indent="0" marL="0">
              <a:buNone/>
            </a:pPr>
            <a:r>
              <a:rPr lang="en-US" sz="1200" dirty="0">
                <a:solidFill>
                  <a:srgbClr val="9A92A8"/>
                </a:solidFill>
                <a:latin typeface="Courier New" pitchFamily="34" charset="0"/>
                <a:ea typeface="Courier New" pitchFamily="34" charset="-122"/>
                <a:cs typeface="Courier New" pitchFamily="34" charset="-120"/>
              </a:rPr>
              <a:t>workspaces</a:t>
            </a:r>
            <a:endParaRPr lang="en-US" sz="1200" dirty="0"/>
          </a:p>
        </p:txBody>
      </p:sp>
      <p:sp>
        <p:nvSpPr>
          <p:cNvPr id="30" name="Text 28"/>
          <p:cNvSpPr/>
          <p:nvPr/>
        </p:nvSpPr>
        <p:spPr>
          <a:xfrm>
            <a:off x="4114800" y="4974336"/>
            <a:ext cx="365760" cy="484632"/>
          </a:xfrm>
          <a:prstGeom prst="rect">
            <a:avLst/>
          </a:prstGeom>
          <a:noFill/>
          <a:ln/>
        </p:spPr>
        <p:txBody>
          <a:bodyPr wrap="square" lIns="0" tIns="0" rIns="0" bIns="0" rtlCol="0" anchor="ctr"/>
          <a:lstStyle/>
          <a:p>
            <a:pPr algn="ctr" indent="0" marL="0">
              <a:buNone/>
            </a:pPr>
            <a:r>
              <a:rPr lang="en-US" sz="1200" dirty="0">
                <a:solidFill>
                  <a:srgbClr val="3A3152"/>
                </a:solidFill>
              </a:rPr>
              <a:t>→</a:t>
            </a:r>
            <a:endParaRPr lang="en-US" sz="1200" dirty="0"/>
          </a:p>
        </p:txBody>
      </p:sp>
      <p:sp>
        <p:nvSpPr>
          <p:cNvPr id="31" name="Text 29"/>
          <p:cNvSpPr/>
          <p:nvPr/>
        </p:nvSpPr>
        <p:spPr>
          <a:xfrm>
            <a:off x="4572000" y="4974336"/>
            <a:ext cx="6766560" cy="484632"/>
          </a:xfrm>
          <a:prstGeom prst="rect">
            <a:avLst/>
          </a:prstGeom>
          <a:noFill/>
          <a:ln/>
        </p:spPr>
        <p:txBody>
          <a:bodyPr wrap="square" lIns="0" tIns="0" rIns="0" bIns="0" rtlCol="0" anchor="ctr"/>
          <a:lstStyle/>
          <a:p>
            <a:pPr indent="0" marL="0">
              <a:buNone/>
            </a:pPr>
            <a:r>
              <a:rPr lang="en-US" sz="1200" b="1" dirty="0">
                <a:solidFill>
                  <a:srgbClr val="C9A227"/>
                </a:solidFill>
                <a:latin typeface="Courier New" pitchFamily="34" charset="0"/>
                <a:ea typeface="Courier New" pitchFamily="34" charset="-122"/>
                <a:cs typeface="Courier New" pitchFamily="34" charset="-120"/>
              </a:rPr>
              <a:t>Cargo workspaces</a:t>
            </a:r>
            <a:endParaRPr lang="en-US" sz="1200" dirty="0"/>
          </a:p>
        </p:txBody>
      </p:sp>
      <p:sp>
        <p:nvSpPr>
          <p:cNvPr id="32" name="Shape 30"/>
          <p:cNvSpPr/>
          <p:nvPr/>
        </p:nvSpPr>
        <p:spPr>
          <a:xfrm>
            <a:off x="548640" y="5550408"/>
            <a:ext cx="11091672" cy="484632"/>
          </a:xfrm>
          <a:prstGeom prst="roundRect">
            <a:avLst>
              <a:gd name="adj" fmla="val 13208"/>
            </a:avLst>
          </a:prstGeom>
          <a:solidFill>
            <a:srgbClr val="221C31"/>
          </a:solidFill>
          <a:ln w="9525">
            <a:solidFill>
              <a:srgbClr val="3A3152"/>
            </a:solidFill>
            <a:prstDash val="solid"/>
          </a:ln>
        </p:spPr>
      </p:sp>
      <p:sp>
        <p:nvSpPr>
          <p:cNvPr id="33" name="Text 31"/>
          <p:cNvSpPr/>
          <p:nvPr/>
        </p:nvSpPr>
        <p:spPr>
          <a:xfrm>
            <a:off x="868680" y="5550408"/>
            <a:ext cx="3200400" cy="484632"/>
          </a:xfrm>
          <a:prstGeom prst="rect">
            <a:avLst/>
          </a:prstGeom>
          <a:noFill/>
          <a:ln/>
        </p:spPr>
        <p:txBody>
          <a:bodyPr wrap="square" lIns="0" tIns="0" rIns="0" bIns="0" rtlCol="0" anchor="ctr"/>
          <a:lstStyle/>
          <a:p>
            <a:pPr indent="0" marL="0">
              <a:buNone/>
            </a:pPr>
            <a:r>
              <a:rPr lang="en-US" sz="1200" dirty="0">
                <a:solidFill>
                  <a:srgbClr val="9A92A8"/>
                </a:solidFill>
                <a:latin typeface="Courier New" pitchFamily="34" charset="0"/>
                <a:ea typeface="Courier New" pitchFamily="34" charset="-122"/>
                <a:cs typeface="Courier New" pitchFamily="34" charset="-120"/>
              </a:rPr>
              <a:t>console.log(x)</a:t>
            </a:r>
            <a:endParaRPr lang="en-US" sz="1200" dirty="0"/>
          </a:p>
        </p:txBody>
      </p:sp>
      <p:sp>
        <p:nvSpPr>
          <p:cNvPr id="34" name="Text 32"/>
          <p:cNvSpPr/>
          <p:nvPr/>
        </p:nvSpPr>
        <p:spPr>
          <a:xfrm>
            <a:off x="4114800" y="5550408"/>
            <a:ext cx="365760" cy="484632"/>
          </a:xfrm>
          <a:prstGeom prst="rect">
            <a:avLst/>
          </a:prstGeom>
          <a:noFill/>
          <a:ln/>
        </p:spPr>
        <p:txBody>
          <a:bodyPr wrap="square" lIns="0" tIns="0" rIns="0" bIns="0" rtlCol="0" anchor="ctr"/>
          <a:lstStyle/>
          <a:p>
            <a:pPr algn="ctr" indent="0" marL="0">
              <a:buNone/>
            </a:pPr>
            <a:r>
              <a:rPr lang="en-US" sz="1200" dirty="0">
                <a:solidFill>
                  <a:srgbClr val="3A3152"/>
                </a:solidFill>
              </a:rPr>
              <a:t>→</a:t>
            </a:r>
            <a:endParaRPr lang="en-US" sz="1200" dirty="0"/>
          </a:p>
        </p:txBody>
      </p:sp>
      <p:sp>
        <p:nvSpPr>
          <p:cNvPr id="35" name="Text 33"/>
          <p:cNvSpPr/>
          <p:nvPr/>
        </p:nvSpPr>
        <p:spPr>
          <a:xfrm>
            <a:off x="4572000" y="5550408"/>
            <a:ext cx="6766560" cy="484632"/>
          </a:xfrm>
          <a:prstGeom prst="rect">
            <a:avLst/>
          </a:prstGeom>
          <a:noFill/>
          <a:ln/>
        </p:spPr>
        <p:txBody>
          <a:bodyPr wrap="square" lIns="0" tIns="0" rIns="0" bIns="0" rtlCol="0" anchor="ctr"/>
          <a:lstStyle/>
          <a:p>
            <a:pPr indent="0" marL="0">
              <a:buNone/>
            </a:pPr>
            <a:r>
              <a:rPr lang="en-US" sz="1200" b="1" dirty="0">
                <a:solidFill>
                  <a:srgbClr val="C9A227"/>
                </a:solidFill>
                <a:latin typeface="Courier New" pitchFamily="34" charset="0"/>
                <a:ea typeface="Courier New" pitchFamily="34" charset="-122"/>
                <a:cs typeface="Courier New" pitchFamily="34" charset="-120"/>
              </a:rPr>
              <a:t>println!("{x:?}")</a:t>
            </a:r>
            <a:endParaRPr lang="en-US" sz="1200" dirty="0"/>
          </a:p>
        </p:txBody>
      </p:sp>
      <p:sp>
        <p:nvSpPr>
          <p:cNvPr id="36" name="Text 34"/>
          <p:cNvSpPr/>
          <p:nvPr/>
        </p:nvSpPr>
        <p:spPr>
          <a:xfrm>
            <a:off x="822960" y="6172200"/>
            <a:ext cx="10543032" cy="548640"/>
          </a:xfrm>
          <a:prstGeom prst="rect">
            <a:avLst/>
          </a:prstGeom>
          <a:noFill/>
          <a:ln/>
        </p:spPr>
        <p:txBody>
          <a:bodyPr wrap="square" lIns="0" tIns="0" rIns="0" bIns="0" rtlCol="0" anchor="ctr"/>
          <a:lstStyle/>
          <a:p>
            <a:pPr algn="ctr" indent="0" marL="0">
              <a:buNone/>
            </a:pPr>
            <a:r>
              <a:rPr lang="en-US" sz="1350" i="1" dirty="0">
                <a:solidFill>
                  <a:srgbClr val="E9E2D0"/>
                </a:solidFill>
                <a:latin typeface="Calibri" pitchFamily="34" charset="0"/>
                <a:ea typeface="Calibri" pitchFamily="34" charset="-122"/>
                <a:cs typeface="Calibri" pitchFamily="34" charset="-120"/>
              </a:rPr>
              <a:t>cargo new · cargo add · cargo test · cargo run. If you can drive npm, you can drive cargo on day one.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NEW IDEA #1</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Values have exactly one owner</a:t>
            </a:r>
            <a:endParaRPr lang="en-US" sz="3000" dirty="0"/>
          </a:p>
        </p:txBody>
      </p:sp>
      <p:sp>
        <p:nvSpPr>
          <p:cNvPr id="4" name="Text 2"/>
          <p:cNvSpPr/>
          <p:nvPr/>
        </p:nvSpPr>
        <p:spPr>
          <a:xfrm>
            <a:off x="548640" y="1481328"/>
            <a:ext cx="5413248" cy="274320"/>
          </a:xfrm>
          <a:prstGeom prst="rect">
            <a:avLst/>
          </a:prstGeom>
          <a:noFill/>
          <a:ln/>
        </p:spPr>
        <p:txBody>
          <a:bodyPr wrap="square" lIns="0" tIns="0" rIns="0" bIns="0" rtlCol="0" anchor="ctr"/>
          <a:lstStyle/>
          <a:p>
            <a:pPr algn="ctr" indent="0" marL="0">
              <a:buNone/>
            </a:pPr>
            <a:r>
              <a:rPr lang="en-US" sz="1100" b="1" spc="250" kern="0" dirty="0">
                <a:solidFill>
                  <a:srgbClr val="9A92A8"/>
                </a:solidFill>
                <a:latin typeface="Calibri" pitchFamily="34" charset="0"/>
                <a:ea typeface="Calibri" pitchFamily="34" charset="-122"/>
                <a:cs typeface="Calibri" pitchFamily="34" charset="-120"/>
              </a:rPr>
              <a:t>JAVASCRIPT</a:t>
            </a:r>
            <a:endParaRPr lang="en-US" sz="1100" dirty="0"/>
          </a:p>
        </p:txBody>
      </p:sp>
      <p:sp>
        <p:nvSpPr>
          <p:cNvPr id="5" name="Shape 3"/>
          <p:cNvSpPr/>
          <p:nvPr/>
        </p:nvSpPr>
        <p:spPr>
          <a:xfrm>
            <a:off x="548640" y="1792224"/>
            <a:ext cx="5413248" cy="1901952"/>
          </a:xfrm>
          <a:prstGeom prst="roundRect">
            <a:avLst>
              <a:gd name="adj" fmla="val 3365"/>
            </a:avLst>
          </a:prstGeom>
          <a:solidFill>
            <a:srgbClr val="0F0C17"/>
          </a:solidFill>
          <a:ln w="9525">
            <a:solidFill>
              <a:srgbClr val="3A3152"/>
            </a:solidFill>
            <a:prstDash val="solid"/>
          </a:ln>
        </p:spPr>
      </p:sp>
      <p:sp>
        <p:nvSpPr>
          <p:cNvPr id="6" name="Text 4"/>
          <p:cNvSpPr/>
          <p:nvPr/>
        </p:nvSpPr>
        <p:spPr>
          <a:xfrm>
            <a:off x="768096" y="1938528"/>
            <a:ext cx="4974336" cy="1609344"/>
          </a:xfrm>
          <a:prstGeom prst="rect">
            <a:avLst/>
          </a:prstGeom>
          <a:noFill/>
          <a:ln/>
        </p:spPr>
        <p:txBody>
          <a:bodyPr wrap="square" lIns="0" tIns="0" rIns="0" bIns="0" rtlCol="0" anchor="t"/>
          <a:lstStyle/>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const party = ["Ada", "Bram"];</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 </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addMember(party);</a:t>
            </a:r>
            <a:endParaRPr lang="en-US" sz="1250" dirty="0"/>
          </a:p>
          <a:p>
            <a:pPr indent="0" marL="0">
              <a:lnSpc>
                <a:spcPct val="106000"/>
              </a:lnSpc>
              <a:buNone/>
            </a:pPr>
            <a:r>
              <a:rPr lang="en-US" sz="1250" dirty="0">
                <a:solidFill>
                  <a:srgbClr val="9A92A8"/>
                </a:solidFill>
                <a:latin typeface="Courier New" pitchFamily="34" charset="0"/>
                <a:ea typeface="Courier New" pitchFamily="34" charset="-122"/>
                <a:cs typeface="Courier New" pitchFamily="34" charset="-120"/>
              </a:rPr>
              <a:t>// the call tells you nothing:</a:t>
            </a:r>
            <a:endParaRPr lang="en-US" sz="1250" dirty="0"/>
          </a:p>
          <a:p>
            <a:pPr indent="0" marL="0">
              <a:lnSpc>
                <a:spcPct val="106000"/>
              </a:lnSpc>
              <a:buNone/>
            </a:pPr>
            <a:r>
              <a:rPr lang="en-US" sz="1250" dirty="0">
                <a:solidFill>
                  <a:srgbClr val="9A92A8"/>
                </a:solidFill>
                <a:latin typeface="Courier New" pitchFamily="34" charset="0"/>
                <a:ea typeface="Courier New" pitchFamily="34" charset="-122"/>
                <a:cs typeface="Courier New" pitchFamily="34" charset="-120"/>
              </a:rPr>
              <a:t>// does it mutate? read the source.</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 </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console.log(party);</a:t>
            </a:r>
            <a:endParaRPr lang="en-US" sz="1250" dirty="0"/>
          </a:p>
          <a:p>
            <a:pPr indent="0" marL="0">
              <a:lnSpc>
                <a:spcPct val="106000"/>
              </a:lnSpc>
              <a:buNone/>
            </a:pPr>
            <a:r>
              <a:rPr lang="en-US" sz="1250" dirty="0">
                <a:solidFill>
                  <a:srgbClr val="D06060"/>
                </a:solidFill>
                <a:latin typeface="Courier New" pitchFamily="34" charset="0"/>
                <a:ea typeface="Courier New" pitchFamily="34" charset="-122"/>
                <a:cs typeface="Courier New" pitchFamily="34" charset="-120"/>
              </a:rPr>
              <a:t>// ["Ada","Bram","Cyrus"] — surprise</a:t>
            </a:r>
            <a:endParaRPr lang="en-US" sz="1250" dirty="0"/>
          </a:p>
        </p:txBody>
      </p:sp>
      <p:sp>
        <p:nvSpPr>
          <p:cNvPr id="7" name="Text 5"/>
          <p:cNvSpPr/>
          <p:nvPr/>
        </p:nvSpPr>
        <p:spPr>
          <a:xfrm>
            <a:off x="6227064" y="1481328"/>
            <a:ext cx="5413248" cy="274320"/>
          </a:xfrm>
          <a:prstGeom prst="rect">
            <a:avLst/>
          </a:prstGeom>
          <a:noFill/>
          <a:ln/>
        </p:spPr>
        <p:txBody>
          <a:bodyPr wrap="square" lIns="0" tIns="0" rIns="0" bIns="0" rtlCol="0" anchor="ctr"/>
          <a:lstStyle/>
          <a:p>
            <a:pPr algn="ctr" indent="0" marL="0">
              <a:buNone/>
            </a:pPr>
            <a:r>
              <a:rPr lang="en-US" sz="1100" b="1" spc="250" kern="0" dirty="0">
                <a:solidFill>
                  <a:srgbClr val="C9A227"/>
                </a:solidFill>
                <a:latin typeface="Calibri" pitchFamily="34" charset="0"/>
                <a:ea typeface="Calibri" pitchFamily="34" charset="-122"/>
                <a:cs typeface="Calibri" pitchFamily="34" charset="-120"/>
              </a:rPr>
              <a:t>RUST</a:t>
            </a:r>
            <a:endParaRPr lang="en-US" sz="1100" dirty="0"/>
          </a:p>
        </p:txBody>
      </p:sp>
      <p:sp>
        <p:nvSpPr>
          <p:cNvPr id="8" name="Shape 6"/>
          <p:cNvSpPr/>
          <p:nvPr/>
        </p:nvSpPr>
        <p:spPr>
          <a:xfrm>
            <a:off x="6227064" y="1792224"/>
            <a:ext cx="5413248" cy="1901952"/>
          </a:xfrm>
          <a:prstGeom prst="roundRect">
            <a:avLst>
              <a:gd name="adj" fmla="val 3365"/>
            </a:avLst>
          </a:prstGeom>
          <a:solidFill>
            <a:srgbClr val="0F0C17"/>
          </a:solidFill>
          <a:ln w="9525">
            <a:solidFill>
              <a:srgbClr val="3A3152"/>
            </a:solidFill>
            <a:prstDash val="solid"/>
          </a:ln>
        </p:spPr>
      </p:sp>
      <p:sp>
        <p:nvSpPr>
          <p:cNvPr id="9" name="Text 7"/>
          <p:cNvSpPr/>
          <p:nvPr/>
        </p:nvSpPr>
        <p:spPr>
          <a:xfrm>
            <a:off x="6446520" y="1938528"/>
            <a:ext cx="4974336" cy="1609344"/>
          </a:xfrm>
          <a:prstGeom prst="rect">
            <a:avLst/>
          </a:prstGeom>
          <a:noFill/>
          <a:ln/>
        </p:spPr>
        <p:txBody>
          <a:bodyPr wrap="square" lIns="0" tIns="0" rIns="0" bIns="0" rtlCol="0" anchor="t"/>
          <a:lstStyle/>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let mut party = vec!["Ada", "Bram"];</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 </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add_member(&amp;mut party);</a:t>
            </a:r>
            <a:endParaRPr lang="en-US" sz="1250" dirty="0"/>
          </a:p>
          <a:p>
            <a:pPr indent="0" marL="0">
              <a:lnSpc>
                <a:spcPct val="106000"/>
              </a:lnSpc>
              <a:buNone/>
            </a:pPr>
            <a:r>
              <a:rPr lang="en-US" sz="1250" dirty="0">
                <a:solidFill>
                  <a:srgbClr val="C9A227"/>
                </a:solidFill>
                <a:latin typeface="Courier New" pitchFamily="34" charset="0"/>
                <a:ea typeface="Courier New" pitchFamily="34" charset="-122"/>
                <a:cs typeface="Courier New" pitchFamily="34" charset="-120"/>
              </a:rPr>
              <a:t>// `&amp;mut` is visible at the call site</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 </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let a = vec![1, 2, 3];</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let b = a;         // `a` MOVED to b</a:t>
            </a:r>
            <a:endParaRPr lang="en-US" sz="1250" dirty="0"/>
          </a:p>
          <a:p>
            <a:pPr indent="0" marL="0">
              <a:lnSpc>
                <a:spcPct val="106000"/>
              </a:lnSpc>
              <a:buNone/>
            </a:pPr>
            <a:r>
              <a:rPr lang="en-US" sz="1250" dirty="0">
                <a:solidFill>
                  <a:srgbClr val="D06060"/>
                </a:solidFill>
                <a:latin typeface="Courier New" pitchFamily="34" charset="0"/>
                <a:ea typeface="Courier New" pitchFamily="34" charset="-122"/>
                <a:cs typeface="Courier New" pitchFamily="34" charset="-120"/>
              </a:rPr>
              <a:t>println!("{a:?}"); // compile error</a:t>
            </a:r>
            <a:endParaRPr lang="en-US" sz="1250" dirty="0"/>
          </a:p>
        </p:txBody>
      </p:sp>
      <p:sp>
        <p:nvSpPr>
          <p:cNvPr id="10" name="Shape 8"/>
          <p:cNvSpPr/>
          <p:nvPr/>
        </p:nvSpPr>
        <p:spPr>
          <a:xfrm>
            <a:off x="548640" y="3950208"/>
            <a:ext cx="5413248" cy="960120"/>
          </a:xfrm>
          <a:prstGeom prst="roundRect">
            <a:avLst>
              <a:gd name="adj" fmla="val 6667"/>
            </a:avLst>
          </a:prstGeom>
          <a:solidFill>
            <a:srgbClr val="2B2342"/>
          </a:solidFill>
          <a:ln w="9525">
            <a:solidFill>
              <a:srgbClr val="3A3152"/>
            </a:solidFill>
            <a:prstDash val="solid"/>
          </a:ln>
        </p:spPr>
      </p:sp>
      <p:sp>
        <p:nvSpPr>
          <p:cNvPr id="11" name="Text 9"/>
          <p:cNvSpPr/>
          <p:nvPr/>
        </p:nvSpPr>
        <p:spPr>
          <a:xfrm>
            <a:off x="685800" y="3950208"/>
            <a:ext cx="5138928" cy="960120"/>
          </a:xfrm>
          <a:prstGeom prst="rect">
            <a:avLst/>
          </a:prstGeom>
          <a:noFill/>
          <a:ln/>
        </p:spPr>
        <p:txBody>
          <a:bodyPr wrap="square" lIns="0" tIns="0" rIns="0" bIns="0" rtlCol="0" anchor="ctr"/>
          <a:lstStyle/>
          <a:p>
            <a:pPr algn="ctr" indent="0" marL="0">
              <a:buNone/>
            </a:pPr>
            <a:r>
              <a:rPr lang="en-US" sz="1250" dirty="0">
                <a:solidFill>
                  <a:srgbClr val="E9E2D0"/>
                </a:solidFill>
                <a:latin typeface="Calibri" pitchFamily="34" charset="0"/>
                <a:ea typeface="Calibri" pitchFamily="34" charset="-122"/>
                <a:cs typeface="Calibri" pitchFamily="34" charset="-120"/>
              </a:rPr>
              <a:t>One owner per value. When the owner</a:t>
            </a:r>
            <a:endParaRPr lang="en-US" sz="1250" dirty="0"/>
          </a:p>
          <a:p>
            <a:pPr algn="ctr" indent="0" marL="0">
              <a:buNone/>
            </a:pPr>
            <a:r>
              <a:rPr lang="en-US" sz="1250" dirty="0">
                <a:solidFill>
                  <a:srgbClr val="E9E2D0"/>
                </a:solidFill>
                <a:latin typeface="Calibri" pitchFamily="34" charset="0"/>
                <a:ea typeface="Calibri" pitchFamily="34" charset="-122"/>
                <a:cs typeface="Calibri" pitchFamily="34" charset="-120"/>
              </a:rPr>
              <a:t>goes out of scope, the value is freed.</a:t>
            </a:r>
            <a:endParaRPr lang="en-US" sz="1250" dirty="0"/>
          </a:p>
        </p:txBody>
      </p:sp>
      <p:sp>
        <p:nvSpPr>
          <p:cNvPr id="12" name="Shape 10"/>
          <p:cNvSpPr/>
          <p:nvPr/>
        </p:nvSpPr>
        <p:spPr>
          <a:xfrm>
            <a:off x="6227064" y="3950208"/>
            <a:ext cx="5413248" cy="960120"/>
          </a:xfrm>
          <a:prstGeom prst="roundRect">
            <a:avLst>
              <a:gd name="adj" fmla="val 6667"/>
            </a:avLst>
          </a:prstGeom>
          <a:solidFill>
            <a:srgbClr val="2B2342"/>
          </a:solidFill>
          <a:ln w="9525">
            <a:solidFill>
              <a:srgbClr val="3A3152"/>
            </a:solidFill>
            <a:prstDash val="solid"/>
          </a:ln>
        </p:spPr>
      </p:sp>
      <p:sp>
        <p:nvSpPr>
          <p:cNvPr id="13" name="Text 11"/>
          <p:cNvSpPr/>
          <p:nvPr/>
        </p:nvSpPr>
        <p:spPr>
          <a:xfrm>
            <a:off x="6364224" y="3950208"/>
            <a:ext cx="5138928" cy="960120"/>
          </a:xfrm>
          <a:prstGeom prst="rect">
            <a:avLst/>
          </a:prstGeom>
          <a:noFill/>
          <a:ln/>
        </p:spPr>
        <p:txBody>
          <a:bodyPr wrap="square" lIns="0" tIns="0" rIns="0" bIns="0" rtlCol="0" anchor="ctr"/>
          <a:lstStyle/>
          <a:p>
            <a:pPr algn="ctr" indent="0" marL="0">
              <a:buNone/>
            </a:pPr>
            <a:r>
              <a:rPr lang="en-US" sz="1250" dirty="0">
                <a:solidFill>
                  <a:srgbClr val="E9E2D0"/>
                </a:solidFill>
                <a:latin typeface="Calibri" pitchFamily="34" charset="0"/>
                <a:ea typeface="Calibri" pitchFamily="34" charset="-122"/>
                <a:cs typeface="Calibri" pitchFamily="34" charset="-120"/>
              </a:rPr>
              <a:t>Everyone else borrows: shared `&amp;`,</a:t>
            </a:r>
            <a:endParaRPr lang="en-US" sz="1250" dirty="0"/>
          </a:p>
          <a:p>
            <a:pPr algn="ctr" indent="0" marL="0">
              <a:buNone/>
            </a:pPr>
            <a:r>
              <a:rPr lang="en-US" sz="1250" dirty="0">
                <a:solidFill>
                  <a:srgbClr val="E9E2D0"/>
                </a:solidFill>
                <a:latin typeface="Calibri" pitchFamily="34" charset="0"/>
                <a:ea typeface="Calibri" pitchFamily="34" charset="-122"/>
                <a:cs typeface="Calibri" pitchFamily="34" charset="-120"/>
              </a:rPr>
              <a:t>or one exclusive `&amp;mut`.</a:t>
            </a:r>
            <a:endParaRPr lang="en-US" sz="1250" dirty="0"/>
          </a:p>
        </p:txBody>
      </p:sp>
      <p:sp>
        <p:nvSpPr>
          <p:cNvPr id="14" name="Text 12"/>
          <p:cNvSpPr/>
          <p:nvPr/>
        </p:nvSpPr>
        <p:spPr>
          <a:xfrm>
            <a:off x="822960" y="5257800"/>
            <a:ext cx="10543032" cy="548640"/>
          </a:xfrm>
          <a:prstGeom prst="rect">
            <a:avLst/>
          </a:prstGeom>
          <a:noFill/>
          <a:ln/>
        </p:spPr>
        <p:txBody>
          <a:bodyPr wrap="square" lIns="0" tIns="0" rIns="0" bIns="0" rtlCol="0" anchor="ctr"/>
          <a:lstStyle/>
          <a:p>
            <a:pPr algn="ctr" indent="0" marL="0">
              <a:buNone/>
            </a:pPr>
            <a:r>
              <a:rPr lang="en-US" sz="1400" i="1" dirty="0">
                <a:solidFill>
                  <a:srgbClr val="E9E2D0"/>
                </a:solidFill>
                <a:latin typeface="Calibri" pitchFamily="34" charset="0"/>
                <a:ea typeface="Calibri" pitchFamily="34" charset="-122"/>
                <a:cs typeface="Calibri" pitchFamily="34" charset="-120"/>
              </a:rPr>
              <a:t>That is the borrow checker — the whole of the hard part, and it costs you about two weeks.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NEW IDEA #2</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There is no null</a:t>
            </a:r>
            <a:endParaRPr lang="en-US" sz="3000" dirty="0"/>
          </a:p>
        </p:txBody>
      </p:sp>
      <p:sp>
        <p:nvSpPr>
          <p:cNvPr id="4" name="Text 2"/>
          <p:cNvSpPr/>
          <p:nvPr/>
        </p:nvSpPr>
        <p:spPr>
          <a:xfrm>
            <a:off x="548640" y="1481328"/>
            <a:ext cx="5413248" cy="274320"/>
          </a:xfrm>
          <a:prstGeom prst="rect">
            <a:avLst/>
          </a:prstGeom>
          <a:noFill/>
          <a:ln/>
        </p:spPr>
        <p:txBody>
          <a:bodyPr wrap="square" lIns="0" tIns="0" rIns="0" bIns="0" rtlCol="0" anchor="ctr"/>
          <a:lstStyle/>
          <a:p>
            <a:pPr algn="ctr" indent="0" marL="0">
              <a:buNone/>
            </a:pPr>
            <a:r>
              <a:rPr lang="en-US" sz="1100" b="1" spc="250" kern="0" dirty="0">
                <a:solidFill>
                  <a:srgbClr val="9A92A8"/>
                </a:solidFill>
                <a:latin typeface="Calibri" pitchFamily="34" charset="0"/>
                <a:ea typeface="Calibri" pitchFamily="34" charset="-122"/>
                <a:cs typeface="Calibri" pitchFamily="34" charset="-120"/>
              </a:rPr>
              <a:t>JAVASCRIPT</a:t>
            </a:r>
            <a:endParaRPr lang="en-US" sz="1100" dirty="0"/>
          </a:p>
        </p:txBody>
      </p:sp>
      <p:sp>
        <p:nvSpPr>
          <p:cNvPr id="5" name="Shape 3"/>
          <p:cNvSpPr/>
          <p:nvPr/>
        </p:nvSpPr>
        <p:spPr>
          <a:xfrm>
            <a:off x="548640" y="1792224"/>
            <a:ext cx="5413248" cy="1901952"/>
          </a:xfrm>
          <a:prstGeom prst="roundRect">
            <a:avLst>
              <a:gd name="adj" fmla="val 3365"/>
            </a:avLst>
          </a:prstGeom>
          <a:solidFill>
            <a:srgbClr val="0F0C17"/>
          </a:solidFill>
          <a:ln w="9525">
            <a:solidFill>
              <a:srgbClr val="3A3152"/>
            </a:solidFill>
            <a:prstDash val="solid"/>
          </a:ln>
        </p:spPr>
      </p:sp>
      <p:sp>
        <p:nvSpPr>
          <p:cNvPr id="6" name="Text 4"/>
          <p:cNvSpPr/>
          <p:nvPr/>
        </p:nvSpPr>
        <p:spPr>
          <a:xfrm>
            <a:off x="768096" y="1938528"/>
            <a:ext cx="4974336" cy="1609344"/>
          </a:xfrm>
          <a:prstGeom prst="rect">
            <a:avLst/>
          </a:prstGeom>
          <a:noFill/>
          <a:ln/>
        </p:spPr>
        <p:txBody>
          <a:bodyPr wrap="square" lIns="0" tIns="0" rIns="0" bIns="0" rtlCol="0" anchor="t"/>
          <a:lstStyle/>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const hit = party.find(</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  p =&gt; p.name === "Ada");</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 </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hit.hp -= 3;</a:t>
            </a:r>
            <a:endParaRPr lang="en-US" sz="1250" dirty="0"/>
          </a:p>
          <a:p>
            <a:pPr indent="0" marL="0">
              <a:lnSpc>
                <a:spcPct val="106000"/>
              </a:lnSpc>
              <a:buNone/>
            </a:pPr>
            <a:r>
              <a:rPr lang="en-US" sz="1250" dirty="0">
                <a:solidFill>
                  <a:srgbClr val="D06060"/>
                </a:solidFill>
                <a:latin typeface="Courier New" pitchFamily="34" charset="0"/>
                <a:ea typeface="Courier New" pitchFamily="34" charset="-122"/>
                <a:cs typeface="Courier New" pitchFamily="34" charset="-120"/>
              </a:rPr>
              <a:t>// TypeError: hit is undefined</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 </a:t>
            </a:r>
            <a:endParaRPr lang="en-US" sz="1250" dirty="0"/>
          </a:p>
          <a:p>
            <a:pPr indent="0" marL="0">
              <a:lnSpc>
                <a:spcPct val="106000"/>
              </a:lnSpc>
              <a:buNone/>
            </a:pPr>
            <a:r>
              <a:rPr lang="en-US" sz="1250" dirty="0">
                <a:solidFill>
                  <a:srgbClr val="9A92A8"/>
                </a:solidFill>
                <a:latin typeface="Courier New" pitchFamily="34" charset="0"/>
                <a:ea typeface="Courier New" pitchFamily="34" charset="-122"/>
                <a:cs typeface="Courier New" pitchFamily="34" charset="-120"/>
              </a:rPr>
              <a:t>// the bug is only a bug</a:t>
            </a:r>
            <a:endParaRPr lang="en-US" sz="1250" dirty="0"/>
          </a:p>
          <a:p>
            <a:pPr indent="0" marL="0">
              <a:lnSpc>
                <a:spcPct val="106000"/>
              </a:lnSpc>
              <a:buNone/>
            </a:pPr>
            <a:r>
              <a:rPr lang="en-US" sz="1250" dirty="0">
                <a:solidFill>
                  <a:srgbClr val="9A92A8"/>
                </a:solidFill>
                <a:latin typeface="Courier New" pitchFamily="34" charset="0"/>
                <a:ea typeface="Courier New" pitchFamily="34" charset="-122"/>
                <a:cs typeface="Courier New" pitchFamily="34" charset="-120"/>
              </a:rPr>
              <a:t>// at 2 a.m.</a:t>
            </a:r>
            <a:endParaRPr lang="en-US" sz="1250" dirty="0"/>
          </a:p>
        </p:txBody>
      </p:sp>
      <p:sp>
        <p:nvSpPr>
          <p:cNvPr id="7" name="Text 5"/>
          <p:cNvSpPr/>
          <p:nvPr/>
        </p:nvSpPr>
        <p:spPr>
          <a:xfrm>
            <a:off x="6227064" y="1481328"/>
            <a:ext cx="5413248" cy="274320"/>
          </a:xfrm>
          <a:prstGeom prst="rect">
            <a:avLst/>
          </a:prstGeom>
          <a:noFill/>
          <a:ln/>
        </p:spPr>
        <p:txBody>
          <a:bodyPr wrap="square" lIns="0" tIns="0" rIns="0" bIns="0" rtlCol="0" anchor="ctr"/>
          <a:lstStyle/>
          <a:p>
            <a:pPr algn="ctr" indent="0" marL="0">
              <a:buNone/>
            </a:pPr>
            <a:r>
              <a:rPr lang="en-US" sz="1100" b="1" spc="250" kern="0" dirty="0">
                <a:solidFill>
                  <a:srgbClr val="C9A227"/>
                </a:solidFill>
                <a:latin typeface="Calibri" pitchFamily="34" charset="0"/>
                <a:ea typeface="Calibri" pitchFamily="34" charset="-122"/>
                <a:cs typeface="Calibri" pitchFamily="34" charset="-120"/>
              </a:rPr>
              <a:t>RUST</a:t>
            </a:r>
            <a:endParaRPr lang="en-US" sz="1100" dirty="0"/>
          </a:p>
        </p:txBody>
      </p:sp>
      <p:sp>
        <p:nvSpPr>
          <p:cNvPr id="8" name="Shape 6"/>
          <p:cNvSpPr/>
          <p:nvPr/>
        </p:nvSpPr>
        <p:spPr>
          <a:xfrm>
            <a:off x="6227064" y="1792224"/>
            <a:ext cx="5413248" cy="1901952"/>
          </a:xfrm>
          <a:prstGeom prst="roundRect">
            <a:avLst>
              <a:gd name="adj" fmla="val 3365"/>
            </a:avLst>
          </a:prstGeom>
          <a:solidFill>
            <a:srgbClr val="0F0C17"/>
          </a:solidFill>
          <a:ln w="9525">
            <a:solidFill>
              <a:srgbClr val="3A3152"/>
            </a:solidFill>
            <a:prstDash val="solid"/>
          </a:ln>
        </p:spPr>
      </p:sp>
      <p:sp>
        <p:nvSpPr>
          <p:cNvPr id="9" name="Text 7"/>
          <p:cNvSpPr/>
          <p:nvPr/>
        </p:nvSpPr>
        <p:spPr>
          <a:xfrm>
            <a:off x="6446520" y="1938528"/>
            <a:ext cx="4974336" cy="1609344"/>
          </a:xfrm>
          <a:prstGeom prst="rect">
            <a:avLst/>
          </a:prstGeom>
          <a:noFill/>
          <a:ln/>
        </p:spPr>
        <p:txBody>
          <a:bodyPr wrap="square" lIns="0" tIns="0" rIns="0" bIns="0" rtlCol="0" anchor="t"/>
          <a:lstStyle/>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let hit = party.iter_mut()</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    .find(|p| p.name == "Ada");</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 </a:t>
            </a:r>
            <a:endParaRPr lang="en-US" sz="1250" dirty="0"/>
          </a:p>
          <a:p>
            <a:pPr indent="0" marL="0">
              <a:lnSpc>
                <a:spcPct val="106000"/>
              </a:lnSpc>
              <a:buNone/>
            </a:pPr>
            <a:r>
              <a:rPr lang="en-US" sz="1250" dirty="0">
                <a:solidFill>
                  <a:srgbClr val="C9A227"/>
                </a:solidFill>
                <a:latin typeface="Courier New" pitchFamily="34" charset="0"/>
                <a:ea typeface="Courier New" pitchFamily="34" charset="-122"/>
                <a:cs typeface="Courier New" pitchFamily="34" charset="-120"/>
              </a:rPr>
              <a:t>if let Some(p) = hit {</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    p.hp -= 3;</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a:t>
            </a:r>
            <a:endParaRPr lang="en-US" sz="1250" dirty="0"/>
          </a:p>
          <a:p>
            <a:pPr indent="0" marL="0">
              <a:lnSpc>
                <a:spcPct val="106000"/>
              </a:lnSpc>
              <a:buNone/>
            </a:pPr>
            <a:r>
              <a:rPr lang="en-US" sz="1250" dirty="0">
                <a:solidFill>
                  <a:srgbClr val="9A92A8"/>
                </a:solidFill>
                <a:latin typeface="Courier New" pitchFamily="34" charset="0"/>
                <a:ea typeface="Courier New" pitchFamily="34" charset="-122"/>
                <a:cs typeface="Courier New" pitchFamily="34" charset="-120"/>
              </a:rPr>
              <a:t>// you cannot reach the value</a:t>
            </a:r>
            <a:endParaRPr lang="en-US" sz="1250" dirty="0"/>
          </a:p>
          <a:p>
            <a:pPr indent="0" marL="0">
              <a:lnSpc>
                <a:spcPct val="106000"/>
              </a:lnSpc>
              <a:buNone/>
            </a:pPr>
            <a:r>
              <a:rPr lang="en-US" sz="1250" dirty="0">
                <a:solidFill>
                  <a:srgbClr val="9A92A8"/>
                </a:solidFill>
                <a:latin typeface="Courier New" pitchFamily="34" charset="0"/>
                <a:ea typeface="Courier New" pitchFamily="34" charset="-122"/>
                <a:cs typeface="Courier New" pitchFamily="34" charset="-120"/>
              </a:rPr>
              <a:t>// without handling "nothing"</a:t>
            </a:r>
            <a:endParaRPr lang="en-US" sz="1250" dirty="0"/>
          </a:p>
        </p:txBody>
      </p:sp>
      <p:sp>
        <p:nvSpPr>
          <p:cNvPr id="10" name="Shape 8"/>
          <p:cNvSpPr/>
          <p:nvPr/>
        </p:nvSpPr>
        <p:spPr>
          <a:xfrm>
            <a:off x="548640" y="4023360"/>
            <a:ext cx="11091672" cy="1005840"/>
          </a:xfrm>
          <a:prstGeom prst="roundRect">
            <a:avLst>
              <a:gd name="adj" fmla="val 6364"/>
            </a:avLst>
          </a:prstGeom>
          <a:solidFill>
            <a:srgbClr val="2B2342"/>
          </a:solidFill>
          <a:ln w="9525">
            <a:solidFill>
              <a:srgbClr val="3A3152"/>
            </a:solidFill>
            <a:prstDash val="solid"/>
          </a:ln>
        </p:spPr>
      </p:sp>
      <p:sp>
        <p:nvSpPr>
          <p:cNvPr id="11" name="Text 9"/>
          <p:cNvSpPr/>
          <p:nvPr/>
        </p:nvSpPr>
        <p:spPr>
          <a:xfrm>
            <a:off x="822960" y="4023360"/>
            <a:ext cx="10543032" cy="1005840"/>
          </a:xfrm>
          <a:prstGeom prst="rect">
            <a:avLst/>
          </a:prstGeom>
          <a:noFill/>
          <a:ln/>
        </p:spPr>
        <p:txBody>
          <a:bodyPr wrap="square" lIns="0" tIns="0" rIns="0" bIns="0" rtlCol="0" anchor="ctr"/>
          <a:lstStyle/>
          <a:p>
            <a:pPr algn="ctr" indent="0" marL="0">
              <a:buNone/>
            </a:pPr>
            <a:r>
              <a:rPr lang="en-US" sz="1300" dirty="0">
                <a:solidFill>
                  <a:srgbClr val="E9E2D0"/>
                </a:solidFill>
                <a:latin typeface="Calibri" pitchFamily="34" charset="0"/>
                <a:ea typeface="Calibri" pitchFamily="34" charset="-122"/>
                <a:cs typeface="Calibri" pitchFamily="34" charset="-120"/>
              </a:rPr>
              <a:t>Option&lt;T&gt; is an ordinary enum: Some(value) or None. There is no null and no undefined in the language —</a:t>
            </a:r>
            <a:endParaRPr lang="en-US" sz="1300" dirty="0"/>
          </a:p>
          <a:p>
            <a:pPr algn="ctr" indent="0" marL="0">
              <a:buNone/>
            </a:pPr>
            <a:r>
              <a:rPr lang="en-US" sz="1300" dirty="0">
                <a:solidFill>
                  <a:srgbClr val="E9E2D0"/>
                </a:solidFill>
                <a:latin typeface="Calibri" pitchFamily="34" charset="0"/>
                <a:ea typeface="Calibri" pitchFamily="34" charset="-122"/>
                <a:cs typeface="Calibri" pitchFamily="34" charset="-120"/>
              </a:rPr>
              <a:t>so the billion-dollar mistake is not a discipline you keep, it is a state you cannot express.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NEW IDEA #2, CONTINUED</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…and no exceptions</a:t>
            </a:r>
            <a:endParaRPr lang="en-US" sz="3000" dirty="0"/>
          </a:p>
        </p:txBody>
      </p:sp>
      <p:sp>
        <p:nvSpPr>
          <p:cNvPr id="4" name="Text 2"/>
          <p:cNvSpPr/>
          <p:nvPr/>
        </p:nvSpPr>
        <p:spPr>
          <a:xfrm>
            <a:off x="548640" y="1481328"/>
            <a:ext cx="5413248" cy="274320"/>
          </a:xfrm>
          <a:prstGeom prst="rect">
            <a:avLst/>
          </a:prstGeom>
          <a:noFill/>
          <a:ln/>
        </p:spPr>
        <p:txBody>
          <a:bodyPr wrap="square" lIns="0" tIns="0" rIns="0" bIns="0" rtlCol="0" anchor="ctr"/>
          <a:lstStyle/>
          <a:p>
            <a:pPr algn="ctr" indent="0" marL="0">
              <a:buNone/>
            </a:pPr>
            <a:r>
              <a:rPr lang="en-US" sz="1100" b="1" spc="250" kern="0" dirty="0">
                <a:solidFill>
                  <a:srgbClr val="9A92A8"/>
                </a:solidFill>
                <a:latin typeface="Calibri" pitchFamily="34" charset="0"/>
                <a:ea typeface="Calibri" pitchFamily="34" charset="-122"/>
                <a:cs typeface="Calibri" pitchFamily="34" charset="-120"/>
              </a:rPr>
              <a:t>JAVASCRIPT</a:t>
            </a:r>
            <a:endParaRPr lang="en-US" sz="1100" dirty="0"/>
          </a:p>
        </p:txBody>
      </p:sp>
      <p:sp>
        <p:nvSpPr>
          <p:cNvPr id="5" name="Shape 3"/>
          <p:cNvSpPr/>
          <p:nvPr/>
        </p:nvSpPr>
        <p:spPr>
          <a:xfrm>
            <a:off x="548640" y="1792224"/>
            <a:ext cx="5413248" cy="1901952"/>
          </a:xfrm>
          <a:prstGeom prst="roundRect">
            <a:avLst>
              <a:gd name="adj" fmla="val 3365"/>
            </a:avLst>
          </a:prstGeom>
          <a:solidFill>
            <a:srgbClr val="0F0C17"/>
          </a:solidFill>
          <a:ln w="9525">
            <a:solidFill>
              <a:srgbClr val="3A3152"/>
            </a:solidFill>
            <a:prstDash val="solid"/>
          </a:ln>
        </p:spPr>
      </p:sp>
      <p:sp>
        <p:nvSpPr>
          <p:cNvPr id="6" name="Text 4"/>
          <p:cNvSpPr/>
          <p:nvPr/>
        </p:nvSpPr>
        <p:spPr>
          <a:xfrm>
            <a:off x="768096" y="1938528"/>
            <a:ext cx="4974336" cy="1609344"/>
          </a:xfrm>
          <a:prstGeom prst="rect">
            <a:avLst/>
          </a:prstGeom>
          <a:noFill/>
          <a:ln/>
        </p:spPr>
        <p:txBody>
          <a:bodyPr wrap="square" lIns="0" tIns="0" rIns="0" bIns="0" rtlCol="0" anchor="t"/>
          <a:lstStyle/>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try {</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  const c = JSON.parse(text);</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  return compile(c);</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 catch (e) {</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  return null;</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a:t>
            </a:r>
            <a:endParaRPr lang="en-US" sz="1250" dirty="0"/>
          </a:p>
          <a:p>
            <a:pPr indent="0" marL="0">
              <a:lnSpc>
                <a:spcPct val="106000"/>
              </a:lnSpc>
              <a:buNone/>
            </a:pPr>
            <a:r>
              <a:rPr lang="en-US" sz="1250" dirty="0">
                <a:solidFill>
                  <a:srgbClr val="9A92A8"/>
                </a:solidFill>
                <a:latin typeface="Courier New" pitchFamily="34" charset="0"/>
                <a:ea typeface="Courier New" pitchFamily="34" charset="-122"/>
                <a:cs typeface="Courier New" pitchFamily="34" charset="-120"/>
              </a:rPr>
              <a:t>// which calls throw?</a:t>
            </a:r>
            <a:endParaRPr lang="en-US" sz="1250" dirty="0"/>
          </a:p>
          <a:p>
            <a:pPr indent="0" marL="0">
              <a:lnSpc>
                <a:spcPct val="106000"/>
              </a:lnSpc>
              <a:buNone/>
            </a:pPr>
            <a:r>
              <a:rPr lang="en-US" sz="1250" dirty="0">
                <a:solidFill>
                  <a:srgbClr val="9A92A8"/>
                </a:solidFill>
                <a:latin typeface="Courier New" pitchFamily="34" charset="0"/>
                <a:ea typeface="Courier New" pitchFamily="34" charset="-122"/>
                <a:cs typeface="Courier New" pitchFamily="34" charset="-120"/>
              </a:rPr>
              <a:t>// find out in production</a:t>
            </a:r>
            <a:endParaRPr lang="en-US" sz="1250" dirty="0"/>
          </a:p>
        </p:txBody>
      </p:sp>
      <p:sp>
        <p:nvSpPr>
          <p:cNvPr id="7" name="Text 5"/>
          <p:cNvSpPr/>
          <p:nvPr/>
        </p:nvSpPr>
        <p:spPr>
          <a:xfrm>
            <a:off x="6227064" y="1481328"/>
            <a:ext cx="5413248" cy="274320"/>
          </a:xfrm>
          <a:prstGeom prst="rect">
            <a:avLst/>
          </a:prstGeom>
          <a:noFill/>
          <a:ln/>
        </p:spPr>
        <p:txBody>
          <a:bodyPr wrap="square" lIns="0" tIns="0" rIns="0" bIns="0" rtlCol="0" anchor="ctr"/>
          <a:lstStyle/>
          <a:p>
            <a:pPr algn="ctr" indent="0" marL="0">
              <a:buNone/>
            </a:pPr>
            <a:r>
              <a:rPr lang="en-US" sz="1100" b="1" spc="250" kern="0" dirty="0">
                <a:solidFill>
                  <a:srgbClr val="C9A227"/>
                </a:solidFill>
                <a:latin typeface="Calibri" pitchFamily="34" charset="0"/>
                <a:ea typeface="Calibri" pitchFamily="34" charset="-122"/>
                <a:cs typeface="Calibri" pitchFamily="34" charset="-120"/>
              </a:rPr>
              <a:t>RUST</a:t>
            </a:r>
            <a:endParaRPr lang="en-US" sz="1100" dirty="0"/>
          </a:p>
        </p:txBody>
      </p:sp>
      <p:sp>
        <p:nvSpPr>
          <p:cNvPr id="8" name="Shape 6"/>
          <p:cNvSpPr/>
          <p:nvPr/>
        </p:nvSpPr>
        <p:spPr>
          <a:xfrm>
            <a:off x="6227064" y="1792224"/>
            <a:ext cx="5413248" cy="1901952"/>
          </a:xfrm>
          <a:prstGeom prst="roundRect">
            <a:avLst>
              <a:gd name="adj" fmla="val 3365"/>
            </a:avLst>
          </a:prstGeom>
          <a:solidFill>
            <a:srgbClr val="0F0C17"/>
          </a:solidFill>
          <a:ln w="9525">
            <a:solidFill>
              <a:srgbClr val="3A3152"/>
            </a:solidFill>
            <a:prstDash val="solid"/>
          </a:ln>
        </p:spPr>
      </p:sp>
      <p:sp>
        <p:nvSpPr>
          <p:cNvPr id="9" name="Text 7"/>
          <p:cNvSpPr/>
          <p:nvPr/>
        </p:nvSpPr>
        <p:spPr>
          <a:xfrm>
            <a:off x="6446520" y="1938528"/>
            <a:ext cx="4974336" cy="1609344"/>
          </a:xfrm>
          <a:prstGeom prst="rect">
            <a:avLst/>
          </a:prstGeom>
          <a:noFill/>
          <a:ln/>
        </p:spPr>
        <p:txBody>
          <a:bodyPr wrap="square" lIns="0" tIns="0" rIns="0" bIns="0" rtlCol="0" anchor="t"/>
          <a:lstStyle/>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fn load(text: &amp;str)</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  -&gt; Result&lt;Campaign, Error&gt;</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    let c =</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      serde_json::from_str(text)?;</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    compile(c)</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a:t>
            </a:r>
            <a:endParaRPr lang="en-US" sz="1250" dirty="0"/>
          </a:p>
          <a:p>
            <a:pPr indent="0" marL="0">
              <a:lnSpc>
                <a:spcPct val="106000"/>
              </a:lnSpc>
              <a:buNone/>
            </a:pPr>
            <a:r>
              <a:rPr lang="en-US" sz="1250" dirty="0">
                <a:solidFill>
                  <a:srgbClr val="C9A227"/>
                </a:solidFill>
                <a:latin typeface="Courier New" pitchFamily="34" charset="0"/>
                <a:ea typeface="Courier New" pitchFamily="34" charset="-122"/>
                <a:cs typeface="Courier New" pitchFamily="34" charset="-120"/>
              </a:rPr>
              <a:t>// `?` = failed? hand it to my caller</a:t>
            </a:r>
            <a:endParaRPr lang="en-US" sz="1250" dirty="0"/>
          </a:p>
        </p:txBody>
      </p:sp>
      <p:sp>
        <p:nvSpPr>
          <p:cNvPr id="10" name="Shape 8"/>
          <p:cNvSpPr/>
          <p:nvPr/>
        </p:nvSpPr>
        <p:spPr>
          <a:xfrm>
            <a:off x="548640" y="4023360"/>
            <a:ext cx="11091672" cy="1005840"/>
          </a:xfrm>
          <a:prstGeom prst="roundRect">
            <a:avLst>
              <a:gd name="adj" fmla="val 6364"/>
            </a:avLst>
          </a:prstGeom>
          <a:solidFill>
            <a:srgbClr val="2B2342"/>
          </a:solidFill>
          <a:ln w="9525">
            <a:solidFill>
              <a:srgbClr val="3A3152"/>
            </a:solidFill>
            <a:prstDash val="solid"/>
          </a:ln>
        </p:spPr>
      </p:sp>
      <p:sp>
        <p:nvSpPr>
          <p:cNvPr id="11" name="Text 9"/>
          <p:cNvSpPr/>
          <p:nvPr/>
        </p:nvSpPr>
        <p:spPr>
          <a:xfrm>
            <a:off x="822960" y="4023360"/>
            <a:ext cx="10543032" cy="1005840"/>
          </a:xfrm>
          <a:prstGeom prst="rect">
            <a:avLst/>
          </a:prstGeom>
          <a:noFill/>
          <a:ln/>
        </p:spPr>
        <p:txBody>
          <a:bodyPr wrap="square" lIns="0" tIns="0" rIns="0" bIns="0" rtlCol="0" anchor="ctr"/>
          <a:lstStyle/>
          <a:p>
            <a:pPr algn="ctr" indent="0" marL="0">
              <a:buNone/>
            </a:pPr>
            <a:r>
              <a:rPr lang="en-US" sz="1300" dirty="0">
                <a:solidFill>
                  <a:srgbClr val="E9E2D0"/>
                </a:solidFill>
                <a:latin typeface="Calibri" pitchFamily="34" charset="0"/>
                <a:ea typeface="Calibri" pitchFamily="34" charset="-122"/>
                <a:cs typeface="Calibri" pitchFamily="34" charset="-120"/>
              </a:rPr>
              <a:t>Result&lt;T, E&gt; is Ok(value) or Err(problem). A function that can fail says so in its signature — nothing throws</a:t>
            </a:r>
            <a:endParaRPr lang="en-US" sz="1300" dirty="0"/>
          </a:p>
          <a:p>
            <a:pPr algn="ctr" indent="0" marL="0">
              <a:buNone/>
            </a:pPr>
            <a:r>
              <a:rPr lang="en-US" sz="1300" dirty="0">
                <a:solidFill>
                  <a:srgbClr val="E9E2D0"/>
                </a:solidFill>
                <a:latin typeface="Calibri" pitchFamily="34" charset="0"/>
                <a:ea typeface="Calibri" pitchFamily="34" charset="-122"/>
                <a:cs typeface="Calibri" pitchFamily="34" charset="-120"/>
              </a:rPr>
              <a:t>at you from three layers down. And `?` reads about as lightly as `await`.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NEW IDEA #3</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Enums that carry data — and exhaustive match</a:t>
            </a:r>
            <a:endParaRPr lang="en-US" sz="3000" dirty="0"/>
          </a:p>
        </p:txBody>
      </p:sp>
      <p:sp>
        <p:nvSpPr>
          <p:cNvPr id="4" name="Text 2"/>
          <p:cNvSpPr/>
          <p:nvPr/>
        </p:nvSpPr>
        <p:spPr>
          <a:xfrm>
            <a:off x="548640" y="1417320"/>
            <a:ext cx="5413248" cy="274320"/>
          </a:xfrm>
          <a:prstGeom prst="rect">
            <a:avLst/>
          </a:prstGeom>
          <a:noFill/>
          <a:ln/>
        </p:spPr>
        <p:txBody>
          <a:bodyPr wrap="square" lIns="0" tIns="0" rIns="0" bIns="0" rtlCol="0" anchor="ctr"/>
          <a:lstStyle/>
          <a:p>
            <a:pPr algn="ctr" indent="0" marL="0">
              <a:buNone/>
            </a:pPr>
            <a:r>
              <a:rPr lang="en-US" sz="1100" b="1" spc="250" kern="0" dirty="0">
                <a:solidFill>
                  <a:srgbClr val="9A92A8"/>
                </a:solidFill>
                <a:latin typeface="Calibri" pitchFamily="34" charset="0"/>
                <a:ea typeface="Calibri" pitchFamily="34" charset="-122"/>
                <a:cs typeface="Calibri" pitchFamily="34" charset="-120"/>
              </a:rPr>
              <a:t>TYPESCRIPT</a:t>
            </a:r>
            <a:endParaRPr lang="en-US" sz="1100" dirty="0"/>
          </a:p>
        </p:txBody>
      </p:sp>
      <p:sp>
        <p:nvSpPr>
          <p:cNvPr id="5" name="Shape 3"/>
          <p:cNvSpPr/>
          <p:nvPr/>
        </p:nvSpPr>
        <p:spPr>
          <a:xfrm>
            <a:off x="548640" y="1728216"/>
            <a:ext cx="5413248" cy="2231136"/>
          </a:xfrm>
          <a:prstGeom prst="roundRect">
            <a:avLst>
              <a:gd name="adj" fmla="val 2869"/>
            </a:avLst>
          </a:prstGeom>
          <a:solidFill>
            <a:srgbClr val="0F0C17"/>
          </a:solidFill>
          <a:ln w="9525">
            <a:solidFill>
              <a:srgbClr val="3A3152"/>
            </a:solidFill>
            <a:prstDash val="solid"/>
          </a:ln>
        </p:spPr>
      </p:sp>
      <p:sp>
        <p:nvSpPr>
          <p:cNvPr id="6" name="Text 4"/>
          <p:cNvSpPr/>
          <p:nvPr/>
        </p:nvSpPr>
        <p:spPr>
          <a:xfrm>
            <a:off x="768096" y="1874520"/>
            <a:ext cx="4974336" cy="1938528"/>
          </a:xfrm>
          <a:prstGeom prst="rect">
            <a:avLst/>
          </a:prstGeom>
          <a:noFill/>
          <a:ln/>
        </p:spPr>
        <p:txBody>
          <a:bodyPr wrap="square" lIns="0" tIns="0" rIns="0" bIns="0" rtlCol="0" anchor="t"/>
          <a:lstStyle/>
          <a:p>
            <a:pPr indent="0" marL="0">
              <a:lnSpc>
                <a:spcPct val="106000"/>
              </a:lnSpc>
              <a:buNone/>
            </a:pPr>
            <a:r>
              <a:rPr lang="en-US" sz="1100" dirty="0">
                <a:solidFill>
                  <a:srgbClr val="E9E2D0"/>
                </a:solidFill>
                <a:latin typeface="Courier New" pitchFamily="34" charset="0"/>
                <a:ea typeface="Courier New" pitchFamily="34" charset="-122"/>
                <a:cs typeface="Courier New" pitchFamily="34" charset="-120"/>
              </a:rPr>
              <a:t>type Effect =</a:t>
            </a:r>
            <a:endParaRPr lang="en-US" sz="1100" dirty="0"/>
          </a:p>
          <a:p>
            <a:pPr indent="0" marL="0">
              <a:lnSpc>
                <a:spcPct val="106000"/>
              </a:lnSpc>
              <a:buNone/>
            </a:pPr>
            <a:r>
              <a:rPr lang="en-US" sz="1100" dirty="0">
                <a:solidFill>
                  <a:srgbClr val="E9E2D0"/>
                </a:solidFill>
                <a:latin typeface="Courier New" pitchFamily="34" charset="0"/>
                <a:ea typeface="Courier New" pitchFamily="34" charset="-122"/>
                <a:cs typeface="Courier New" pitchFamily="34" charset="-120"/>
              </a:rPr>
              <a:t>  | { kind: "damage"; amount: number }</a:t>
            </a:r>
            <a:endParaRPr lang="en-US" sz="1100" dirty="0"/>
          </a:p>
          <a:p>
            <a:pPr indent="0" marL="0">
              <a:lnSpc>
                <a:spcPct val="106000"/>
              </a:lnSpc>
              <a:buNone/>
            </a:pPr>
            <a:r>
              <a:rPr lang="en-US" sz="1100" dirty="0">
                <a:solidFill>
                  <a:srgbClr val="E9E2D0"/>
                </a:solidFill>
                <a:latin typeface="Courier New" pitchFamily="34" charset="0"/>
                <a:ea typeface="Courier New" pitchFamily="34" charset="-122"/>
                <a:cs typeface="Courier New" pitchFamily="34" charset="-120"/>
              </a:rPr>
              <a:t>  | { kind: "heal";   amount: number }</a:t>
            </a:r>
            <a:endParaRPr lang="en-US" sz="1100" dirty="0"/>
          </a:p>
          <a:p>
            <a:pPr indent="0" marL="0">
              <a:lnSpc>
                <a:spcPct val="106000"/>
              </a:lnSpc>
              <a:buNone/>
            </a:pPr>
            <a:r>
              <a:rPr lang="en-US" sz="1100" dirty="0">
                <a:solidFill>
                  <a:srgbClr val="E9E2D0"/>
                </a:solidFill>
                <a:latin typeface="Courier New" pitchFamily="34" charset="0"/>
                <a:ea typeface="Courier New" pitchFamily="34" charset="-122"/>
                <a:cs typeface="Courier New" pitchFamily="34" charset="-120"/>
              </a:rPr>
              <a:t>  | { kind: "cue";    line: string };</a:t>
            </a:r>
            <a:endParaRPr lang="en-US" sz="1100" dirty="0"/>
          </a:p>
          <a:p>
            <a:pPr indent="0" marL="0">
              <a:lnSpc>
                <a:spcPct val="106000"/>
              </a:lnSpc>
              <a:buNone/>
            </a:pPr>
            <a:r>
              <a:rPr lang="en-US" sz="1100" dirty="0">
                <a:solidFill>
                  <a:srgbClr val="E9E2D0"/>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E9E2D0"/>
                </a:solidFill>
                <a:latin typeface="Courier New" pitchFamily="34" charset="0"/>
                <a:ea typeface="Courier New" pitchFamily="34" charset="-122"/>
                <a:cs typeface="Courier New" pitchFamily="34" charset="-120"/>
              </a:rPr>
              <a:t>switch (effect.kind) {</a:t>
            </a:r>
            <a:endParaRPr lang="en-US" sz="1100" dirty="0"/>
          </a:p>
          <a:p>
            <a:pPr indent="0" marL="0">
              <a:lnSpc>
                <a:spcPct val="106000"/>
              </a:lnSpc>
              <a:buNone/>
            </a:pPr>
            <a:r>
              <a:rPr lang="en-US" sz="1100" dirty="0">
                <a:solidFill>
                  <a:srgbClr val="E9E2D0"/>
                </a:solidFill>
                <a:latin typeface="Courier New" pitchFamily="34" charset="0"/>
                <a:ea typeface="Courier New" pitchFamily="34" charset="-122"/>
                <a:cs typeface="Courier New" pitchFamily="34" charset="-120"/>
              </a:rPr>
              <a:t>  case "damage": applyDamage(e); break;</a:t>
            </a:r>
            <a:endParaRPr lang="en-US" sz="1100" dirty="0"/>
          </a:p>
          <a:p>
            <a:pPr indent="0" marL="0">
              <a:lnSpc>
                <a:spcPct val="106000"/>
              </a:lnSpc>
              <a:buNone/>
            </a:pPr>
            <a:r>
              <a:rPr lang="en-US" sz="1100" dirty="0">
                <a:solidFill>
                  <a:srgbClr val="E9E2D0"/>
                </a:solidFill>
                <a:latin typeface="Courier New" pitchFamily="34" charset="0"/>
                <a:ea typeface="Courier New" pitchFamily="34" charset="-122"/>
                <a:cs typeface="Courier New" pitchFamily="34" charset="-120"/>
              </a:rPr>
              <a:t>  case "heal":   applyHeal(e);   break;</a:t>
            </a:r>
            <a:endParaRPr lang="en-US" sz="1100" dirty="0"/>
          </a:p>
          <a:p>
            <a:pPr indent="0" marL="0">
              <a:lnSpc>
                <a:spcPct val="106000"/>
              </a:lnSpc>
              <a:buNone/>
            </a:pPr>
            <a:r>
              <a:rPr lang="en-US" sz="1100" dirty="0">
                <a:solidFill>
                  <a:srgbClr val="9A92A8"/>
                </a:solidFill>
                <a:latin typeface="Courier New" pitchFamily="34" charset="0"/>
                <a:ea typeface="Courier New" pitchFamily="34" charset="-122"/>
                <a:cs typeface="Courier New" pitchFamily="34" charset="-120"/>
              </a:rPr>
              <a:t>  // forgot "cue" — compiles fine,</a:t>
            </a:r>
            <a:endParaRPr lang="en-US" sz="1100" dirty="0"/>
          </a:p>
          <a:p>
            <a:pPr indent="0" marL="0">
              <a:lnSpc>
                <a:spcPct val="106000"/>
              </a:lnSpc>
              <a:buNone/>
            </a:pPr>
            <a:r>
              <a:rPr lang="en-US" sz="1100" dirty="0">
                <a:solidFill>
                  <a:srgbClr val="D06060"/>
                </a:solidFill>
                <a:latin typeface="Courier New" pitchFamily="34" charset="0"/>
                <a:ea typeface="Courier New" pitchFamily="34" charset="-122"/>
                <a:cs typeface="Courier New" pitchFamily="34" charset="-120"/>
              </a:rPr>
              <a:t>  // silently does nothing</a:t>
            </a:r>
            <a:endParaRPr lang="en-US" sz="1100" dirty="0"/>
          </a:p>
          <a:p>
            <a:pPr indent="0" marL="0">
              <a:lnSpc>
                <a:spcPct val="106000"/>
              </a:lnSpc>
              <a:buNone/>
            </a:pPr>
            <a:r>
              <a:rPr lang="en-US" sz="1100" dirty="0">
                <a:solidFill>
                  <a:srgbClr val="E9E2D0"/>
                </a:solidFill>
                <a:latin typeface="Courier New" pitchFamily="34" charset="0"/>
                <a:ea typeface="Courier New" pitchFamily="34" charset="-122"/>
                <a:cs typeface="Courier New" pitchFamily="34" charset="-120"/>
              </a:rPr>
              <a:t>}</a:t>
            </a:r>
            <a:endParaRPr lang="en-US" sz="1100" dirty="0"/>
          </a:p>
        </p:txBody>
      </p:sp>
      <p:sp>
        <p:nvSpPr>
          <p:cNvPr id="7" name="Text 5"/>
          <p:cNvSpPr/>
          <p:nvPr/>
        </p:nvSpPr>
        <p:spPr>
          <a:xfrm>
            <a:off x="6227064" y="1417320"/>
            <a:ext cx="5413248" cy="274320"/>
          </a:xfrm>
          <a:prstGeom prst="rect">
            <a:avLst/>
          </a:prstGeom>
          <a:noFill/>
          <a:ln/>
        </p:spPr>
        <p:txBody>
          <a:bodyPr wrap="square" lIns="0" tIns="0" rIns="0" bIns="0" rtlCol="0" anchor="ctr"/>
          <a:lstStyle/>
          <a:p>
            <a:pPr algn="ctr" indent="0" marL="0">
              <a:buNone/>
            </a:pPr>
            <a:r>
              <a:rPr lang="en-US" sz="1100" b="1" spc="250" kern="0" dirty="0">
                <a:solidFill>
                  <a:srgbClr val="C9A227"/>
                </a:solidFill>
                <a:latin typeface="Calibri" pitchFamily="34" charset="0"/>
                <a:ea typeface="Calibri" pitchFamily="34" charset="-122"/>
                <a:cs typeface="Calibri" pitchFamily="34" charset="-120"/>
              </a:rPr>
              <a:t>RUST</a:t>
            </a:r>
            <a:endParaRPr lang="en-US" sz="1100" dirty="0"/>
          </a:p>
        </p:txBody>
      </p:sp>
      <p:sp>
        <p:nvSpPr>
          <p:cNvPr id="8" name="Shape 6"/>
          <p:cNvSpPr/>
          <p:nvPr/>
        </p:nvSpPr>
        <p:spPr>
          <a:xfrm>
            <a:off x="6227064" y="1728216"/>
            <a:ext cx="5413248" cy="2231136"/>
          </a:xfrm>
          <a:prstGeom prst="roundRect">
            <a:avLst>
              <a:gd name="adj" fmla="val 2869"/>
            </a:avLst>
          </a:prstGeom>
          <a:solidFill>
            <a:srgbClr val="0F0C17"/>
          </a:solidFill>
          <a:ln w="9525">
            <a:solidFill>
              <a:srgbClr val="3A3152"/>
            </a:solidFill>
            <a:prstDash val="solid"/>
          </a:ln>
        </p:spPr>
      </p:sp>
      <p:sp>
        <p:nvSpPr>
          <p:cNvPr id="9" name="Text 7"/>
          <p:cNvSpPr/>
          <p:nvPr/>
        </p:nvSpPr>
        <p:spPr>
          <a:xfrm>
            <a:off x="6446520" y="1874520"/>
            <a:ext cx="4974336" cy="1938528"/>
          </a:xfrm>
          <a:prstGeom prst="rect">
            <a:avLst/>
          </a:prstGeom>
          <a:noFill/>
          <a:ln/>
        </p:spPr>
        <p:txBody>
          <a:bodyPr wrap="square" lIns="0" tIns="0" rIns="0" bIns="0" rtlCol="0" anchor="t"/>
          <a:lstStyle/>
          <a:p>
            <a:pPr indent="0" marL="0">
              <a:lnSpc>
                <a:spcPct val="106000"/>
              </a:lnSpc>
              <a:buNone/>
            </a:pPr>
            <a:r>
              <a:rPr lang="en-US" sz="1100" dirty="0">
                <a:solidFill>
                  <a:srgbClr val="E9E2D0"/>
                </a:solidFill>
                <a:latin typeface="Courier New" pitchFamily="34" charset="0"/>
                <a:ea typeface="Courier New" pitchFamily="34" charset="-122"/>
                <a:cs typeface="Courier New" pitchFamily="34" charset="-120"/>
              </a:rPr>
              <a:t>enum Effect {</a:t>
            </a:r>
            <a:endParaRPr lang="en-US" sz="1100" dirty="0"/>
          </a:p>
          <a:p>
            <a:pPr indent="0" marL="0">
              <a:lnSpc>
                <a:spcPct val="106000"/>
              </a:lnSpc>
              <a:buNone/>
            </a:pPr>
            <a:r>
              <a:rPr lang="en-US" sz="1100" dirty="0">
                <a:solidFill>
                  <a:srgbClr val="E9E2D0"/>
                </a:solidFill>
                <a:latin typeface="Courier New" pitchFamily="34" charset="0"/>
                <a:ea typeface="Courier New" pitchFamily="34" charset="-122"/>
                <a:cs typeface="Courier New" pitchFamily="34" charset="-120"/>
              </a:rPr>
              <a:t>    Damage { target: String, amount: u32 },</a:t>
            </a:r>
            <a:endParaRPr lang="en-US" sz="1100" dirty="0"/>
          </a:p>
          <a:p>
            <a:pPr indent="0" marL="0">
              <a:lnSpc>
                <a:spcPct val="106000"/>
              </a:lnSpc>
              <a:buNone/>
            </a:pPr>
            <a:r>
              <a:rPr lang="en-US" sz="1100" dirty="0">
                <a:solidFill>
                  <a:srgbClr val="E9E2D0"/>
                </a:solidFill>
                <a:latin typeface="Courier New" pitchFamily="34" charset="0"/>
                <a:ea typeface="Courier New" pitchFamily="34" charset="-122"/>
                <a:cs typeface="Courier New" pitchFamily="34" charset="-120"/>
              </a:rPr>
              <a:t>    Heal   { target: String, amount: u32 },</a:t>
            </a:r>
            <a:endParaRPr lang="en-US" sz="1100" dirty="0"/>
          </a:p>
          <a:p>
            <a:pPr indent="0" marL="0">
              <a:lnSpc>
                <a:spcPct val="106000"/>
              </a:lnSpc>
              <a:buNone/>
            </a:pPr>
            <a:r>
              <a:rPr lang="en-US" sz="1100" dirty="0">
                <a:solidFill>
                  <a:srgbClr val="E9E2D0"/>
                </a:solidFill>
                <a:latin typeface="Courier New" pitchFamily="34" charset="0"/>
                <a:ea typeface="Courier New" pitchFamily="34" charset="-122"/>
                <a:cs typeface="Courier New" pitchFamily="34" charset="-120"/>
              </a:rPr>
              <a:t>    Cue(String),</a:t>
            </a:r>
            <a:endParaRPr lang="en-US" sz="1100" dirty="0"/>
          </a:p>
          <a:p>
            <a:pPr indent="0" marL="0">
              <a:lnSpc>
                <a:spcPct val="106000"/>
              </a:lnSpc>
              <a:buNone/>
            </a:pPr>
            <a:r>
              <a:rPr lang="en-US" sz="1100" dirty="0">
                <a:solidFill>
                  <a:srgbClr val="E9E2D0"/>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9E2D0"/>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E9E2D0"/>
                </a:solidFill>
                <a:latin typeface="Courier New" pitchFamily="34" charset="0"/>
                <a:ea typeface="Courier New" pitchFamily="34" charset="-122"/>
                <a:cs typeface="Courier New" pitchFamily="34" charset="-120"/>
              </a:rPr>
              <a:t>match effect {</a:t>
            </a:r>
            <a:endParaRPr lang="en-US" sz="1100" dirty="0"/>
          </a:p>
          <a:p>
            <a:pPr indent="0" marL="0">
              <a:lnSpc>
                <a:spcPct val="106000"/>
              </a:lnSpc>
              <a:buNone/>
            </a:pPr>
            <a:r>
              <a:rPr lang="en-US" sz="1100" dirty="0">
                <a:solidFill>
                  <a:srgbClr val="E9E2D0"/>
                </a:solidFill>
                <a:latin typeface="Courier New" pitchFamily="34" charset="0"/>
                <a:ea typeface="Courier New" pitchFamily="34" charset="-122"/>
                <a:cs typeface="Courier New" pitchFamily="34" charset="-120"/>
              </a:rPr>
              <a:t>    Effect::Damage { .. } =&gt; damage(),</a:t>
            </a:r>
            <a:endParaRPr lang="en-US" sz="1100" dirty="0"/>
          </a:p>
          <a:p>
            <a:pPr indent="0" marL="0">
              <a:lnSpc>
                <a:spcPct val="106000"/>
              </a:lnSpc>
              <a:buNone/>
            </a:pPr>
            <a:r>
              <a:rPr lang="en-US" sz="1100" dirty="0">
                <a:solidFill>
                  <a:srgbClr val="E9E2D0"/>
                </a:solidFill>
                <a:latin typeface="Courier New" pitchFamily="34" charset="0"/>
                <a:ea typeface="Courier New" pitchFamily="34" charset="-122"/>
                <a:cs typeface="Courier New" pitchFamily="34" charset="-120"/>
              </a:rPr>
              <a:t>    Effect::Heal   { .. } =&gt; heal(),</a:t>
            </a:r>
            <a:endParaRPr lang="en-US" sz="1100" dirty="0"/>
          </a:p>
          <a:p>
            <a:pPr indent="0" marL="0">
              <a:lnSpc>
                <a:spcPct val="106000"/>
              </a:lnSpc>
              <a:buNone/>
            </a:pPr>
            <a:r>
              <a:rPr lang="en-US" sz="1100" dirty="0">
                <a:solidFill>
                  <a:srgbClr val="D06060"/>
                </a:solidFill>
                <a:latin typeface="Courier New" pitchFamily="34" charset="0"/>
                <a:ea typeface="Courier New" pitchFamily="34" charset="-122"/>
                <a:cs typeface="Courier New" pitchFamily="34" charset="-120"/>
              </a:rPr>
              <a:t>    // forget Cue and the BUILD FAILS</a:t>
            </a:r>
            <a:endParaRPr lang="en-US" sz="1100" dirty="0"/>
          </a:p>
          <a:p>
            <a:pPr indent="0" marL="0">
              <a:lnSpc>
                <a:spcPct val="106000"/>
              </a:lnSpc>
              <a:buNone/>
            </a:pPr>
            <a:r>
              <a:rPr lang="en-US" sz="1100" dirty="0">
                <a:solidFill>
                  <a:srgbClr val="E9E2D0"/>
                </a:solidFill>
                <a:latin typeface="Courier New" pitchFamily="34" charset="0"/>
                <a:ea typeface="Courier New" pitchFamily="34" charset="-122"/>
                <a:cs typeface="Courier New" pitchFamily="34" charset="-120"/>
              </a:rPr>
              <a:t>}</a:t>
            </a:r>
            <a:endParaRPr lang="en-US" sz="1100" dirty="0"/>
          </a:p>
        </p:txBody>
      </p:sp>
      <p:sp>
        <p:nvSpPr>
          <p:cNvPr id="10" name="Text 8"/>
          <p:cNvSpPr/>
          <p:nvPr/>
        </p:nvSpPr>
        <p:spPr>
          <a:xfrm>
            <a:off x="822960" y="4224528"/>
            <a:ext cx="10543032" cy="548640"/>
          </a:xfrm>
          <a:prstGeom prst="rect">
            <a:avLst/>
          </a:prstGeom>
          <a:noFill/>
          <a:ln/>
        </p:spPr>
        <p:txBody>
          <a:bodyPr wrap="square" lIns="0" tIns="0" rIns="0" bIns="0" rtlCol="0" anchor="ctr"/>
          <a:lstStyle/>
          <a:p>
            <a:pPr algn="ctr" indent="0" marL="0">
              <a:buNone/>
            </a:pPr>
            <a:r>
              <a:rPr lang="en-US" sz="1600" i="1" dirty="0">
                <a:solidFill>
                  <a:srgbClr val="E9E2D0"/>
                </a:solidFill>
                <a:latin typeface="Calibri" pitchFamily="34" charset="0"/>
                <a:ea typeface="Calibri" pitchFamily="34" charset="-122"/>
                <a:cs typeface="Calibri" pitchFamily="34" charset="-120"/>
              </a:rPr>
              <a:t>match is exhaustive — handle every variant, or the build fails.</a:t>
            </a:r>
            <a:endParaRPr lang="en-US" sz="1600" dirty="0"/>
          </a:p>
        </p:txBody>
      </p:sp>
      <p:sp>
        <p:nvSpPr>
          <p:cNvPr id="11" name="Text 9"/>
          <p:cNvSpPr/>
          <p:nvPr/>
        </p:nvSpPr>
        <p:spPr>
          <a:xfrm>
            <a:off x="822960" y="4800600"/>
            <a:ext cx="10543032" cy="548640"/>
          </a:xfrm>
          <a:prstGeom prst="rect">
            <a:avLst/>
          </a:prstGeom>
          <a:noFill/>
          <a:ln/>
        </p:spPr>
        <p:txBody>
          <a:bodyPr wrap="square" lIns="0" tIns="0" rIns="0" bIns="0" rtlCol="0" anchor="ctr"/>
          <a:lstStyle/>
          <a:p>
            <a:pPr algn="ctr" indent="0" marL="0">
              <a:buNone/>
            </a:pPr>
            <a:r>
              <a:rPr lang="en-US" sz="1300" i="1" dirty="0">
                <a:solidFill>
                  <a:srgbClr val="9A92A8"/>
                </a:solidFill>
                <a:latin typeface="Calibri" pitchFamily="34" charset="0"/>
                <a:ea typeface="Calibri" pitchFamily="34" charset="-122"/>
                <a:cs typeface="Calibri" pitchFamily="34" charset="-120"/>
              </a:rPr>
              <a:t>Add one next year and the compiler hands you a to-do list of every place that must handle it — before you run anything.</a:t>
            </a:r>
            <a:endParaRPr lang="en-US" sz="1300" dirty="0"/>
          </a:p>
          <a:p>
            <a:pPr algn="ctr" indent="0" marL="0">
              <a:buNone/>
            </a:pPr>
            <a:r>
              <a:rPr lang="en-US" sz="1300" i="1" dirty="0">
                <a:solidFill>
                  <a:srgbClr val="9A92A8"/>
                </a:solidFill>
                <a:latin typeface="Calibri" pitchFamily="34" charset="0"/>
                <a:ea typeface="Calibri" pitchFamily="34" charset="-122"/>
                <a:cs typeface="Calibri" pitchFamily="34" charset="-120"/>
              </a:rPr>
              <a:t>That is the real effect type from this engine, and the command set is the same shape.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FAMILIAR, WITH AN UPGRADE</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Traits are interfaces you can add later</a:t>
            </a:r>
            <a:endParaRPr lang="en-US" sz="3000" dirty="0"/>
          </a:p>
        </p:txBody>
      </p:sp>
      <p:sp>
        <p:nvSpPr>
          <p:cNvPr id="4" name="Text 2"/>
          <p:cNvSpPr/>
          <p:nvPr/>
        </p:nvSpPr>
        <p:spPr>
          <a:xfrm>
            <a:off x="548640" y="1481328"/>
            <a:ext cx="5413248" cy="274320"/>
          </a:xfrm>
          <a:prstGeom prst="rect">
            <a:avLst/>
          </a:prstGeom>
          <a:noFill/>
          <a:ln/>
        </p:spPr>
        <p:txBody>
          <a:bodyPr wrap="square" lIns="0" tIns="0" rIns="0" bIns="0" rtlCol="0" anchor="ctr"/>
          <a:lstStyle/>
          <a:p>
            <a:pPr algn="ctr" indent="0" marL="0">
              <a:buNone/>
            </a:pPr>
            <a:r>
              <a:rPr lang="en-US" sz="1100" b="1" spc="250" kern="0" dirty="0">
                <a:solidFill>
                  <a:srgbClr val="9A92A8"/>
                </a:solidFill>
                <a:latin typeface="Calibri" pitchFamily="34" charset="0"/>
                <a:ea typeface="Calibri" pitchFamily="34" charset="-122"/>
                <a:cs typeface="Calibri" pitchFamily="34" charset="-120"/>
              </a:rPr>
              <a:t>TYPESCRIPT</a:t>
            </a:r>
            <a:endParaRPr lang="en-US" sz="1100" dirty="0"/>
          </a:p>
        </p:txBody>
      </p:sp>
      <p:sp>
        <p:nvSpPr>
          <p:cNvPr id="5" name="Shape 3"/>
          <p:cNvSpPr/>
          <p:nvPr/>
        </p:nvSpPr>
        <p:spPr>
          <a:xfrm>
            <a:off x="548640" y="1792224"/>
            <a:ext cx="5413248" cy="1901952"/>
          </a:xfrm>
          <a:prstGeom prst="roundRect">
            <a:avLst>
              <a:gd name="adj" fmla="val 3365"/>
            </a:avLst>
          </a:prstGeom>
          <a:solidFill>
            <a:srgbClr val="0F0C17"/>
          </a:solidFill>
          <a:ln w="9525">
            <a:solidFill>
              <a:srgbClr val="3A3152"/>
            </a:solidFill>
            <a:prstDash val="solid"/>
          </a:ln>
        </p:spPr>
      </p:sp>
      <p:sp>
        <p:nvSpPr>
          <p:cNvPr id="6" name="Text 4"/>
          <p:cNvSpPr/>
          <p:nvPr/>
        </p:nvSpPr>
        <p:spPr>
          <a:xfrm>
            <a:off x="768096" y="1938528"/>
            <a:ext cx="4974336" cy="1609344"/>
          </a:xfrm>
          <a:prstGeom prst="rect">
            <a:avLst/>
          </a:prstGeom>
          <a:noFill/>
          <a:ln/>
        </p:spPr>
        <p:txBody>
          <a:bodyPr wrap="square" lIns="0" tIns="0" rIns="0" bIns="0" rtlCol="0" anchor="t"/>
          <a:lstStyle/>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interface Combatant {</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  attack(target: Target): void</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 </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class Mob implements Combatant {</a:t>
            </a:r>
            <a:endParaRPr lang="en-US" sz="1250" dirty="0"/>
          </a:p>
          <a:p>
            <a:pPr indent="0" marL="0">
              <a:lnSpc>
                <a:spcPct val="106000"/>
              </a:lnSpc>
              <a:buNone/>
            </a:pPr>
            <a:r>
              <a:rPr lang="en-US" sz="1250" dirty="0">
                <a:solidFill>
                  <a:srgbClr val="9A92A8"/>
                </a:solidFill>
                <a:latin typeface="Courier New" pitchFamily="34" charset="0"/>
                <a:ea typeface="Courier New" pitchFamily="34" charset="-122"/>
                <a:cs typeface="Courier New" pitchFamily="34" charset="-120"/>
              </a:rPr>
              <a:t>  // must be declared at the class</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  attack(target: Target) { /* ... */ }</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a:t>
            </a:r>
            <a:endParaRPr lang="en-US" sz="1250" dirty="0"/>
          </a:p>
        </p:txBody>
      </p:sp>
      <p:sp>
        <p:nvSpPr>
          <p:cNvPr id="7" name="Text 5"/>
          <p:cNvSpPr/>
          <p:nvPr/>
        </p:nvSpPr>
        <p:spPr>
          <a:xfrm>
            <a:off x="6227064" y="1481328"/>
            <a:ext cx="5413248" cy="274320"/>
          </a:xfrm>
          <a:prstGeom prst="rect">
            <a:avLst/>
          </a:prstGeom>
          <a:noFill/>
          <a:ln/>
        </p:spPr>
        <p:txBody>
          <a:bodyPr wrap="square" lIns="0" tIns="0" rIns="0" bIns="0" rtlCol="0" anchor="ctr"/>
          <a:lstStyle/>
          <a:p>
            <a:pPr algn="ctr" indent="0" marL="0">
              <a:buNone/>
            </a:pPr>
            <a:r>
              <a:rPr lang="en-US" sz="1100" b="1" spc="250" kern="0" dirty="0">
                <a:solidFill>
                  <a:srgbClr val="C9A227"/>
                </a:solidFill>
                <a:latin typeface="Calibri" pitchFamily="34" charset="0"/>
                <a:ea typeface="Calibri" pitchFamily="34" charset="-122"/>
                <a:cs typeface="Calibri" pitchFamily="34" charset="-120"/>
              </a:rPr>
              <a:t>RUST</a:t>
            </a:r>
            <a:endParaRPr lang="en-US" sz="1100" dirty="0"/>
          </a:p>
        </p:txBody>
      </p:sp>
      <p:sp>
        <p:nvSpPr>
          <p:cNvPr id="8" name="Shape 6"/>
          <p:cNvSpPr/>
          <p:nvPr/>
        </p:nvSpPr>
        <p:spPr>
          <a:xfrm>
            <a:off x="6227064" y="1792224"/>
            <a:ext cx="5413248" cy="1901952"/>
          </a:xfrm>
          <a:prstGeom prst="roundRect">
            <a:avLst>
              <a:gd name="adj" fmla="val 3365"/>
            </a:avLst>
          </a:prstGeom>
          <a:solidFill>
            <a:srgbClr val="0F0C17"/>
          </a:solidFill>
          <a:ln w="9525">
            <a:solidFill>
              <a:srgbClr val="3A3152"/>
            </a:solidFill>
            <a:prstDash val="solid"/>
          </a:ln>
        </p:spPr>
      </p:sp>
      <p:sp>
        <p:nvSpPr>
          <p:cNvPr id="9" name="Text 7"/>
          <p:cNvSpPr/>
          <p:nvPr/>
        </p:nvSpPr>
        <p:spPr>
          <a:xfrm>
            <a:off x="6446520" y="1938528"/>
            <a:ext cx="4974336" cy="1609344"/>
          </a:xfrm>
          <a:prstGeom prst="rect">
            <a:avLst/>
          </a:prstGeom>
          <a:noFill/>
          <a:ln/>
        </p:spPr>
        <p:txBody>
          <a:bodyPr wrap="square" lIns="0" tIns="0" rIns="0" bIns="0" rtlCol="0" anchor="t"/>
          <a:lstStyle/>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trait Combatant {</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    fn attack(&amp;self, t: &amp;mut Target);</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 </a:t>
            </a:r>
            <a:endParaRPr lang="en-US" sz="1250" dirty="0"/>
          </a:p>
          <a:p>
            <a:pPr indent="0" marL="0">
              <a:lnSpc>
                <a:spcPct val="106000"/>
              </a:lnSpc>
              <a:buNone/>
            </a:pPr>
            <a:r>
              <a:rPr lang="en-US" sz="1250" dirty="0">
                <a:solidFill>
                  <a:srgbClr val="C9A227"/>
                </a:solidFill>
                <a:latin typeface="Courier New" pitchFamily="34" charset="0"/>
                <a:ea typeface="Courier New" pitchFamily="34" charset="-122"/>
                <a:cs typeface="Courier New" pitchFamily="34" charset="-120"/>
              </a:rPr>
              <a:t>// written apart from the type</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impl Combatant for Mob {</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    fn attack(&amp;self, t: &amp;mut Target) { }</a:t>
            </a:r>
            <a:endParaRPr lang="en-US" sz="1250" dirty="0"/>
          </a:p>
          <a:p>
            <a:pPr indent="0" marL="0">
              <a:lnSpc>
                <a:spcPct val="106000"/>
              </a:lnSpc>
              <a:buNone/>
            </a:pPr>
            <a:r>
              <a:rPr lang="en-US" sz="1250" dirty="0">
                <a:solidFill>
                  <a:srgbClr val="E9E2D0"/>
                </a:solidFill>
                <a:latin typeface="Courier New" pitchFamily="34" charset="0"/>
                <a:ea typeface="Courier New" pitchFamily="34" charset="-122"/>
                <a:cs typeface="Courier New" pitchFamily="34" charset="-120"/>
              </a:rPr>
              <a:t>}</a:t>
            </a:r>
            <a:endParaRPr lang="en-US" sz="1250" dirty="0"/>
          </a:p>
        </p:txBody>
      </p:sp>
      <p:sp>
        <p:nvSpPr>
          <p:cNvPr id="10" name="Shape 8"/>
          <p:cNvSpPr/>
          <p:nvPr/>
        </p:nvSpPr>
        <p:spPr>
          <a:xfrm>
            <a:off x="548640" y="3977640"/>
            <a:ext cx="11091672" cy="1051560"/>
          </a:xfrm>
          <a:prstGeom prst="roundRect">
            <a:avLst>
              <a:gd name="adj" fmla="val 6087"/>
            </a:avLst>
          </a:prstGeom>
          <a:solidFill>
            <a:srgbClr val="2B2342"/>
          </a:solidFill>
          <a:ln w="9525">
            <a:solidFill>
              <a:srgbClr val="3A3152"/>
            </a:solidFill>
            <a:prstDash val="solid"/>
          </a:ln>
        </p:spPr>
      </p:sp>
      <p:sp>
        <p:nvSpPr>
          <p:cNvPr id="11" name="Text 9"/>
          <p:cNvSpPr/>
          <p:nvPr/>
        </p:nvSpPr>
        <p:spPr>
          <a:xfrm>
            <a:off x="822960" y="3977640"/>
            <a:ext cx="10543032" cy="1051560"/>
          </a:xfrm>
          <a:prstGeom prst="rect">
            <a:avLst/>
          </a:prstGeom>
          <a:noFill/>
          <a:ln/>
        </p:spPr>
        <p:txBody>
          <a:bodyPr wrap="square" lIns="0" tIns="0" rIns="0" bIns="0" rtlCol="0" anchor="ctr"/>
          <a:lstStyle/>
          <a:p>
            <a:pPr algn="ctr" indent="0" marL="0">
              <a:buNone/>
            </a:pPr>
            <a:r>
              <a:rPr lang="en-US" sz="1250" dirty="0">
                <a:solidFill>
                  <a:srgbClr val="E9E2D0"/>
                </a:solidFill>
                <a:latin typeface="Calibri" pitchFamily="34" charset="0"/>
                <a:ea typeface="Calibri" pitchFamily="34" charset="-122"/>
                <a:cs typeface="Calibri" pitchFamily="34" charset="-120"/>
              </a:rPr>
              <a:t>Because the implementation is written apart from the type, you can implement your own trait for a type you did not define —</a:t>
            </a:r>
            <a:endParaRPr lang="en-US" sz="1250" dirty="0"/>
          </a:p>
          <a:p>
            <a:pPr algn="ctr" indent="0" marL="0">
              <a:buNone/>
            </a:pPr>
            <a:r>
              <a:rPr lang="en-US" sz="1250" dirty="0">
                <a:solidFill>
                  <a:srgbClr val="E9E2D0"/>
                </a:solidFill>
                <a:latin typeface="Calibri" pitchFamily="34" charset="0"/>
                <a:ea typeface="Calibri" pitchFamily="34" charset="-122"/>
                <a:cs typeface="Calibri" pitchFamily="34" charset="-120"/>
              </a:rPr>
              <a:t>the sane version of patching Array.prototype, scoped to where you import it. And #[derive(Serialize)] asks a library to write one for you.</a:t>
            </a:r>
            <a:endParaRPr lang="en-US" sz="1250" dirty="0"/>
          </a:p>
        </p:txBody>
      </p:sp>
      <p:sp>
        <p:nvSpPr>
          <p:cNvPr id="12" name="Text 10"/>
          <p:cNvSpPr/>
          <p:nvPr/>
        </p:nvSpPr>
        <p:spPr>
          <a:xfrm>
            <a:off x="822960" y="5349240"/>
            <a:ext cx="10543032" cy="548640"/>
          </a:xfrm>
          <a:prstGeom prst="rect">
            <a:avLst/>
          </a:prstGeom>
          <a:noFill/>
          <a:ln/>
        </p:spPr>
        <p:txBody>
          <a:bodyPr wrap="square" lIns="0" tIns="0" rIns="0" bIns="0" rtlCol="0" anchor="ctr"/>
          <a:lstStyle/>
          <a:p>
            <a:pPr algn="ctr" indent="0" marL="0">
              <a:buNone/>
            </a:pPr>
            <a:r>
              <a:rPr lang="en-US" sz="1250" i="1" dirty="0">
                <a:solidFill>
                  <a:srgbClr val="9A92A8"/>
                </a:solidFill>
                <a:latin typeface="Calibri" pitchFamily="34" charset="0"/>
                <a:ea typeface="Calibri" pitchFamily="34" charset="-122"/>
                <a:cs typeface="Calibri" pitchFamily="34" charset="-120"/>
              </a:rPr>
              <a:t>The flex cut: drop this slide and go straight from match to async — nothing later depends on it.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THE TRAP</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async looks identical and behaves differently</a:t>
            </a:r>
            <a:endParaRPr lang="en-US" sz="3000" dirty="0"/>
          </a:p>
        </p:txBody>
      </p:sp>
      <p:sp>
        <p:nvSpPr>
          <p:cNvPr id="4" name="Text 2"/>
          <p:cNvSpPr/>
          <p:nvPr/>
        </p:nvSpPr>
        <p:spPr>
          <a:xfrm>
            <a:off x="548640" y="1481328"/>
            <a:ext cx="5413248" cy="274320"/>
          </a:xfrm>
          <a:prstGeom prst="rect">
            <a:avLst/>
          </a:prstGeom>
          <a:noFill/>
          <a:ln/>
        </p:spPr>
        <p:txBody>
          <a:bodyPr wrap="square" lIns="0" tIns="0" rIns="0" bIns="0" rtlCol="0" anchor="ctr"/>
          <a:lstStyle/>
          <a:p>
            <a:pPr algn="ctr" indent="0" marL="0">
              <a:buNone/>
            </a:pPr>
            <a:r>
              <a:rPr lang="en-US" sz="1100" b="1" spc="250" kern="0" dirty="0">
                <a:solidFill>
                  <a:srgbClr val="9A92A8"/>
                </a:solidFill>
                <a:latin typeface="Calibri" pitchFamily="34" charset="0"/>
                <a:ea typeface="Calibri" pitchFamily="34" charset="-122"/>
                <a:cs typeface="Calibri" pitchFamily="34" charset="-120"/>
              </a:rPr>
              <a:t>JAVASCRIPT</a:t>
            </a:r>
            <a:endParaRPr lang="en-US" sz="1100" dirty="0"/>
          </a:p>
        </p:txBody>
      </p:sp>
      <p:sp>
        <p:nvSpPr>
          <p:cNvPr id="5" name="Shape 3"/>
          <p:cNvSpPr/>
          <p:nvPr/>
        </p:nvSpPr>
        <p:spPr>
          <a:xfrm>
            <a:off x="548640" y="1792224"/>
            <a:ext cx="5413248" cy="804672"/>
          </a:xfrm>
          <a:prstGeom prst="roundRect">
            <a:avLst>
              <a:gd name="adj" fmla="val 7955"/>
            </a:avLst>
          </a:prstGeom>
          <a:solidFill>
            <a:srgbClr val="0F0C17"/>
          </a:solidFill>
          <a:ln w="9525">
            <a:solidFill>
              <a:srgbClr val="3A3152"/>
            </a:solidFill>
            <a:prstDash val="solid"/>
          </a:ln>
        </p:spPr>
      </p:sp>
      <p:sp>
        <p:nvSpPr>
          <p:cNvPr id="6" name="Text 4"/>
          <p:cNvSpPr/>
          <p:nvPr/>
        </p:nvSpPr>
        <p:spPr>
          <a:xfrm>
            <a:off x="768096" y="1938528"/>
            <a:ext cx="4974336" cy="512064"/>
          </a:xfrm>
          <a:prstGeom prst="rect">
            <a:avLst/>
          </a:prstGeom>
          <a:noFill/>
          <a:ln/>
        </p:spPr>
        <p:txBody>
          <a:bodyPr wrap="square" lIns="0" tIns="0" rIns="0" bIns="0" rtlCol="0" anchor="t"/>
          <a:lstStyle/>
          <a:p>
            <a:pPr indent="0" marL="0">
              <a:lnSpc>
                <a:spcPct val="106000"/>
              </a:lnSpc>
              <a:buNone/>
            </a:pPr>
            <a:r>
              <a:rPr lang="en-US" sz="1400" dirty="0">
                <a:solidFill>
                  <a:srgbClr val="E9E2D0"/>
                </a:solidFill>
                <a:latin typeface="Courier New" pitchFamily="34" charset="0"/>
                <a:ea typeface="Courier New" pitchFamily="34" charset="-122"/>
                <a:cs typeface="Courier New" pitchFamily="34" charset="-120"/>
              </a:rPr>
              <a:t>const res = await fetch(url);</a:t>
            </a:r>
            <a:endParaRPr lang="en-US" sz="1400" dirty="0"/>
          </a:p>
          <a:p>
            <a:pPr indent="0" marL="0">
              <a:lnSpc>
                <a:spcPct val="106000"/>
              </a:lnSpc>
              <a:buNone/>
            </a:pPr>
            <a:r>
              <a:rPr lang="en-US" sz="1400" dirty="0">
                <a:solidFill>
                  <a:srgbClr val="9A92A8"/>
                </a:solidFill>
                <a:latin typeface="Courier New" pitchFamily="34" charset="0"/>
                <a:ea typeface="Courier New" pitchFamily="34" charset="-122"/>
                <a:cs typeface="Courier New" pitchFamily="34" charset="-120"/>
              </a:rPr>
              <a:t>// the request is ALREADY in flight</a:t>
            </a:r>
            <a:endParaRPr lang="en-US" sz="1400" dirty="0"/>
          </a:p>
        </p:txBody>
      </p:sp>
      <p:sp>
        <p:nvSpPr>
          <p:cNvPr id="7" name="Text 5"/>
          <p:cNvSpPr/>
          <p:nvPr/>
        </p:nvSpPr>
        <p:spPr>
          <a:xfrm>
            <a:off x="6227064" y="1481328"/>
            <a:ext cx="5413248" cy="274320"/>
          </a:xfrm>
          <a:prstGeom prst="rect">
            <a:avLst/>
          </a:prstGeom>
          <a:noFill/>
          <a:ln/>
        </p:spPr>
        <p:txBody>
          <a:bodyPr wrap="square" lIns="0" tIns="0" rIns="0" bIns="0" rtlCol="0" anchor="ctr"/>
          <a:lstStyle/>
          <a:p>
            <a:pPr algn="ctr" indent="0" marL="0">
              <a:buNone/>
            </a:pPr>
            <a:r>
              <a:rPr lang="en-US" sz="1100" b="1" spc="250" kern="0" dirty="0">
                <a:solidFill>
                  <a:srgbClr val="C9A227"/>
                </a:solidFill>
                <a:latin typeface="Calibri" pitchFamily="34" charset="0"/>
                <a:ea typeface="Calibri" pitchFamily="34" charset="-122"/>
                <a:cs typeface="Calibri" pitchFamily="34" charset="-120"/>
              </a:rPr>
              <a:t>RUST</a:t>
            </a:r>
            <a:endParaRPr lang="en-US" sz="1100" dirty="0"/>
          </a:p>
        </p:txBody>
      </p:sp>
      <p:sp>
        <p:nvSpPr>
          <p:cNvPr id="8" name="Shape 6"/>
          <p:cNvSpPr/>
          <p:nvPr/>
        </p:nvSpPr>
        <p:spPr>
          <a:xfrm>
            <a:off x="6227064" y="1792224"/>
            <a:ext cx="5413248" cy="804672"/>
          </a:xfrm>
          <a:prstGeom prst="roundRect">
            <a:avLst>
              <a:gd name="adj" fmla="val 7955"/>
            </a:avLst>
          </a:prstGeom>
          <a:solidFill>
            <a:srgbClr val="0F0C17"/>
          </a:solidFill>
          <a:ln w="9525">
            <a:solidFill>
              <a:srgbClr val="3A3152"/>
            </a:solidFill>
            <a:prstDash val="solid"/>
          </a:ln>
        </p:spPr>
      </p:sp>
      <p:sp>
        <p:nvSpPr>
          <p:cNvPr id="9" name="Text 7"/>
          <p:cNvSpPr/>
          <p:nvPr/>
        </p:nvSpPr>
        <p:spPr>
          <a:xfrm>
            <a:off x="6446520" y="1938528"/>
            <a:ext cx="4974336" cy="512064"/>
          </a:xfrm>
          <a:prstGeom prst="rect">
            <a:avLst/>
          </a:prstGeom>
          <a:noFill/>
          <a:ln/>
        </p:spPr>
        <p:txBody>
          <a:bodyPr wrap="square" lIns="0" tIns="0" rIns="0" bIns="0" rtlCol="0" anchor="t"/>
          <a:lstStyle/>
          <a:p>
            <a:pPr indent="0" marL="0">
              <a:lnSpc>
                <a:spcPct val="106000"/>
              </a:lnSpc>
              <a:buNone/>
            </a:pPr>
            <a:r>
              <a:rPr lang="en-US" sz="1400" dirty="0">
                <a:solidFill>
                  <a:srgbClr val="E9E2D0"/>
                </a:solidFill>
                <a:latin typeface="Courier New" pitchFamily="34" charset="0"/>
                <a:ea typeface="Courier New" pitchFamily="34" charset="-122"/>
                <a:cs typeface="Courier New" pitchFamily="34" charset="-120"/>
              </a:rPr>
              <a:t>let res = reqwest::get(url).await?;</a:t>
            </a:r>
            <a:endParaRPr lang="en-US" sz="1400" dirty="0"/>
          </a:p>
          <a:p>
            <a:pPr indent="0" marL="0">
              <a:lnSpc>
                <a:spcPct val="106000"/>
              </a:lnSpc>
              <a:buNone/>
            </a:pPr>
            <a:r>
              <a:rPr lang="en-US" sz="1400" dirty="0">
                <a:solidFill>
                  <a:srgbClr val="C9A227"/>
                </a:solidFill>
                <a:latin typeface="Courier New" pitchFamily="34" charset="0"/>
                <a:ea typeface="Courier New" pitchFamily="34" charset="-122"/>
                <a:cs typeface="Courier New" pitchFamily="34" charset="-120"/>
              </a:rPr>
              <a:t>// nothing happened until `.await`</a:t>
            </a:r>
            <a:endParaRPr lang="en-US" sz="1400" dirty="0"/>
          </a:p>
        </p:txBody>
      </p:sp>
      <p:sp>
        <p:nvSpPr>
          <p:cNvPr id="10" name="Shape 8"/>
          <p:cNvSpPr/>
          <p:nvPr/>
        </p:nvSpPr>
        <p:spPr>
          <a:xfrm>
            <a:off x="548640" y="2880360"/>
            <a:ext cx="3514344" cy="2103120"/>
          </a:xfrm>
          <a:prstGeom prst="roundRect">
            <a:avLst>
              <a:gd name="adj" fmla="val 3043"/>
            </a:avLst>
          </a:prstGeom>
          <a:solidFill>
            <a:srgbClr val="221C31"/>
          </a:solidFill>
          <a:ln w="9525">
            <a:solidFill>
              <a:srgbClr val="3A3152"/>
            </a:solidFill>
            <a:prstDash val="solid"/>
          </a:ln>
        </p:spPr>
      </p:sp>
      <p:sp>
        <p:nvSpPr>
          <p:cNvPr id="11" name="Text 9"/>
          <p:cNvSpPr/>
          <p:nvPr/>
        </p:nvSpPr>
        <p:spPr>
          <a:xfrm>
            <a:off x="749808" y="3136392"/>
            <a:ext cx="3112008" cy="548640"/>
          </a:xfrm>
          <a:prstGeom prst="rect">
            <a:avLst/>
          </a:prstGeom>
          <a:noFill/>
          <a:ln/>
        </p:spPr>
        <p:txBody>
          <a:bodyPr wrap="square" lIns="0" tIns="0" rIns="0" bIns="0" rtlCol="0" anchor="ctr"/>
          <a:lstStyle/>
          <a:p>
            <a:pPr algn="ctr" indent="0" marL="0">
              <a:buNone/>
            </a:pPr>
            <a:r>
              <a:rPr lang="en-US" sz="1500" b="1" dirty="0">
                <a:solidFill>
                  <a:srgbClr val="C9A227"/>
                </a:solidFill>
                <a:latin typeface="Cambria" pitchFamily="34" charset="0"/>
                <a:ea typeface="Cambria" pitchFamily="34" charset="-122"/>
                <a:cs typeface="Cambria" pitchFamily="34" charset="-120"/>
              </a:rPr>
              <a:t>Futures are lazy</a:t>
            </a:r>
            <a:endParaRPr lang="en-US" sz="1500" dirty="0"/>
          </a:p>
        </p:txBody>
      </p:sp>
      <p:sp>
        <p:nvSpPr>
          <p:cNvPr id="12" name="Text 10"/>
          <p:cNvSpPr/>
          <p:nvPr/>
        </p:nvSpPr>
        <p:spPr>
          <a:xfrm>
            <a:off x="768096" y="3593592"/>
            <a:ext cx="3075432" cy="1225296"/>
          </a:xfrm>
          <a:prstGeom prst="rect">
            <a:avLst/>
          </a:prstGeom>
          <a:noFill/>
          <a:ln/>
        </p:spPr>
        <p:txBody>
          <a:bodyPr wrap="square" lIns="0" tIns="0" rIns="0" bIns="0" rtlCol="0" anchor="t"/>
          <a:lstStyle/>
          <a:p>
            <a:pPr algn="ctr" indent="0" marL="0">
              <a:buNone/>
            </a:pPr>
            <a:r>
              <a:rPr lang="en-US" sz="1150" dirty="0">
                <a:solidFill>
                  <a:srgbClr val="9A92A8"/>
                </a:solidFill>
                <a:latin typeface="Calibri" pitchFamily="34" charset="0"/>
                <a:ea typeface="Calibri" pitchFamily="34" charset="-122"/>
                <a:cs typeface="Calibri" pitchFamily="34" charset="-120"/>
              </a:rPr>
              <a:t>A JS promise runs the moment you create it. A Rust future does nothing until it is awaited — create-then-await-later does not behave the way you expect.</a:t>
            </a:r>
            <a:endParaRPr lang="en-US" sz="1150" dirty="0"/>
          </a:p>
        </p:txBody>
      </p:sp>
      <p:sp>
        <p:nvSpPr>
          <p:cNvPr id="13" name="Shape 11"/>
          <p:cNvSpPr/>
          <p:nvPr/>
        </p:nvSpPr>
        <p:spPr>
          <a:xfrm>
            <a:off x="4337304" y="2880360"/>
            <a:ext cx="3514344" cy="2103120"/>
          </a:xfrm>
          <a:prstGeom prst="roundRect">
            <a:avLst>
              <a:gd name="adj" fmla="val 3043"/>
            </a:avLst>
          </a:prstGeom>
          <a:solidFill>
            <a:srgbClr val="221C31"/>
          </a:solidFill>
          <a:ln w="9525">
            <a:solidFill>
              <a:srgbClr val="3A3152"/>
            </a:solidFill>
            <a:prstDash val="solid"/>
          </a:ln>
        </p:spPr>
      </p:sp>
      <p:sp>
        <p:nvSpPr>
          <p:cNvPr id="14" name="Text 12"/>
          <p:cNvSpPr/>
          <p:nvPr/>
        </p:nvSpPr>
        <p:spPr>
          <a:xfrm>
            <a:off x="4538472" y="3136392"/>
            <a:ext cx="3112008" cy="548640"/>
          </a:xfrm>
          <a:prstGeom prst="rect">
            <a:avLst/>
          </a:prstGeom>
          <a:noFill/>
          <a:ln/>
        </p:spPr>
        <p:txBody>
          <a:bodyPr wrap="square" lIns="0" tIns="0" rIns="0" bIns="0" rtlCol="0" anchor="ctr"/>
          <a:lstStyle/>
          <a:p>
            <a:pPr algn="ctr" indent="0" marL="0">
              <a:buNone/>
            </a:pPr>
            <a:r>
              <a:rPr lang="en-US" sz="1500" b="1" dirty="0">
                <a:solidFill>
                  <a:srgbClr val="C9A227"/>
                </a:solidFill>
                <a:latin typeface="Cambria" pitchFamily="34" charset="0"/>
                <a:ea typeface="Cambria" pitchFamily="34" charset="-122"/>
                <a:cs typeface="Cambria" pitchFamily="34" charset="-120"/>
              </a:rPr>
              <a:t>No event loop in the box</a:t>
            </a:r>
            <a:endParaRPr lang="en-US" sz="1500" dirty="0"/>
          </a:p>
        </p:txBody>
      </p:sp>
      <p:sp>
        <p:nvSpPr>
          <p:cNvPr id="15" name="Text 13"/>
          <p:cNvSpPr/>
          <p:nvPr/>
        </p:nvSpPr>
        <p:spPr>
          <a:xfrm>
            <a:off x="4556760" y="3593592"/>
            <a:ext cx="3075432" cy="1225296"/>
          </a:xfrm>
          <a:prstGeom prst="rect">
            <a:avLst/>
          </a:prstGeom>
          <a:noFill/>
          <a:ln/>
        </p:spPr>
        <p:txBody>
          <a:bodyPr wrap="square" lIns="0" tIns="0" rIns="0" bIns="0" rtlCol="0" anchor="t"/>
          <a:lstStyle/>
          <a:p>
            <a:pPr algn="ctr" indent="0" marL="0">
              <a:buNone/>
            </a:pPr>
            <a:r>
              <a:rPr lang="en-US" sz="1150" dirty="0">
                <a:solidFill>
                  <a:srgbClr val="9A92A8"/>
                </a:solidFill>
                <a:latin typeface="Calibri" pitchFamily="34" charset="0"/>
                <a:ea typeface="Calibri" pitchFamily="34" charset="-122"/>
                <a:cs typeface="Calibri" pitchFamily="34" charset="-120"/>
              </a:rPr>
              <a:t>Node ships one. Rust makes you choose a runtime, and the answer is tokio unless you know why it is not.</a:t>
            </a:r>
            <a:endParaRPr lang="en-US" sz="1150" dirty="0"/>
          </a:p>
        </p:txBody>
      </p:sp>
      <p:sp>
        <p:nvSpPr>
          <p:cNvPr id="16" name="Shape 14"/>
          <p:cNvSpPr/>
          <p:nvPr/>
        </p:nvSpPr>
        <p:spPr>
          <a:xfrm>
            <a:off x="8125968" y="2880360"/>
            <a:ext cx="3514344" cy="2103120"/>
          </a:xfrm>
          <a:prstGeom prst="roundRect">
            <a:avLst>
              <a:gd name="adj" fmla="val 3043"/>
            </a:avLst>
          </a:prstGeom>
          <a:solidFill>
            <a:srgbClr val="221C31"/>
          </a:solidFill>
          <a:ln w="9525">
            <a:solidFill>
              <a:srgbClr val="3A3152"/>
            </a:solidFill>
            <a:prstDash val="solid"/>
          </a:ln>
        </p:spPr>
      </p:sp>
      <p:sp>
        <p:nvSpPr>
          <p:cNvPr id="17" name="Text 15"/>
          <p:cNvSpPr/>
          <p:nvPr/>
        </p:nvSpPr>
        <p:spPr>
          <a:xfrm>
            <a:off x="8327136" y="3136392"/>
            <a:ext cx="3112008" cy="548640"/>
          </a:xfrm>
          <a:prstGeom prst="rect">
            <a:avLst/>
          </a:prstGeom>
          <a:noFill/>
          <a:ln/>
        </p:spPr>
        <p:txBody>
          <a:bodyPr wrap="square" lIns="0" tIns="0" rIns="0" bIns="0" rtlCol="0" anchor="ctr"/>
          <a:lstStyle/>
          <a:p>
            <a:pPr algn="ctr" indent="0" marL="0">
              <a:buNone/>
            </a:pPr>
            <a:r>
              <a:rPr lang="en-US" sz="1500" b="1" dirty="0">
                <a:solidFill>
                  <a:srgbClr val="C9A227"/>
                </a:solidFill>
                <a:latin typeface="Cambria" pitchFamily="34" charset="0"/>
                <a:ea typeface="Cambria" pitchFamily="34" charset="-122"/>
                <a:cs typeface="Cambria" pitchFamily="34" charset="-120"/>
              </a:rPr>
              <a:t>`?` works here too</a:t>
            </a:r>
            <a:endParaRPr lang="en-US" sz="1500" dirty="0"/>
          </a:p>
        </p:txBody>
      </p:sp>
      <p:sp>
        <p:nvSpPr>
          <p:cNvPr id="18" name="Text 16"/>
          <p:cNvSpPr/>
          <p:nvPr/>
        </p:nvSpPr>
        <p:spPr>
          <a:xfrm>
            <a:off x="8345424" y="3593592"/>
            <a:ext cx="3075432" cy="1225296"/>
          </a:xfrm>
          <a:prstGeom prst="rect">
            <a:avLst/>
          </a:prstGeom>
          <a:noFill/>
          <a:ln/>
        </p:spPr>
        <p:txBody>
          <a:bodyPr wrap="square" lIns="0" tIns="0" rIns="0" bIns="0" rtlCol="0" anchor="t"/>
          <a:lstStyle/>
          <a:p>
            <a:pPr algn="ctr" indent="0" marL="0">
              <a:buNone/>
            </a:pPr>
            <a:r>
              <a:rPr lang="en-US" sz="1150" dirty="0">
                <a:solidFill>
                  <a:srgbClr val="9A92A8"/>
                </a:solidFill>
                <a:latin typeface="Calibri" pitchFamily="34" charset="0"/>
                <a:ea typeface="Calibri" pitchFamily="34" charset="-122"/>
                <a:cs typeface="Calibri" pitchFamily="34" charset="-120"/>
              </a:rPr>
              <a:t>Async error handling is the same one character you saw two slides ago. The pieces compose.</a:t>
            </a:r>
            <a:endParaRPr lang="en-US" sz="1150" dirty="0"/>
          </a:p>
        </p:txBody>
      </p:sp>
      <p:sp>
        <p:nvSpPr>
          <p:cNvPr id="19" name="Text 17"/>
          <p:cNvSpPr/>
          <p:nvPr/>
        </p:nvSpPr>
        <p:spPr>
          <a:xfrm>
            <a:off x="822960" y="5257800"/>
            <a:ext cx="10543032" cy="548640"/>
          </a:xfrm>
          <a:prstGeom prst="rect">
            <a:avLst/>
          </a:prstGeom>
          <a:noFill/>
          <a:ln/>
        </p:spPr>
        <p:txBody>
          <a:bodyPr wrap="square" lIns="0" tIns="0" rIns="0" bIns="0" rtlCol="0" anchor="ctr"/>
          <a:lstStyle/>
          <a:p>
            <a:pPr algn="ctr" indent="0" marL="0">
              <a:buNone/>
            </a:pPr>
            <a:r>
              <a:rPr lang="en-US" sz="1300" i="1" dirty="0">
                <a:solidFill>
                  <a:srgbClr val="E9E2D0"/>
                </a:solidFill>
                <a:latin typeface="Calibri" pitchFamily="34" charset="0"/>
                <a:ea typeface="Calibri" pitchFamily="34" charset="-122"/>
                <a:cs typeface="Calibri" pitchFamily="34" charset="-120"/>
              </a:rPr>
              <a:t>Honest note: async is the sharpest corner of the language. Keep it at the edges — the I/O — and keep your core plain synchronous functions.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THE TOLL</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What it costs — say this out loud</a:t>
            </a:r>
            <a:endParaRPr lang="en-US" sz="3000" dirty="0"/>
          </a:p>
        </p:txBody>
      </p:sp>
      <p:sp>
        <p:nvSpPr>
          <p:cNvPr id="4" name="Shape 2"/>
          <p:cNvSpPr/>
          <p:nvPr/>
        </p:nvSpPr>
        <p:spPr>
          <a:xfrm>
            <a:off x="548640" y="1645920"/>
            <a:ext cx="3514344" cy="3017520"/>
          </a:xfrm>
          <a:prstGeom prst="roundRect">
            <a:avLst>
              <a:gd name="adj" fmla="val 2121"/>
            </a:avLst>
          </a:prstGeom>
          <a:solidFill>
            <a:srgbClr val="221C31"/>
          </a:solidFill>
          <a:ln w="9525">
            <a:solidFill>
              <a:srgbClr val="3A3152"/>
            </a:solidFill>
            <a:prstDash val="solid"/>
          </a:ln>
        </p:spPr>
      </p:sp>
      <p:sp>
        <p:nvSpPr>
          <p:cNvPr id="5" name="Shape 3"/>
          <p:cNvSpPr/>
          <p:nvPr/>
        </p:nvSpPr>
        <p:spPr>
          <a:xfrm>
            <a:off x="1930908" y="1956816"/>
            <a:ext cx="749808" cy="749808"/>
          </a:xfrm>
          <a:prstGeom prst="ellipse">
            <a:avLst/>
          </a:prstGeom>
          <a:solidFill>
            <a:srgbClr val="2B2342"/>
          </a:solidFill>
          <a:ln w="9525">
            <a:solidFill>
              <a:srgbClr val="3A3152"/>
            </a:solidFill>
            <a:prstDash val="solid"/>
          </a:ln>
        </p:spPr>
      </p:sp>
      <p:pic>
        <p:nvPicPr>
          <p:cNvPr id="6" name="Image 0" descr="/tmp/claude-0/-home-user-WickedWays/bfe20d4f-91dd-58c9-a5c6-92b3d7767e5d/scratchpad/decks/icons/alert.png">    </p:cNvPr>
          <p:cNvPicPr>
            <a:picLocks noChangeAspect="1"/>
          </p:cNvPicPr>
          <p:nvPr/>
        </p:nvPicPr>
        <p:blipFill>
          <a:blip r:embed="rId1"/>
          <a:stretch>
            <a:fillRect/>
          </a:stretch>
        </p:blipFill>
        <p:spPr>
          <a:xfrm>
            <a:off x="2110862" y="2136770"/>
            <a:ext cx="389900" cy="389900"/>
          </a:xfrm>
          <a:prstGeom prst="rect">
            <a:avLst/>
          </a:prstGeom>
        </p:spPr>
      </p:pic>
      <p:sp>
        <p:nvSpPr>
          <p:cNvPr id="7" name="Text 4"/>
          <p:cNvSpPr/>
          <p:nvPr/>
        </p:nvSpPr>
        <p:spPr>
          <a:xfrm>
            <a:off x="749808" y="2880360"/>
            <a:ext cx="3112008" cy="548640"/>
          </a:xfrm>
          <a:prstGeom prst="rect">
            <a:avLst/>
          </a:prstGeom>
          <a:noFill/>
          <a:ln/>
        </p:spPr>
        <p:txBody>
          <a:bodyPr wrap="square" lIns="0" tIns="0" rIns="0" bIns="0" rtlCol="0" anchor="ctr"/>
          <a:lstStyle/>
          <a:p>
            <a:pPr algn="ctr" indent="0" marL="0">
              <a:buNone/>
            </a:pPr>
            <a:r>
              <a:rPr lang="en-US" sz="1550" b="1" dirty="0">
                <a:solidFill>
                  <a:srgbClr val="E9E2D0"/>
                </a:solidFill>
                <a:latin typeface="Cambria" pitchFamily="34" charset="0"/>
                <a:ea typeface="Cambria" pitchFamily="34" charset="-122"/>
                <a:cs typeface="Cambria" pitchFamily="34" charset="-120"/>
              </a:rPr>
              <a:t>Two or three weeks</a:t>
            </a:r>
            <a:endParaRPr lang="en-US" sz="1550" dirty="0"/>
          </a:p>
          <a:p>
            <a:pPr algn="ctr" indent="0" marL="0">
              <a:buNone/>
            </a:pPr>
            <a:r>
              <a:rPr lang="en-US" sz="1550" b="1" dirty="0">
                <a:solidFill>
                  <a:srgbClr val="E9E2D0"/>
                </a:solidFill>
                <a:latin typeface="Cambria" pitchFamily="34" charset="0"/>
                <a:ea typeface="Cambria" pitchFamily="34" charset="-122"/>
                <a:cs typeface="Cambria" pitchFamily="34" charset="-120"/>
              </a:rPr>
              <a:t>of fighting</a:t>
            </a:r>
            <a:endParaRPr lang="en-US" sz="1550" dirty="0"/>
          </a:p>
        </p:txBody>
      </p:sp>
      <p:sp>
        <p:nvSpPr>
          <p:cNvPr id="8" name="Text 5"/>
          <p:cNvSpPr/>
          <p:nvPr/>
        </p:nvSpPr>
        <p:spPr>
          <a:xfrm>
            <a:off x="768096" y="3840480"/>
            <a:ext cx="3075432" cy="658368"/>
          </a:xfrm>
          <a:prstGeom prst="rect">
            <a:avLst/>
          </a:prstGeom>
          <a:noFill/>
          <a:ln/>
        </p:spPr>
        <p:txBody>
          <a:bodyPr wrap="square" lIns="0" tIns="0" rIns="0" bIns="0" rtlCol="0" anchor="t"/>
          <a:lstStyle/>
          <a:p>
            <a:pPr algn="ctr" indent="0" marL="0">
              <a:buNone/>
            </a:pPr>
            <a:r>
              <a:rPr lang="en-US" sz="1200" dirty="0">
                <a:solidFill>
                  <a:srgbClr val="9A92A8"/>
                </a:solidFill>
                <a:latin typeface="Calibri" pitchFamily="34" charset="0"/>
                <a:ea typeface="Calibri" pitchFamily="34" charset="-122"/>
                <a:cs typeface="Calibri" pitchFamily="34" charset="-120"/>
              </a:rPr>
              <a:t>The borrow checker will beat you up. Everyone. Then it stops — because you start writing the code that was going to be correct anyway.</a:t>
            </a:r>
            <a:endParaRPr lang="en-US" sz="1200" dirty="0"/>
          </a:p>
        </p:txBody>
      </p:sp>
      <p:sp>
        <p:nvSpPr>
          <p:cNvPr id="9" name="Shape 6"/>
          <p:cNvSpPr/>
          <p:nvPr/>
        </p:nvSpPr>
        <p:spPr>
          <a:xfrm>
            <a:off x="4337304" y="1645920"/>
            <a:ext cx="3514344" cy="3017520"/>
          </a:xfrm>
          <a:prstGeom prst="roundRect">
            <a:avLst>
              <a:gd name="adj" fmla="val 2121"/>
            </a:avLst>
          </a:prstGeom>
          <a:solidFill>
            <a:srgbClr val="221C31"/>
          </a:solidFill>
          <a:ln w="9525">
            <a:solidFill>
              <a:srgbClr val="3A3152"/>
            </a:solidFill>
            <a:prstDash val="solid"/>
          </a:ln>
        </p:spPr>
      </p:sp>
      <p:sp>
        <p:nvSpPr>
          <p:cNvPr id="10" name="Shape 7"/>
          <p:cNvSpPr/>
          <p:nvPr/>
        </p:nvSpPr>
        <p:spPr>
          <a:xfrm>
            <a:off x="5719572" y="1956816"/>
            <a:ext cx="749808" cy="749808"/>
          </a:xfrm>
          <a:prstGeom prst="ellipse">
            <a:avLst/>
          </a:prstGeom>
          <a:solidFill>
            <a:srgbClr val="2B2342"/>
          </a:solidFill>
          <a:ln w="9525">
            <a:solidFill>
              <a:srgbClr val="3A3152"/>
            </a:solidFill>
            <a:prstDash val="solid"/>
          </a:ln>
        </p:spPr>
      </p:sp>
      <p:pic>
        <p:nvPicPr>
          <p:cNvPr id="11" name="Image 1" descr="/tmp/claude-0/-home-user-WickedWays/bfe20d4f-91dd-58c9-a5c6-92b3d7767e5d/scratchpad/decks/icons/clock.png">    </p:cNvPr>
          <p:cNvPicPr>
            <a:picLocks noChangeAspect="1"/>
          </p:cNvPicPr>
          <p:nvPr/>
        </p:nvPicPr>
        <p:blipFill>
          <a:blip r:embed="rId2"/>
          <a:stretch>
            <a:fillRect/>
          </a:stretch>
        </p:blipFill>
        <p:spPr>
          <a:xfrm>
            <a:off x="5899526" y="2136770"/>
            <a:ext cx="389900" cy="389900"/>
          </a:xfrm>
          <a:prstGeom prst="rect">
            <a:avLst/>
          </a:prstGeom>
        </p:spPr>
      </p:pic>
      <p:sp>
        <p:nvSpPr>
          <p:cNvPr id="12" name="Text 8"/>
          <p:cNvSpPr/>
          <p:nvPr/>
        </p:nvSpPr>
        <p:spPr>
          <a:xfrm>
            <a:off x="4538472" y="2880360"/>
            <a:ext cx="3112008" cy="548640"/>
          </a:xfrm>
          <a:prstGeom prst="rect">
            <a:avLst/>
          </a:prstGeom>
          <a:noFill/>
          <a:ln/>
        </p:spPr>
        <p:txBody>
          <a:bodyPr wrap="square" lIns="0" tIns="0" rIns="0" bIns="0" rtlCol="0" anchor="ctr"/>
          <a:lstStyle/>
          <a:p>
            <a:pPr algn="ctr" indent="0" marL="0">
              <a:buNone/>
            </a:pPr>
            <a:r>
              <a:rPr lang="en-US" sz="1550" b="1" dirty="0">
                <a:solidFill>
                  <a:srgbClr val="E9E2D0"/>
                </a:solidFill>
                <a:latin typeface="Cambria" pitchFamily="34" charset="0"/>
                <a:ea typeface="Cambria" pitchFamily="34" charset="-122"/>
                <a:cs typeface="Cambria" pitchFamily="34" charset="-120"/>
              </a:rPr>
              <a:t>Builds are not</a:t>
            </a:r>
            <a:endParaRPr lang="en-US" sz="1550" dirty="0"/>
          </a:p>
          <a:p>
            <a:pPr algn="ctr" indent="0" marL="0">
              <a:buNone/>
            </a:pPr>
            <a:r>
              <a:rPr lang="en-US" sz="1550" b="1" dirty="0">
                <a:solidFill>
                  <a:srgbClr val="E9E2D0"/>
                </a:solidFill>
                <a:latin typeface="Cambria" pitchFamily="34" charset="0"/>
                <a:ea typeface="Cambria" pitchFamily="34" charset="-122"/>
                <a:cs typeface="Cambria" pitchFamily="34" charset="-120"/>
              </a:rPr>
              <a:t>nodemon</a:t>
            </a:r>
            <a:endParaRPr lang="en-US" sz="1550" dirty="0"/>
          </a:p>
        </p:txBody>
      </p:sp>
      <p:sp>
        <p:nvSpPr>
          <p:cNvPr id="13" name="Text 9"/>
          <p:cNvSpPr/>
          <p:nvPr/>
        </p:nvSpPr>
        <p:spPr>
          <a:xfrm>
            <a:off x="4556760" y="3840480"/>
            <a:ext cx="3075432" cy="658368"/>
          </a:xfrm>
          <a:prstGeom prst="rect">
            <a:avLst/>
          </a:prstGeom>
          <a:noFill/>
          <a:ln/>
        </p:spPr>
        <p:txBody>
          <a:bodyPr wrap="square" lIns="0" tIns="0" rIns="0" bIns="0" rtlCol="0" anchor="t"/>
          <a:lstStyle/>
          <a:p>
            <a:pPr algn="ctr" indent="0" marL="0">
              <a:buNone/>
            </a:pPr>
            <a:r>
              <a:rPr lang="en-US" sz="1200" dirty="0">
                <a:solidFill>
                  <a:srgbClr val="9A92A8"/>
                </a:solidFill>
                <a:latin typeface="Calibri" pitchFamily="34" charset="0"/>
                <a:ea typeface="Calibri" pitchFamily="34" charset="-122"/>
                <a:cs typeface="Calibri" pitchFamily="34" charset="-120"/>
              </a:rPr>
              <a:t>Incremental builds are seconds; clean builds are minutes. You will feel it on a big dependency tree.</a:t>
            </a:r>
            <a:endParaRPr lang="en-US" sz="1200" dirty="0"/>
          </a:p>
        </p:txBody>
      </p:sp>
      <p:sp>
        <p:nvSpPr>
          <p:cNvPr id="14" name="Shape 10"/>
          <p:cNvSpPr/>
          <p:nvPr/>
        </p:nvSpPr>
        <p:spPr>
          <a:xfrm>
            <a:off x="8125968" y="1645920"/>
            <a:ext cx="3514344" cy="3017520"/>
          </a:xfrm>
          <a:prstGeom prst="roundRect">
            <a:avLst>
              <a:gd name="adj" fmla="val 2121"/>
            </a:avLst>
          </a:prstGeom>
          <a:solidFill>
            <a:srgbClr val="221C31"/>
          </a:solidFill>
          <a:ln w="9525">
            <a:solidFill>
              <a:srgbClr val="3A3152"/>
            </a:solidFill>
            <a:prstDash val="solid"/>
          </a:ln>
        </p:spPr>
      </p:sp>
      <p:sp>
        <p:nvSpPr>
          <p:cNvPr id="15" name="Shape 11"/>
          <p:cNvSpPr/>
          <p:nvPr/>
        </p:nvSpPr>
        <p:spPr>
          <a:xfrm>
            <a:off x="9508236" y="1956816"/>
            <a:ext cx="749808" cy="749808"/>
          </a:xfrm>
          <a:prstGeom prst="ellipse">
            <a:avLst/>
          </a:prstGeom>
          <a:solidFill>
            <a:srgbClr val="2B2342"/>
          </a:solidFill>
          <a:ln w="9525">
            <a:solidFill>
              <a:srgbClr val="3A3152"/>
            </a:solidFill>
            <a:prstDash val="solid"/>
          </a:ln>
        </p:spPr>
      </p:sp>
      <p:pic>
        <p:nvPicPr>
          <p:cNvPr id="16" name="Image 2" descr="/tmp/claude-0/-home-user-WickedWays/bfe20d4f-91dd-58c9-a5c6-92b3d7767e5d/scratchpad/decks/icons/box_bone.png">    </p:cNvPr>
          <p:cNvPicPr>
            <a:picLocks noChangeAspect="1"/>
          </p:cNvPicPr>
          <p:nvPr/>
        </p:nvPicPr>
        <p:blipFill>
          <a:blip r:embed="rId3"/>
          <a:stretch>
            <a:fillRect/>
          </a:stretch>
        </p:blipFill>
        <p:spPr>
          <a:xfrm>
            <a:off x="9688190" y="2136770"/>
            <a:ext cx="389900" cy="389900"/>
          </a:xfrm>
          <a:prstGeom prst="rect">
            <a:avLst/>
          </a:prstGeom>
        </p:spPr>
      </p:pic>
      <p:sp>
        <p:nvSpPr>
          <p:cNvPr id="17" name="Text 12"/>
          <p:cNvSpPr/>
          <p:nvPr/>
        </p:nvSpPr>
        <p:spPr>
          <a:xfrm>
            <a:off x="8327136" y="2880360"/>
            <a:ext cx="3112008" cy="548640"/>
          </a:xfrm>
          <a:prstGeom prst="rect">
            <a:avLst/>
          </a:prstGeom>
          <a:noFill/>
          <a:ln/>
        </p:spPr>
        <p:txBody>
          <a:bodyPr wrap="square" lIns="0" tIns="0" rIns="0" bIns="0" rtlCol="0" anchor="ctr"/>
          <a:lstStyle/>
          <a:p>
            <a:pPr algn="ctr" indent="0" marL="0">
              <a:buNone/>
            </a:pPr>
            <a:r>
              <a:rPr lang="en-US" sz="1550" b="1" dirty="0">
                <a:solidFill>
                  <a:srgbClr val="E9E2D0"/>
                </a:solidFill>
                <a:latin typeface="Cambria" pitchFamily="34" charset="0"/>
                <a:ea typeface="Cambria" pitchFamily="34" charset="-122"/>
                <a:cs typeface="Cambria" pitchFamily="34" charset="-120"/>
              </a:rPr>
              <a:t>Far fewer libraries</a:t>
            </a:r>
            <a:endParaRPr lang="en-US" sz="1550" dirty="0"/>
          </a:p>
          <a:p>
            <a:pPr algn="ctr" indent="0" marL="0">
              <a:buNone/>
            </a:pPr>
            <a:r>
              <a:rPr lang="en-US" sz="1550" b="1" dirty="0">
                <a:solidFill>
                  <a:srgbClr val="E9E2D0"/>
                </a:solidFill>
                <a:latin typeface="Cambria" pitchFamily="34" charset="0"/>
                <a:ea typeface="Cambria" pitchFamily="34" charset="-122"/>
                <a:cs typeface="Cambria" pitchFamily="34" charset="-120"/>
              </a:rPr>
              <a:t>than npm</a:t>
            </a:r>
            <a:endParaRPr lang="en-US" sz="1550" dirty="0"/>
          </a:p>
        </p:txBody>
      </p:sp>
      <p:sp>
        <p:nvSpPr>
          <p:cNvPr id="18" name="Text 13"/>
          <p:cNvSpPr/>
          <p:nvPr/>
        </p:nvSpPr>
        <p:spPr>
          <a:xfrm>
            <a:off x="8345424" y="3840480"/>
            <a:ext cx="3075432" cy="658368"/>
          </a:xfrm>
          <a:prstGeom prst="rect">
            <a:avLst/>
          </a:prstGeom>
          <a:noFill/>
          <a:ln/>
        </p:spPr>
        <p:txBody>
          <a:bodyPr wrap="square" lIns="0" tIns="0" rIns="0" bIns="0" rtlCol="0" anchor="t"/>
          <a:lstStyle/>
          <a:p>
            <a:pPr algn="ctr" indent="0" marL="0">
              <a:buNone/>
            </a:pPr>
            <a:r>
              <a:rPr lang="en-US" sz="1200" dirty="0">
                <a:solidFill>
                  <a:srgbClr val="9A92A8"/>
                </a:solidFill>
                <a:latin typeface="Calibri" pitchFamily="34" charset="0"/>
                <a:ea typeface="Calibri" pitchFamily="34" charset="-122"/>
                <a:cs typeface="Calibri" pitchFamily="34" charset="-120"/>
              </a:rPr>
              <a:t>A lot fewer. But the ones that matter are unusually well made — and cargo never handed you a node_modules to explain.</a:t>
            </a:r>
            <a:endParaRPr lang="en-US" sz="1200" dirty="0"/>
          </a:p>
        </p:txBody>
      </p:sp>
      <p:sp>
        <p:nvSpPr>
          <p:cNvPr id="19" name="Shape 14"/>
          <p:cNvSpPr/>
          <p:nvPr/>
        </p:nvSpPr>
        <p:spPr>
          <a:xfrm>
            <a:off x="548640" y="4892040"/>
            <a:ext cx="11091672" cy="914400"/>
          </a:xfrm>
          <a:prstGeom prst="roundRect">
            <a:avLst>
              <a:gd name="adj" fmla="val 7000"/>
            </a:avLst>
          </a:prstGeom>
          <a:solidFill>
            <a:srgbClr val="8E2F2F"/>
          </a:solidFill>
          <a:ln w="9525">
            <a:solidFill>
              <a:srgbClr val="C9A227"/>
            </a:solidFill>
            <a:prstDash val="solid"/>
          </a:ln>
        </p:spPr>
      </p:sp>
      <p:sp>
        <p:nvSpPr>
          <p:cNvPr id="20" name="Text 15"/>
          <p:cNvSpPr/>
          <p:nvPr/>
        </p:nvSpPr>
        <p:spPr>
          <a:xfrm>
            <a:off x="822960" y="4892040"/>
            <a:ext cx="10543032" cy="914400"/>
          </a:xfrm>
          <a:prstGeom prst="rect">
            <a:avLst/>
          </a:prstGeom>
          <a:noFill/>
          <a:ln/>
        </p:spPr>
        <p:txBody>
          <a:bodyPr wrap="square" lIns="0" tIns="0" rIns="0" bIns="0" rtlCol="0" anchor="ctr"/>
          <a:lstStyle/>
          <a:p>
            <a:pPr algn="ctr" indent="0" marL="0">
              <a:buNone/>
            </a:pPr>
            <a:r>
              <a:rPr lang="en-US" sz="1400" b="1" dirty="0">
                <a:solidFill>
                  <a:srgbClr val="E9E2D0"/>
                </a:solidFill>
                <a:latin typeface="Calibri" pitchFamily="34" charset="0"/>
                <a:ea typeface="Calibri" pitchFamily="34" charset="-122"/>
                <a:cs typeface="Calibri" pitchFamily="34" charset="-120"/>
              </a:rPr>
              <a:t>And the boundary: for glue, CRUD and scripts this ceremony buys you nothing.</a:t>
            </a:r>
            <a:endParaRPr lang="en-US" sz="1400" dirty="0"/>
          </a:p>
          <a:p>
            <a:pPr algn="ctr" indent="0" marL="0">
              <a:buNone/>
            </a:pPr>
            <a:r>
              <a:rPr lang="en-US" sz="1400" b="1" dirty="0">
                <a:solidFill>
                  <a:srgbClr val="E9E2D0"/>
                </a:solidFill>
                <a:latin typeface="Calibri" pitchFamily="34" charset="0"/>
                <a:ea typeface="Calibri" pitchFamily="34" charset="-122"/>
                <a:cs typeface="Calibri" pitchFamily="34" charset="-120"/>
              </a:rPr>
              <a:t>Rust pays where correctness, portability, or performance IS the product.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1321"/>
        </a:solidFill>
      </p:bgPr>
    </p:bg>
    <p:spTree>
      <p:nvGrpSpPr>
        <p:cNvPr id="1" name=""/>
        <p:cNvGrpSpPr/>
        <p:nvPr/>
      </p:nvGrpSpPr>
      <p:grpSpPr>
        <a:xfrm>
          <a:off x="0" y="0"/>
          <a:ext cx="0" cy="0"/>
          <a:chOff x="0" y="0"/>
          <a:chExt cx="0" cy="0"/>
        </a:xfrm>
      </p:grpSpPr>
      <p:sp>
        <p:nvSpPr>
          <p:cNvPr id="2" name="Text 0"/>
          <p:cNvSpPr/>
          <p:nvPr/>
        </p:nvSpPr>
        <p:spPr>
          <a:xfrm>
            <a:off x="548640" y="310896"/>
            <a:ext cx="1106424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IF YOU WANT TO TRY IT</a:t>
            </a:r>
            <a:endParaRPr lang="en-US" sz="1200" dirty="0"/>
          </a:p>
        </p:txBody>
      </p:sp>
      <p:sp>
        <p:nvSpPr>
          <p:cNvPr id="3" name="Text 1"/>
          <p:cNvSpPr/>
          <p:nvPr/>
        </p:nvSpPr>
        <p:spPr>
          <a:xfrm>
            <a:off x="548640" y="566928"/>
            <a:ext cx="11064240" cy="731520"/>
          </a:xfrm>
          <a:prstGeom prst="rect">
            <a:avLst/>
          </a:prstGeom>
          <a:noFill/>
          <a:ln/>
        </p:spPr>
        <p:txBody>
          <a:bodyPr wrap="square" lIns="0" tIns="0" rIns="0" bIns="0" rtlCol="0" anchor="ctr"/>
          <a:lstStyle/>
          <a:p>
            <a:pPr indent="0" marL="0">
              <a:buNone/>
            </a:pPr>
            <a:r>
              <a:rPr lang="en-US" sz="3000" b="1" dirty="0">
                <a:solidFill>
                  <a:srgbClr val="E9E2D0"/>
                </a:solidFill>
                <a:latin typeface="Cambria" pitchFamily="34" charset="0"/>
                <a:ea typeface="Cambria" pitchFamily="34" charset="-122"/>
                <a:cs typeface="Cambria" pitchFamily="34" charset="-120"/>
              </a:rPr>
              <a:t>The on-ramp</a:t>
            </a:r>
            <a:endParaRPr lang="en-US" sz="3000" dirty="0"/>
          </a:p>
        </p:txBody>
      </p:sp>
      <p:sp>
        <p:nvSpPr>
          <p:cNvPr id="4" name="Shape 2"/>
          <p:cNvSpPr/>
          <p:nvPr/>
        </p:nvSpPr>
        <p:spPr>
          <a:xfrm>
            <a:off x="548640" y="1600200"/>
            <a:ext cx="11091672" cy="868680"/>
          </a:xfrm>
          <a:prstGeom prst="roundRect">
            <a:avLst>
              <a:gd name="adj" fmla="val 7368"/>
            </a:avLst>
          </a:prstGeom>
          <a:solidFill>
            <a:srgbClr val="221C31"/>
          </a:solidFill>
          <a:ln w="9525">
            <a:solidFill>
              <a:srgbClr val="3A3152"/>
            </a:solidFill>
            <a:prstDash val="solid"/>
          </a:ln>
        </p:spPr>
      </p:sp>
      <p:sp>
        <p:nvSpPr>
          <p:cNvPr id="5" name="Text 3"/>
          <p:cNvSpPr/>
          <p:nvPr/>
        </p:nvSpPr>
        <p:spPr>
          <a:xfrm>
            <a:off x="822960" y="1600200"/>
            <a:ext cx="640080" cy="868680"/>
          </a:xfrm>
          <a:prstGeom prst="rect">
            <a:avLst/>
          </a:prstGeom>
          <a:noFill/>
          <a:ln/>
        </p:spPr>
        <p:txBody>
          <a:bodyPr wrap="square" lIns="0" tIns="0" rIns="0" bIns="0" rtlCol="0" anchor="ctr"/>
          <a:lstStyle/>
          <a:p>
            <a:pPr algn="ctr" indent="0" marL="0">
              <a:buNone/>
            </a:pPr>
            <a:r>
              <a:rPr lang="en-US" sz="3000" b="1" dirty="0">
                <a:solidFill>
                  <a:srgbClr val="C9A227"/>
                </a:solidFill>
                <a:latin typeface="Cambria" pitchFamily="34" charset="0"/>
                <a:ea typeface="Cambria" pitchFamily="34" charset="-122"/>
                <a:cs typeface="Cambria" pitchFamily="34" charset="-120"/>
              </a:rPr>
              <a:t>1</a:t>
            </a:r>
            <a:endParaRPr lang="en-US" sz="3000" dirty="0"/>
          </a:p>
        </p:txBody>
      </p:sp>
      <p:sp>
        <p:nvSpPr>
          <p:cNvPr id="6" name="Text 4"/>
          <p:cNvSpPr/>
          <p:nvPr/>
        </p:nvSpPr>
        <p:spPr>
          <a:xfrm>
            <a:off x="1645920" y="1600200"/>
            <a:ext cx="2743200" cy="868680"/>
          </a:xfrm>
          <a:prstGeom prst="rect">
            <a:avLst/>
          </a:prstGeom>
          <a:noFill/>
          <a:ln/>
        </p:spPr>
        <p:txBody>
          <a:bodyPr wrap="square" lIns="0" tIns="0" rIns="0" bIns="0" rtlCol="0" anchor="ctr"/>
          <a:lstStyle/>
          <a:p>
            <a:pPr indent="0" marL="0">
              <a:buNone/>
            </a:pPr>
            <a:r>
              <a:rPr lang="en-US" sz="1500" b="1" dirty="0">
                <a:solidFill>
                  <a:srgbClr val="E9E2D0"/>
                </a:solidFill>
                <a:latin typeface="Courier New" pitchFamily="34" charset="0"/>
                <a:ea typeface="Courier New" pitchFamily="34" charset="-122"/>
                <a:cs typeface="Courier New" pitchFamily="34" charset="-120"/>
              </a:rPr>
              <a:t>rustup</a:t>
            </a:r>
            <a:endParaRPr lang="en-US" sz="1500" dirty="0"/>
          </a:p>
        </p:txBody>
      </p:sp>
      <p:sp>
        <p:nvSpPr>
          <p:cNvPr id="7" name="Text 5"/>
          <p:cNvSpPr/>
          <p:nvPr/>
        </p:nvSpPr>
        <p:spPr>
          <a:xfrm>
            <a:off x="4572000" y="1600200"/>
            <a:ext cx="6766560" cy="868680"/>
          </a:xfrm>
          <a:prstGeom prst="rect">
            <a:avLst/>
          </a:prstGeom>
          <a:noFill/>
          <a:ln/>
        </p:spPr>
        <p:txBody>
          <a:bodyPr wrap="square" lIns="0" tIns="0" rIns="0" bIns="0" rtlCol="0" anchor="ctr"/>
          <a:lstStyle/>
          <a:p>
            <a:pPr indent="0" marL="0">
              <a:buNone/>
            </a:pPr>
            <a:r>
              <a:rPr lang="en-US" sz="1300" dirty="0">
                <a:solidFill>
                  <a:srgbClr val="9A92A8"/>
                </a:solidFill>
                <a:latin typeface="Calibri" pitchFamily="34" charset="0"/>
                <a:ea typeface="Calibri" pitchFamily="34" charset="-122"/>
                <a:cs typeface="Calibri" pitchFamily="34" charset="-120"/>
              </a:rPr>
              <a:t>one installer — it manages versions like nvm</a:t>
            </a:r>
            <a:endParaRPr lang="en-US" sz="1300" dirty="0"/>
          </a:p>
        </p:txBody>
      </p:sp>
      <p:sp>
        <p:nvSpPr>
          <p:cNvPr id="8" name="Shape 6"/>
          <p:cNvSpPr/>
          <p:nvPr/>
        </p:nvSpPr>
        <p:spPr>
          <a:xfrm>
            <a:off x="548640" y="2651760"/>
            <a:ext cx="11091672" cy="868680"/>
          </a:xfrm>
          <a:prstGeom prst="roundRect">
            <a:avLst>
              <a:gd name="adj" fmla="val 7368"/>
            </a:avLst>
          </a:prstGeom>
          <a:solidFill>
            <a:srgbClr val="221C31"/>
          </a:solidFill>
          <a:ln w="9525">
            <a:solidFill>
              <a:srgbClr val="3A3152"/>
            </a:solidFill>
            <a:prstDash val="solid"/>
          </a:ln>
        </p:spPr>
      </p:sp>
      <p:sp>
        <p:nvSpPr>
          <p:cNvPr id="9" name="Text 7"/>
          <p:cNvSpPr/>
          <p:nvPr/>
        </p:nvSpPr>
        <p:spPr>
          <a:xfrm>
            <a:off x="822960" y="2651760"/>
            <a:ext cx="640080" cy="868680"/>
          </a:xfrm>
          <a:prstGeom prst="rect">
            <a:avLst/>
          </a:prstGeom>
          <a:noFill/>
          <a:ln/>
        </p:spPr>
        <p:txBody>
          <a:bodyPr wrap="square" lIns="0" tIns="0" rIns="0" bIns="0" rtlCol="0" anchor="ctr"/>
          <a:lstStyle/>
          <a:p>
            <a:pPr algn="ctr" indent="0" marL="0">
              <a:buNone/>
            </a:pPr>
            <a:r>
              <a:rPr lang="en-US" sz="3000" b="1" dirty="0">
                <a:solidFill>
                  <a:srgbClr val="C9A227"/>
                </a:solidFill>
                <a:latin typeface="Cambria" pitchFamily="34" charset="0"/>
                <a:ea typeface="Cambria" pitchFamily="34" charset="-122"/>
                <a:cs typeface="Cambria" pitchFamily="34" charset="-120"/>
              </a:rPr>
              <a:t>2</a:t>
            </a:r>
            <a:endParaRPr lang="en-US" sz="3000" dirty="0"/>
          </a:p>
        </p:txBody>
      </p:sp>
      <p:sp>
        <p:nvSpPr>
          <p:cNvPr id="10" name="Text 8"/>
          <p:cNvSpPr/>
          <p:nvPr/>
        </p:nvSpPr>
        <p:spPr>
          <a:xfrm>
            <a:off x="1645920" y="2651760"/>
            <a:ext cx="2743200" cy="868680"/>
          </a:xfrm>
          <a:prstGeom prst="rect">
            <a:avLst/>
          </a:prstGeom>
          <a:noFill/>
          <a:ln/>
        </p:spPr>
        <p:txBody>
          <a:bodyPr wrap="square" lIns="0" tIns="0" rIns="0" bIns="0" rtlCol="0" anchor="ctr"/>
          <a:lstStyle/>
          <a:p>
            <a:pPr indent="0" marL="0">
              <a:buNone/>
            </a:pPr>
            <a:r>
              <a:rPr lang="en-US" sz="1500" b="1" dirty="0">
                <a:solidFill>
                  <a:srgbClr val="E9E2D0"/>
                </a:solidFill>
                <a:latin typeface="Courier New" pitchFamily="34" charset="0"/>
                <a:ea typeface="Courier New" pitchFamily="34" charset="-122"/>
                <a:cs typeface="Courier New" pitchFamily="34" charset="-120"/>
              </a:rPr>
              <a:t>cargo new</a:t>
            </a:r>
            <a:endParaRPr lang="en-US" sz="1500" dirty="0"/>
          </a:p>
        </p:txBody>
      </p:sp>
      <p:sp>
        <p:nvSpPr>
          <p:cNvPr id="11" name="Text 9"/>
          <p:cNvSpPr/>
          <p:nvPr/>
        </p:nvSpPr>
        <p:spPr>
          <a:xfrm>
            <a:off x="4572000" y="2651760"/>
            <a:ext cx="6766560" cy="868680"/>
          </a:xfrm>
          <a:prstGeom prst="rect">
            <a:avLst/>
          </a:prstGeom>
          <a:noFill/>
          <a:ln/>
        </p:spPr>
        <p:txBody>
          <a:bodyPr wrap="square" lIns="0" tIns="0" rIns="0" bIns="0" rtlCol="0" anchor="ctr"/>
          <a:lstStyle/>
          <a:p>
            <a:pPr indent="0" marL="0">
              <a:buNone/>
            </a:pPr>
            <a:r>
              <a:rPr lang="en-US" sz="1300" dirty="0">
                <a:solidFill>
                  <a:srgbClr val="9A92A8"/>
                </a:solidFill>
                <a:latin typeface="Calibri" pitchFamily="34" charset="0"/>
                <a:ea typeface="Calibri" pitchFamily="34" charset="-122"/>
                <a:cs typeface="Calibri" pitchFamily="34" charset="-120"/>
              </a:rPr>
              <a:t>start something small</a:t>
            </a:r>
            <a:endParaRPr lang="en-US" sz="1300" dirty="0"/>
          </a:p>
        </p:txBody>
      </p:sp>
      <p:sp>
        <p:nvSpPr>
          <p:cNvPr id="12" name="Shape 10"/>
          <p:cNvSpPr/>
          <p:nvPr/>
        </p:nvSpPr>
        <p:spPr>
          <a:xfrm>
            <a:off x="548640" y="3703320"/>
            <a:ext cx="11091672" cy="868680"/>
          </a:xfrm>
          <a:prstGeom prst="roundRect">
            <a:avLst>
              <a:gd name="adj" fmla="val 7368"/>
            </a:avLst>
          </a:prstGeom>
          <a:solidFill>
            <a:srgbClr val="221C31"/>
          </a:solidFill>
          <a:ln w="9525">
            <a:solidFill>
              <a:srgbClr val="3A3152"/>
            </a:solidFill>
            <a:prstDash val="solid"/>
          </a:ln>
        </p:spPr>
      </p:sp>
      <p:sp>
        <p:nvSpPr>
          <p:cNvPr id="13" name="Text 11"/>
          <p:cNvSpPr/>
          <p:nvPr/>
        </p:nvSpPr>
        <p:spPr>
          <a:xfrm>
            <a:off x="822960" y="3703320"/>
            <a:ext cx="640080" cy="868680"/>
          </a:xfrm>
          <a:prstGeom prst="rect">
            <a:avLst/>
          </a:prstGeom>
          <a:noFill/>
          <a:ln/>
        </p:spPr>
        <p:txBody>
          <a:bodyPr wrap="square" lIns="0" tIns="0" rIns="0" bIns="0" rtlCol="0" anchor="ctr"/>
          <a:lstStyle/>
          <a:p>
            <a:pPr algn="ctr" indent="0" marL="0">
              <a:buNone/>
            </a:pPr>
            <a:r>
              <a:rPr lang="en-US" sz="3000" b="1" dirty="0">
                <a:solidFill>
                  <a:srgbClr val="C9A227"/>
                </a:solidFill>
                <a:latin typeface="Cambria" pitchFamily="34" charset="0"/>
                <a:ea typeface="Cambria" pitchFamily="34" charset="-122"/>
                <a:cs typeface="Cambria" pitchFamily="34" charset="-120"/>
              </a:rPr>
              <a:t>3</a:t>
            </a:r>
            <a:endParaRPr lang="en-US" sz="3000" dirty="0"/>
          </a:p>
        </p:txBody>
      </p:sp>
      <p:sp>
        <p:nvSpPr>
          <p:cNvPr id="14" name="Text 12"/>
          <p:cNvSpPr/>
          <p:nvPr/>
        </p:nvSpPr>
        <p:spPr>
          <a:xfrm>
            <a:off x="1645920" y="3703320"/>
            <a:ext cx="2743200" cy="868680"/>
          </a:xfrm>
          <a:prstGeom prst="rect">
            <a:avLst/>
          </a:prstGeom>
          <a:noFill/>
          <a:ln/>
        </p:spPr>
        <p:txBody>
          <a:bodyPr wrap="square" lIns="0" tIns="0" rIns="0" bIns="0" rtlCol="0" anchor="ctr"/>
          <a:lstStyle/>
          <a:p>
            <a:pPr indent="0" marL="0">
              <a:buNone/>
            </a:pPr>
            <a:r>
              <a:rPr lang="en-US" sz="1500" b="1" dirty="0">
                <a:solidFill>
                  <a:srgbClr val="E9E2D0"/>
                </a:solidFill>
                <a:latin typeface="Courier New" pitchFamily="34" charset="0"/>
                <a:ea typeface="Courier New" pitchFamily="34" charset="-122"/>
                <a:cs typeface="Courier New" pitchFamily="34" charset="-120"/>
              </a:rPr>
              <a:t>the Book</a:t>
            </a:r>
            <a:endParaRPr lang="en-US" sz="1500" dirty="0"/>
          </a:p>
        </p:txBody>
      </p:sp>
      <p:sp>
        <p:nvSpPr>
          <p:cNvPr id="15" name="Text 13"/>
          <p:cNvSpPr/>
          <p:nvPr/>
        </p:nvSpPr>
        <p:spPr>
          <a:xfrm>
            <a:off x="4572000" y="3703320"/>
            <a:ext cx="6766560" cy="868680"/>
          </a:xfrm>
          <a:prstGeom prst="rect">
            <a:avLst/>
          </a:prstGeom>
          <a:noFill/>
          <a:ln/>
        </p:spPr>
        <p:txBody>
          <a:bodyPr wrap="square" lIns="0" tIns="0" rIns="0" bIns="0" rtlCol="0" anchor="ctr"/>
          <a:lstStyle/>
          <a:p>
            <a:pPr indent="0" marL="0">
              <a:buNone/>
            </a:pPr>
            <a:r>
              <a:rPr lang="en-US" sz="1300" dirty="0">
                <a:solidFill>
                  <a:srgbClr val="9A92A8"/>
                </a:solidFill>
                <a:latin typeface="Calibri" pitchFamily="34" charset="0"/>
                <a:ea typeface="Calibri" pitchFamily="34" charset="-122"/>
                <a:cs typeface="Calibri" pitchFamily="34" charset="-120"/>
              </a:rPr>
              <a:t>doc.rust-lang.org/book — genuinely good, free</a:t>
            </a:r>
            <a:endParaRPr lang="en-US" sz="1300" dirty="0"/>
          </a:p>
        </p:txBody>
      </p:sp>
      <p:sp>
        <p:nvSpPr>
          <p:cNvPr id="16" name="Shape 14"/>
          <p:cNvSpPr/>
          <p:nvPr/>
        </p:nvSpPr>
        <p:spPr>
          <a:xfrm>
            <a:off x="548640" y="4892040"/>
            <a:ext cx="11091672" cy="914400"/>
          </a:xfrm>
          <a:prstGeom prst="roundRect">
            <a:avLst>
              <a:gd name="adj" fmla="val 7000"/>
            </a:avLst>
          </a:prstGeom>
          <a:solidFill>
            <a:srgbClr val="2B2342"/>
          </a:solidFill>
          <a:ln w="9525">
            <a:solidFill>
              <a:srgbClr val="3A3152"/>
            </a:solidFill>
            <a:prstDash val="solid"/>
          </a:ln>
        </p:spPr>
      </p:sp>
      <p:sp>
        <p:nvSpPr>
          <p:cNvPr id="17" name="Text 15"/>
          <p:cNvSpPr/>
          <p:nvPr/>
        </p:nvSpPr>
        <p:spPr>
          <a:xfrm>
            <a:off x="822960" y="4892040"/>
            <a:ext cx="10543032" cy="914400"/>
          </a:xfrm>
          <a:prstGeom prst="rect">
            <a:avLst/>
          </a:prstGeom>
          <a:noFill/>
          <a:ln/>
        </p:spPr>
        <p:txBody>
          <a:bodyPr wrap="square" lIns="0" tIns="0" rIns="0" bIns="0" rtlCol="0" anchor="ctr"/>
          <a:lstStyle/>
          <a:p>
            <a:pPr algn="ctr" indent="0" marL="0">
              <a:buNone/>
            </a:pPr>
            <a:r>
              <a:rPr lang="en-US" sz="1400" dirty="0">
                <a:solidFill>
                  <a:srgbClr val="E9E2D0"/>
                </a:solidFill>
                <a:latin typeface="Calibri" pitchFamily="34" charset="0"/>
                <a:ea typeface="Calibri" pitchFamily="34" charset="-122"/>
                <a:cs typeface="Calibri" pitchFamily="34" charset="-120"/>
              </a:rPr>
              <a:t>Best first project: port a small utility you already wrote in JS.</a:t>
            </a:r>
            <a:endParaRPr lang="en-US" sz="1400" dirty="0"/>
          </a:p>
          <a:p>
            <a:pPr algn="ctr" indent="0" marL="0">
              <a:buNone/>
            </a:pPr>
            <a:r>
              <a:rPr lang="en-US" sz="1400" dirty="0">
                <a:solidFill>
                  <a:srgbClr val="E9E2D0"/>
                </a:solidFill>
                <a:latin typeface="Calibri" pitchFamily="34" charset="0"/>
                <a:ea typeface="Calibri" pitchFamily="34" charset="-122"/>
                <a:cs typeface="Calibri" pitchFamily="34" charset="-120"/>
              </a:rPr>
              <a:t>You will be learning one thing — the language — instead of two.</a:t>
            </a:r>
            <a:endParaRPr lang="en-US" sz="1400" dirty="0"/>
          </a:p>
        </p:txBody>
      </p:sp>
      <p:sp>
        <p:nvSpPr>
          <p:cNvPr id="18" name="Text 16"/>
          <p:cNvSpPr/>
          <p:nvPr/>
        </p:nvSpPr>
        <p:spPr>
          <a:xfrm>
            <a:off x="822960" y="5943600"/>
            <a:ext cx="10543032" cy="548640"/>
          </a:xfrm>
          <a:prstGeom prst="rect">
            <a:avLst/>
          </a:prstGeom>
          <a:noFill/>
          <a:ln/>
        </p:spPr>
        <p:txBody>
          <a:bodyPr wrap="square" lIns="0" tIns="0" rIns="0" bIns="0" rtlCol="0" anchor="ctr"/>
          <a:lstStyle/>
          <a:p>
            <a:pPr algn="ctr" indent="0" marL="0">
              <a:buNone/>
            </a:pPr>
            <a:r>
              <a:rPr lang="en-US" sz="1600" i="1" dirty="0">
                <a:solidFill>
                  <a:srgbClr val="E9E2D0"/>
                </a:solidFill>
                <a:latin typeface="Calibri" pitchFamily="34" charset="0"/>
                <a:ea typeface="Calibri" pitchFamily="34" charset="-122"/>
                <a:cs typeface="Calibri" pitchFamily="34" charset="-120"/>
              </a:rPr>
              <a:t>You already know half of it. The other half is three ideas and about two weeks.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 Already Know Half of This — Rust for JS developers</dc:title>
  <dc:subject>PptxGenJS Presentation</dc:subject>
  <dc:creator>Wicked Ways</dc:creator>
  <cp:lastModifiedBy>Wicked Ways</cp:lastModifiedBy>
  <cp:revision>1</cp:revision>
  <dcterms:created xsi:type="dcterms:W3CDTF">2026-08-31T15:45:53Z</dcterms:created>
  <dcterms:modified xsi:type="dcterms:W3CDTF">2026-08-31T15:45:53Z</dcterms:modified>
</cp:coreProperties>
</file>